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96"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A3A5C"/>
              </a:gs>
              <a:gs pos="50000">
                <a:srgbClr val="1A3A5C"/>
              </a:gs>
              <a:gs pos="100000">
                <a:srgbClr val="2B7BD6"/>
              </a:gs>
            </a:gsLst>
            <a:lin ang="2700000" scaled="1"/>
          </a:gradFill>
          <a:ln>
            <a:noFill/>
          </a:ln>
        </p:spPr>
        <p:txBody>
          <a:bodyPr/>
          <a:lstStyle/>
          <a:p>
            <a:endParaRPr lang="zh-CN" altLang="en-US"/>
          </a:p>
        </p:txBody>
      </p:sp>
      <p:sp>
        <p:nvSpPr>
          <p:cNvPr id="3" name="Ellipse 3"/>
          <p:cNvSpPr/>
          <p:nvPr/>
        </p:nvSpPr>
        <p:spPr>
          <a:xfrm>
            <a:off x="8572500" y="-476250"/>
            <a:ext cx="3810000" cy="3810000"/>
          </a:xfrm>
          <a:prstGeom prst="ellipse">
            <a:avLst/>
          </a:prstGeom>
          <a:solidFill>
            <a:srgbClr val="2B7BD6">
              <a:alpha val="15000"/>
            </a:srgbClr>
          </a:solidFill>
          <a:ln>
            <a:noFill/>
          </a:ln>
        </p:spPr>
      </p:sp>
      <p:sp>
        <p:nvSpPr>
          <p:cNvPr id="4" name="Ellipse 4"/>
          <p:cNvSpPr/>
          <p:nvPr/>
        </p:nvSpPr>
        <p:spPr>
          <a:xfrm>
            <a:off x="762000" y="4381500"/>
            <a:ext cx="2286000" cy="2286000"/>
          </a:xfrm>
          <a:prstGeom prst="ellipse">
            <a:avLst/>
          </a:prstGeom>
          <a:solidFill>
            <a:srgbClr val="5BA0E8">
              <a:alpha val="10000"/>
            </a:srgbClr>
          </a:solidFill>
          <a:ln>
            <a:noFill/>
          </a:ln>
        </p:spPr>
      </p:sp>
      <p:sp>
        <p:nvSpPr>
          <p:cNvPr id="5" name="Ellipse 5"/>
          <p:cNvSpPr/>
          <p:nvPr/>
        </p:nvSpPr>
        <p:spPr>
          <a:xfrm>
            <a:off x="7810500" y="5429250"/>
            <a:ext cx="1524000" cy="1524000"/>
          </a:xfrm>
          <a:prstGeom prst="ellipse">
            <a:avLst/>
          </a:prstGeom>
          <a:solidFill>
            <a:srgbClr val="2B7BD6">
              <a:alpha val="8000"/>
            </a:srgbClr>
          </a:solidFill>
          <a:ln>
            <a:noFill/>
          </a:ln>
        </p:spPr>
      </p:sp>
      <p:sp>
        <p:nvSpPr>
          <p:cNvPr id="6" name="Rectangle 6"/>
          <p:cNvSpPr/>
          <p:nvPr/>
        </p:nvSpPr>
        <p:spPr>
          <a:xfrm>
            <a:off x="0" y="0"/>
            <a:ext cx="12192000" cy="38100"/>
          </a:xfrm>
          <a:prstGeom prst="rect">
            <a:avLst/>
          </a:prstGeom>
          <a:gradFill>
            <a:gsLst>
              <a:gs pos="0">
                <a:srgbClr val="2B7BD6"/>
              </a:gs>
              <a:gs pos="100000">
                <a:srgbClr val="5BA0E8"/>
              </a:gs>
            </a:gsLst>
            <a:lin ang="0" scaled="1"/>
          </a:gradFill>
          <a:ln>
            <a:noFill/>
          </a:ln>
        </p:spPr>
      </p:sp>
      <p:sp>
        <p:nvSpPr>
          <p:cNvPr id="7" name="TextBox 7"/>
          <p:cNvSpPr txBox="1"/>
          <p:nvPr/>
        </p:nvSpPr>
        <p:spPr>
          <a:xfrm>
            <a:off x="4324350" y="1552575"/>
            <a:ext cx="3543300" cy="304800"/>
          </a:xfrm>
          <a:prstGeom prst="rect">
            <a:avLst/>
          </a:prstGeom>
          <a:noFill/>
          <a:ln>
            <a:noFill/>
          </a:ln>
        </p:spPr>
        <p:txBody>
          <a:bodyPr wrap="none" lIns="0" tIns="0" rIns="0" bIns="0" anchor="t" anchorCtr="0">
            <a:spAutoFit/>
          </a:bodyPr>
          <a:lstStyle/>
          <a:p>
            <a:pPr algn="ctr"/>
            <a:r>
              <a:rPr lang="zh-CN" sz="1500" dirty="0">
                <a:solidFill>
                  <a:srgbClr val="5BA0E8">
                    <a:alphaMod val="90000"/>
                  </a:srgbClr>
                </a:solidFill>
                <a:latin typeface="Arial"/>
                <a:ea typeface="Microsoft YaHei"/>
                <a:cs typeface="Arial"/>
              </a:rPr>
              <a:t>《中文信息处理》课程设计小组答辩</a:t>
            </a:r>
          </a:p>
        </p:txBody>
      </p:sp>
      <p:sp>
        <p:nvSpPr>
          <p:cNvPr id="8" name="TextBox 8"/>
          <p:cNvSpPr txBox="1"/>
          <p:nvPr/>
        </p:nvSpPr>
        <p:spPr>
          <a:xfrm>
            <a:off x="2483396" y="2244090"/>
            <a:ext cx="7225208" cy="975360"/>
          </a:xfrm>
          <a:prstGeom prst="rect">
            <a:avLst/>
          </a:prstGeom>
          <a:noFill/>
          <a:ln>
            <a:noFill/>
          </a:ln>
        </p:spPr>
        <p:txBody>
          <a:bodyPr wrap="none" lIns="0" tIns="0" rIns="0" bIns="0" anchor="t" anchorCtr="0">
            <a:spAutoFit/>
          </a:bodyPr>
          <a:lstStyle/>
          <a:p>
            <a:pPr algn="ctr"/>
            <a:r>
              <a:rPr lang="zh-CN" sz="4800" b="1" dirty="0">
                <a:solidFill>
                  <a:srgbClr val="FFFFFF"/>
                </a:solidFill>
                <a:latin typeface="Arial"/>
                <a:ea typeface="Microsoft YaHei"/>
                <a:cs typeface="Arial"/>
              </a:rPr>
              <a:t>基于RAG的劳动法领域</a:t>
            </a:r>
          </a:p>
        </p:txBody>
      </p:sp>
      <p:sp>
        <p:nvSpPr>
          <p:cNvPr id="9" name="TextBox 9"/>
          <p:cNvSpPr txBox="1"/>
          <p:nvPr/>
        </p:nvSpPr>
        <p:spPr>
          <a:xfrm>
            <a:off x="3826764" y="3006090"/>
            <a:ext cx="4538472" cy="975360"/>
          </a:xfrm>
          <a:prstGeom prst="rect">
            <a:avLst/>
          </a:prstGeom>
          <a:noFill/>
          <a:ln>
            <a:noFill/>
          </a:ln>
        </p:spPr>
        <p:txBody>
          <a:bodyPr wrap="none" lIns="0" tIns="0" rIns="0" bIns="0" anchor="t" anchorCtr="0">
            <a:spAutoFit/>
          </a:bodyPr>
          <a:lstStyle/>
          <a:p>
            <a:pPr algn="ctr"/>
            <a:r>
              <a:rPr lang="zh-CN" sz="4800" b="1" dirty="0">
                <a:solidFill>
                  <a:srgbClr val="FFFFFF"/>
                </a:solidFill>
                <a:latin typeface="Arial"/>
                <a:ea typeface="Microsoft YaHei"/>
                <a:cs typeface="Arial"/>
              </a:rPr>
              <a:t>智能问答系统</a:t>
            </a:r>
          </a:p>
        </p:txBody>
      </p:sp>
      <p:sp>
        <p:nvSpPr>
          <p:cNvPr id="10" name="Rectangle 10"/>
          <p:cNvSpPr/>
          <p:nvPr/>
        </p:nvSpPr>
        <p:spPr>
          <a:xfrm>
            <a:off x="4191000" y="3810000"/>
            <a:ext cx="3810000" cy="28575"/>
          </a:xfrm>
          <a:prstGeom prst="roundRect">
            <a:avLst>
              <a:gd name="adj" fmla="val 50000"/>
            </a:avLst>
          </a:prstGeom>
          <a:gradFill>
            <a:gsLst>
              <a:gs pos="0">
                <a:srgbClr val="2B7BD6"/>
              </a:gs>
              <a:gs pos="100000">
                <a:srgbClr val="5BA0E8"/>
              </a:gs>
            </a:gsLst>
            <a:lin ang="0" scaled="1"/>
          </a:gradFill>
          <a:ln>
            <a:noFill/>
          </a:ln>
        </p:spPr>
      </p:sp>
      <p:sp>
        <p:nvSpPr>
          <p:cNvPr id="11" name="TextBox 11"/>
          <p:cNvSpPr txBox="1"/>
          <p:nvPr/>
        </p:nvSpPr>
        <p:spPr>
          <a:xfrm>
            <a:off x="4749641" y="4298632"/>
            <a:ext cx="2692717" cy="335280"/>
          </a:xfrm>
          <a:prstGeom prst="rect">
            <a:avLst/>
          </a:prstGeom>
          <a:noFill/>
          <a:ln>
            <a:noFill/>
          </a:ln>
        </p:spPr>
        <p:txBody>
          <a:bodyPr wrap="none" lIns="0" tIns="0" rIns="0" bIns="0" anchor="t" anchorCtr="0">
            <a:spAutoFit/>
          </a:bodyPr>
          <a:lstStyle/>
          <a:p>
            <a:pPr algn="ctr"/>
            <a:r>
              <a:rPr lang="zh-CN" sz="1650" dirty="0">
                <a:solidFill>
                  <a:srgbClr val="CCD9E8"/>
                </a:solidFill>
                <a:latin typeface="Arial"/>
                <a:ea typeface="Microsoft YaHei"/>
                <a:cs typeface="Arial"/>
              </a:rPr>
              <a:t>汇报人：刘浩哲（组长）</a:t>
            </a:r>
          </a:p>
        </p:txBody>
      </p:sp>
      <p:sp>
        <p:nvSpPr>
          <p:cNvPr id="12" name="TextBox 12"/>
          <p:cNvSpPr txBox="1"/>
          <p:nvPr/>
        </p:nvSpPr>
        <p:spPr>
          <a:xfrm>
            <a:off x="4304348" y="4712018"/>
            <a:ext cx="3583305" cy="274320"/>
          </a:xfrm>
          <a:prstGeom prst="rect">
            <a:avLst/>
          </a:prstGeom>
          <a:noFill/>
          <a:ln>
            <a:noFill/>
          </a:ln>
        </p:spPr>
        <p:txBody>
          <a:bodyPr wrap="none" lIns="0" tIns="0" rIns="0" bIns="0" anchor="t" anchorCtr="0">
            <a:spAutoFit/>
          </a:bodyPr>
          <a:lstStyle/>
          <a:p>
            <a:pPr algn="ctr"/>
            <a:r>
              <a:rPr lang="zh-CN" sz="1350" dirty="0">
                <a:solidFill>
                  <a:srgbClr val="99B3CC"/>
                </a:solidFill>
                <a:latin typeface="Arial"/>
                <a:ea typeface="Microsoft YaHei"/>
                <a:cs typeface="Arial"/>
              </a:rPr>
              <a:t>组员：乔志恒、李禹泽、陆亦宸、平函睿</a:t>
            </a:r>
          </a:p>
        </p:txBody>
      </p:sp>
      <p:sp>
        <p:nvSpPr>
          <p:cNvPr id="13" name="TextBox 13"/>
          <p:cNvSpPr txBox="1"/>
          <p:nvPr/>
        </p:nvSpPr>
        <p:spPr>
          <a:xfrm>
            <a:off x="3745420" y="5061585"/>
            <a:ext cx="4701159" cy="243840"/>
          </a:xfrm>
          <a:prstGeom prst="rect">
            <a:avLst/>
          </a:prstGeom>
          <a:noFill/>
          <a:ln>
            <a:noFill/>
          </a:ln>
        </p:spPr>
        <p:txBody>
          <a:bodyPr wrap="none" lIns="0" tIns="0" rIns="0" bIns="0" anchor="t" anchorCtr="0">
            <a:spAutoFit/>
          </a:bodyPr>
          <a:lstStyle/>
          <a:p>
            <a:pPr algn="ctr"/>
            <a:r>
              <a:rPr lang="zh-CN" sz="1200" dirty="0">
                <a:solidFill>
                  <a:srgbClr val="7A96B3"/>
                </a:solidFill>
                <a:latin typeface="Arial"/>
                <a:ea typeface="Microsoft YaHei"/>
                <a:cs typeface="Arial"/>
              </a:rPr>
              <a:t>指导教师：武绍娟 ｜ 2024级计算机科学与技术专业 第3小组</a:t>
            </a:r>
          </a:p>
        </p:txBody>
      </p:sp>
      <p:sp>
        <p:nvSpPr>
          <p:cNvPr id="14" name="TextBox 14"/>
          <p:cNvSpPr txBox="1"/>
          <p:nvPr/>
        </p:nvSpPr>
        <p:spPr>
          <a:xfrm>
            <a:off x="11569636" y="6475095"/>
            <a:ext cx="62294" cy="182880"/>
          </a:xfrm>
          <a:prstGeom prst="rect">
            <a:avLst/>
          </a:prstGeom>
          <a:noFill/>
          <a:ln>
            <a:noFill/>
          </a:ln>
        </p:spPr>
        <p:txBody>
          <a:bodyPr wrap="none" lIns="0" tIns="0" rIns="0" bIns="0" anchor="t" anchorCtr="0">
            <a:spAutoFit/>
          </a:bodyPr>
          <a:lstStyle/>
          <a:p>
            <a:pPr algn="r"/>
            <a:r>
              <a:rPr lang="zh-CN" sz="900" dirty="0">
                <a:solidFill>
                  <a:srgbClr val="5BA0E8">
                    <a:alphaMod val="60000"/>
                  </a:srgbClr>
                </a:solidFill>
                <a:latin typeface="Arial"/>
                <a:ea typeface="Microsoft YaHei"/>
                <a:cs typeface="Arial"/>
              </a:rPr>
              <a:t>1</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0"/>
          </a:xfrm>
          <a:prstGeom prst="rect">
            <a:avLst/>
          </a:prstGeom>
          <a:solidFill>
            <a:srgbClr val="1A3A5C"/>
          </a:solidFill>
          <a:ln>
            <a:noFill/>
          </a:ln>
        </p:spPr>
      </p:sp>
      <p:sp>
        <p:nvSpPr>
          <p:cNvPr id="4" name="TextBox 4"/>
          <p:cNvSpPr txBox="1"/>
          <p:nvPr/>
        </p:nvSpPr>
        <p:spPr>
          <a:xfrm>
            <a:off x="542925" y="252412"/>
            <a:ext cx="1437322"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rial"/>
                <a:ea typeface="Microsoft YaHei"/>
                <a:cs typeface="Arial"/>
              </a:rPr>
              <a:t>汇报提纲</a:t>
            </a:r>
          </a:p>
        </p:txBody>
      </p:sp>
      <p:sp>
        <p:nvSpPr>
          <p:cNvPr id="5" name="TextBox 5"/>
          <p:cNvSpPr txBox="1"/>
          <p:nvPr/>
        </p:nvSpPr>
        <p:spPr>
          <a:xfrm>
            <a:off x="11508867" y="365760"/>
            <a:ext cx="126873" cy="243840"/>
          </a:xfrm>
          <a:prstGeom prst="rect">
            <a:avLst/>
          </a:prstGeom>
          <a:noFill/>
          <a:ln>
            <a:noFill/>
          </a:ln>
        </p:spPr>
        <p:txBody>
          <a:bodyPr wrap="none" lIns="0" tIns="0" rIns="0" bIns="0" anchor="t" anchorCtr="0">
            <a:spAutoFit/>
          </a:bodyPr>
          <a:lstStyle/>
          <a:p>
            <a:pPr algn="r"/>
            <a:r>
              <a:rPr lang="zh-CN" sz="1200" dirty="0">
                <a:solidFill>
                  <a:srgbClr val="99B3CC">
                    <a:alphaMod val="80000"/>
                  </a:srgbClr>
                </a:solidFill>
                <a:latin typeface="Arial"/>
                <a:ea typeface="Microsoft YaHei"/>
                <a:cs typeface="Arial"/>
              </a:rPr>
              <a:t>2</a:t>
            </a:r>
          </a:p>
        </p:txBody>
      </p:sp>
      <p:sp>
        <p:nvSpPr>
          <p:cNvPr id="6" name="Rectangle 6"/>
          <p:cNvSpPr/>
          <p:nvPr/>
        </p:nvSpPr>
        <p:spPr>
          <a:xfrm>
            <a:off x="1143000" y="1333500"/>
            <a:ext cx="9906000" cy="762000"/>
          </a:xfrm>
          <a:prstGeom prst="roundRect">
            <a:avLst>
              <a:gd name="adj" fmla="val 15000"/>
            </a:avLst>
          </a:prstGeom>
          <a:solidFill>
            <a:srgbClr val="F0F4F8"/>
          </a:solidFill>
          <a:ln>
            <a:noFill/>
          </a:ln>
        </p:spPr>
      </p:sp>
      <p:sp>
        <p:nvSpPr>
          <p:cNvPr id="7" name="Rectangle 7"/>
          <p:cNvSpPr/>
          <p:nvPr/>
        </p:nvSpPr>
        <p:spPr>
          <a:xfrm>
            <a:off x="1143000" y="1333500"/>
            <a:ext cx="57150" cy="762000"/>
          </a:xfrm>
          <a:prstGeom prst="roundRect">
            <a:avLst>
              <a:gd name="adj" fmla="val 50000"/>
            </a:avLst>
          </a:prstGeom>
          <a:solidFill>
            <a:srgbClr val="1A3A5C"/>
          </a:solidFill>
          <a:ln>
            <a:noFill/>
          </a:ln>
        </p:spPr>
      </p:sp>
      <p:sp>
        <p:nvSpPr>
          <p:cNvPr id="8" name="TextBox 8"/>
          <p:cNvSpPr txBox="1"/>
          <p:nvPr/>
        </p:nvSpPr>
        <p:spPr>
          <a:xfrm>
            <a:off x="1497330" y="1583055"/>
            <a:ext cx="375380" cy="426720"/>
          </a:xfrm>
          <a:prstGeom prst="rect">
            <a:avLst/>
          </a:prstGeom>
          <a:noFill/>
          <a:ln>
            <a:noFill/>
          </a:ln>
        </p:spPr>
        <p:txBody>
          <a:bodyPr wrap="none" lIns="0" tIns="0" rIns="0" bIns="0" anchor="t" anchorCtr="0">
            <a:spAutoFit/>
          </a:bodyPr>
          <a:lstStyle/>
          <a:p>
            <a:pPr algn="l"/>
            <a:r>
              <a:rPr lang="zh-CN" sz="2100" b="1" dirty="0">
                <a:solidFill>
                  <a:srgbClr val="1A3A5C"/>
                </a:solidFill>
                <a:latin typeface="Arial"/>
                <a:ea typeface="Microsoft YaHei"/>
                <a:cs typeface="Arial"/>
              </a:rPr>
              <a:t>一</a:t>
            </a:r>
          </a:p>
        </p:txBody>
      </p:sp>
      <p:sp>
        <p:nvSpPr>
          <p:cNvPr id="9" name="TextBox 9"/>
          <p:cNvSpPr txBox="1"/>
          <p:nvPr/>
        </p:nvSpPr>
        <p:spPr>
          <a:xfrm>
            <a:off x="1979295" y="1631632"/>
            <a:ext cx="2210752" cy="335280"/>
          </a:xfrm>
          <a:prstGeom prst="rect">
            <a:avLst/>
          </a:prstGeom>
          <a:noFill/>
          <a:ln>
            <a:noFill/>
          </a:ln>
        </p:spPr>
        <p:txBody>
          <a:bodyPr wrap="none" lIns="0" tIns="0" rIns="0" bIns="0" anchor="t" anchorCtr="0">
            <a:spAutoFit/>
          </a:bodyPr>
          <a:lstStyle/>
          <a:p>
            <a:pPr algn="l"/>
            <a:r>
              <a:rPr lang="zh-CN" sz="1650" dirty="0">
                <a:solidFill>
                  <a:srgbClr val="1A1A1A"/>
                </a:solidFill>
                <a:latin typeface="Arial"/>
                <a:ea typeface="Microsoft YaHei"/>
                <a:cs typeface="Arial"/>
              </a:rPr>
              <a:t>应用背景与任务描述</a:t>
            </a:r>
          </a:p>
        </p:txBody>
      </p:sp>
      <p:sp>
        <p:nvSpPr>
          <p:cNvPr id="10" name="Rectangle 10"/>
          <p:cNvSpPr/>
          <p:nvPr/>
        </p:nvSpPr>
        <p:spPr>
          <a:xfrm>
            <a:off x="1143000" y="2286000"/>
            <a:ext cx="9906000" cy="762000"/>
          </a:xfrm>
          <a:prstGeom prst="roundRect">
            <a:avLst>
              <a:gd name="adj" fmla="val 15000"/>
            </a:avLst>
          </a:prstGeom>
          <a:solidFill>
            <a:srgbClr val="F0F4F8"/>
          </a:solidFill>
          <a:ln>
            <a:noFill/>
          </a:ln>
        </p:spPr>
      </p:sp>
      <p:sp>
        <p:nvSpPr>
          <p:cNvPr id="11" name="Rectangle 11"/>
          <p:cNvSpPr/>
          <p:nvPr/>
        </p:nvSpPr>
        <p:spPr>
          <a:xfrm>
            <a:off x="1143000" y="2286000"/>
            <a:ext cx="57150" cy="762000"/>
          </a:xfrm>
          <a:prstGeom prst="roundRect">
            <a:avLst>
              <a:gd name="adj" fmla="val 50000"/>
            </a:avLst>
          </a:prstGeom>
          <a:solidFill>
            <a:srgbClr val="1A3A5C"/>
          </a:solidFill>
          <a:ln>
            <a:noFill/>
          </a:ln>
        </p:spPr>
      </p:sp>
      <p:sp>
        <p:nvSpPr>
          <p:cNvPr id="12" name="TextBox 12"/>
          <p:cNvSpPr txBox="1"/>
          <p:nvPr/>
        </p:nvSpPr>
        <p:spPr>
          <a:xfrm>
            <a:off x="1497330" y="2535555"/>
            <a:ext cx="375380" cy="426720"/>
          </a:xfrm>
          <a:prstGeom prst="rect">
            <a:avLst/>
          </a:prstGeom>
          <a:noFill/>
          <a:ln>
            <a:noFill/>
          </a:ln>
        </p:spPr>
        <p:txBody>
          <a:bodyPr wrap="none" lIns="0" tIns="0" rIns="0" bIns="0" anchor="t" anchorCtr="0">
            <a:spAutoFit/>
          </a:bodyPr>
          <a:lstStyle/>
          <a:p>
            <a:pPr algn="l"/>
            <a:r>
              <a:rPr lang="zh-CN" sz="2100" b="1" dirty="0">
                <a:solidFill>
                  <a:srgbClr val="1A3A5C"/>
                </a:solidFill>
                <a:latin typeface="Arial"/>
                <a:ea typeface="Microsoft YaHei"/>
                <a:cs typeface="Arial"/>
              </a:rPr>
              <a:t>二</a:t>
            </a:r>
          </a:p>
        </p:txBody>
      </p:sp>
      <p:sp>
        <p:nvSpPr>
          <p:cNvPr id="13" name="TextBox 13"/>
          <p:cNvSpPr txBox="1"/>
          <p:nvPr/>
        </p:nvSpPr>
        <p:spPr>
          <a:xfrm>
            <a:off x="1979295" y="2584132"/>
            <a:ext cx="2210752" cy="335280"/>
          </a:xfrm>
          <a:prstGeom prst="rect">
            <a:avLst/>
          </a:prstGeom>
          <a:noFill/>
          <a:ln>
            <a:noFill/>
          </a:ln>
        </p:spPr>
        <p:txBody>
          <a:bodyPr wrap="none" lIns="0" tIns="0" rIns="0" bIns="0" anchor="t" anchorCtr="0">
            <a:spAutoFit/>
          </a:bodyPr>
          <a:lstStyle/>
          <a:p>
            <a:pPr algn="l"/>
            <a:r>
              <a:rPr lang="zh-CN" sz="1650" dirty="0">
                <a:solidFill>
                  <a:srgbClr val="1A1A1A"/>
                </a:solidFill>
                <a:latin typeface="Arial"/>
                <a:ea typeface="Microsoft YaHei"/>
                <a:cs typeface="Arial"/>
              </a:rPr>
              <a:t>技术路线与关键技术</a:t>
            </a:r>
          </a:p>
        </p:txBody>
      </p:sp>
      <p:sp>
        <p:nvSpPr>
          <p:cNvPr id="14" name="Rectangle 14"/>
          <p:cNvSpPr/>
          <p:nvPr/>
        </p:nvSpPr>
        <p:spPr>
          <a:xfrm>
            <a:off x="1143000" y="3238500"/>
            <a:ext cx="9906000" cy="762000"/>
          </a:xfrm>
          <a:prstGeom prst="roundRect">
            <a:avLst>
              <a:gd name="adj" fmla="val 15000"/>
            </a:avLst>
          </a:prstGeom>
          <a:solidFill>
            <a:srgbClr val="F0F4F8"/>
          </a:solidFill>
          <a:ln>
            <a:noFill/>
          </a:ln>
        </p:spPr>
      </p:sp>
      <p:sp>
        <p:nvSpPr>
          <p:cNvPr id="15" name="Rectangle 15"/>
          <p:cNvSpPr/>
          <p:nvPr/>
        </p:nvSpPr>
        <p:spPr>
          <a:xfrm>
            <a:off x="1143000" y="3238500"/>
            <a:ext cx="57150" cy="762000"/>
          </a:xfrm>
          <a:prstGeom prst="roundRect">
            <a:avLst>
              <a:gd name="adj" fmla="val 50000"/>
            </a:avLst>
          </a:prstGeom>
          <a:solidFill>
            <a:srgbClr val="1A3A5C"/>
          </a:solidFill>
          <a:ln>
            <a:noFill/>
          </a:ln>
        </p:spPr>
      </p:sp>
      <p:sp>
        <p:nvSpPr>
          <p:cNvPr id="16" name="TextBox 16"/>
          <p:cNvSpPr txBox="1"/>
          <p:nvPr/>
        </p:nvSpPr>
        <p:spPr>
          <a:xfrm>
            <a:off x="1497330" y="3488055"/>
            <a:ext cx="375380" cy="426720"/>
          </a:xfrm>
          <a:prstGeom prst="rect">
            <a:avLst/>
          </a:prstGeom>
          <a:noFill/>
          <a:ln>
            <a:noFill/>
          </a:ln>
        </p:spPr>
        <p:txBody>
          <a:bodyPr wrap="none" lIns="0" tIns="0" rIns="0" bIns="0" anchor="t" anchorCtr="0">
            <a:spAutoFit/>
          </a:bodyPr>
          <a:lstStyle/>
          <a:p>
            <a:pPr algn="l"/>
            <a:r>
              <a:rPr lang="zh-CN" sz="2100" b="1" dirty="0">
                <a:solidFill>
                  <a:srgbClr val="1A3A5C"/>
                </a:solidFill>
                <a:latin typeface="Arial"/>
                <a:ea typeface="Microsoft YaHei"/>
                <a:cs typeface="Arial"/>
              </a:rPr>
              <a:t>三</a:t>
            </a:r>
          </a:p>
        </p:txBody>
      </p:sp>
      <p:sp>
        <p:nvSpPr>
          <p:cNvPr id="17" name="TextBox 17"/>
          <p:cNvSpPr txBox="1"/>
          <p:nvPr/>
        </p:nvSpPr>
        <p:spPr>
          <a:xfrm>
            <a:off x="1979295" y="3536632"/>
            <a:ext cx="2210752" cy="335280"/>
          </a:xfrm>
          <a:prstGeom prst="rect">
            <a:avLst/>
          </a:prstGeom>
          <a:noFill/>
          <a:ln>
            <a:noFill/>
          </a:ln>
        </p:spPr>
        <p:txBody>
          <a:bodyPr wrap="none" lIns="0" tIns="0" rIns="0" bIns="0" anchor="t" anchorCtr="0">
            <a:spAutoFit/>
          </a:bodyPr>
          <a:lstStyle/>
          <a:p>
            <a:pPr algn="l"/>
            <a:r>
              <a:rPr lang="zh-CN" sz="1650" dirty="0">
                <a:solidFill>
                  <a:srgbClr val="1A1A1A"/>
                </a:solidFill>
                <a:latin typeface="Arial"/>
                <a:ea typeface="Microsoft YaHei"/>
                <a:cs typeface="Arial"/>
              </a:rPr>
              <a:t>系统设计与结果分析</a:t>
            </a:r>
          </a:p>
        </p:txBody>
      </p:sp>
      <p:sp>
        <p:nvSpPr>
          <p:cNvPr id="18" name="Rectangle 18"/>
          <p:cNvSpPr/>
          <p:nvPr/>
        </p:nvSpPr>
        <p:spPr>
          <a:xfrm>
            <a:off x="1143000" y="4191000"/>
            <a:ext cx="9906000" cy="762000"/>
          </a:xfrm>
          <a:prstGeom prst="roundRect">
            <a:avLst>
              <a:gd name="adj" fmla="val 15000"/>
            </a:avLst>
          </a:prstGeom>
          <a:solidFill>
            <a:srgbClr val="F0F4F8"/>
          </a:solidFill>
          <a:ln>
            <a:noFill/>
          </a:ln>
        </p:spPr>
      </p:sp>
      <p:sp>
        <p:nvSpPr>
          <p:cNvPr id="19" name="Rectangle 19"/>
          <p:cNvSpPr/>
          <p:nvPr/>
        </p:nvSpPr>
        <p:spPr>
          <a:xfrm>
            <a:off x="1143000" y="4191000"/>
            <a:ext cx="57150" cy="762000"/>
          </a:xfrm>
          <a:prstGeom prst="roundRect">
            <a:avLst>
              <a:gd name="adj" fmla="val 50000"/>
            </a:avLst>
          </a:prstGeom>
          <a:solidFill>
            <a:srgbClr val="1A3A5C"/>
          </a:solidFill>
          <a:ln>
            <a:noFill/>
          </a:ln>
        </p:spPr>
      </p:sp>
      <p:sp>
        <p:nvSpPr>
          <p:cNvPr id="20" name="TextBox 20"/>
          <p:cNvSpPr txBox="1"/>
          <p:nvPr/>
        </p:nvSpPr>
        <p:spPr>
          <a:xfrm>
            <a:off x="1497330" y="4440555"/>
            <a:ext cx="375380" cy="426720"/>
          </a:xfrm>
          <a:prstGeom prst="rect">
            <a:avLst/>
          </a:prstGeom>
          <a:noFill/>
          <a:ln>
            <a:noFill/>
          </a:ln>
        </p:spPr>
        <p:txBody>
          <a:bodyPr wrap="none" lIns="0" tIns="0" rIns="0" bIns="0" anchor="t" anchorCtr="0">
            <a:spAutoFit/>
          </a:bodyPr>
          <a:lstStyle/>
          <a:p>
            <a:pPr algn="l"/>
            <a:r>
              <a:rPr lang="zh-CN" sz="2100" b="1" dirty="0">
                <a:solidFill>
                  <a:srgbClr val="1A3A5C"/>
                </a:solidFill>
                <a:latin typeface="Arial"/>
                <a:ea typeface="Microsoft YaHei"/>
                <a:cs typeface="Arial"/>
              </a:rPr>
              <a:t>四</a:t>
            </a:r>
          </a:p>
        </p:txBody>
      </p:sp>
      <p:sp>
        <p:nvSpPr>
          <p:cNvPr id="21" name="TextBox 21"/>
          <p:cNvSpPr txBox="1"/>
          <p:nvPr/>
        </p:nvSpPr>
        <p:spPr>
          <a:xfrm>
            <a:off x="1979295" y="4489132"/>
            <a:ext cx="1487805" cy="335280"/>
          </a:xfrm>
          <a:prstGeom prst="rect">
            <a:avLst/>
          </a:prstGeom>
          <a:noFill/>
          <a:ln>
            <a:noFill/>
          </a:ln>
        </p:spPr>
        <p:txBody>
          <a:bodyPr wrap="none" lIns="0" tIns="0" rIns="0" bIns="0" anchor="t" anchorCtr="0">
            <a:spAutoFit/>
          </a:bodyPr>
          <a:lstStyle/>
          <a:p>
            <a:pPr algn="l"/>
            <a:r>
              <a:rPr lang="zh-CN" sz="1650" dirty="0">
                <a:solidFill>
                  <a:srgbClr val="1A1A1A"/>
                </a:solidFill>
                <a:latin typeface="Arial"/>
                <a:ea typeface="Microsoft YaHei"/>
                <a:cs typeface="Arial"/>
              </a:rPr>
              <a:t>成员分工情况</a:t>
            </a:r>
          </a:p>
        </p:txBody>
      </p:sp>
      <p:sp>
        <p:nvSpPr>
          <p:cNvPr id="22" name="Rectangle 22"/>
          <p:cNvSpPr/>
          <p:nvPr/>
        </p:nvSpPr>
        <p:spPr>
          <a:xfrm>
            <a:off x="1143000" y="5143500"/>
            <a:ext cx="9906000" cy="762000"/>
          </a:xfrm>
          <a:prstGeom prst="roundRect">
            <a:avLst>
              <a:gd name="adj" fmla="val 15000"/>
            </a:avLst>
          </a:prstGeom>
          <a:solidFill>
            <a:srgbClr val="F0F4F8"/>
          </a:solidFill>
          <a:ln>
            <a:noFill/>
          </a:ln>
        </p:spPr>
      </p:sp>
      <p:sp>
        <p:nvSpPr>
          <p:cNvPr id="23" name="Rectangle 23"/>
          <p:cNvSpPr/>
          <p:nvPr/>
        </p:nvSpPr>
        <p:spPr>
          <a:xfrm>
            <a:off x="1143000" y="5143500"/>
            <a:ext cx="57150" cy="762000"/>
          </a:xfrm>
          <a:prstGeom prst="roundRect">
            <a:avLst>
              <a:gd name="adj" fmla="val 50000"/>
            </a:avLst>
          </a:prstGeom>
          <a:solidFill>
            <a:srgbClr val="1A3A5C"/>
          </a:solidFill>
          <a:ln>
            <a:noFill/>
          </a:ln>
        </p:spPr>
      </p:sp>
      <p:sp>
        <p:nvSpPr>
          <p:cNvPr id="24" name="TextBox 24"/>
          <p:cNvSpPr txBox="1"/>
          <p:nvPr/>
        </p:nvSpPr>
        <p:spPr>
          <a:xfrm>
            <a:off x="1497330" y="5393055"/>
            <a:ext cx="375380" cy="426720"/>
          </a:xfrm>
          <a:prstGeom prst="rect">
            <a:avLst/>
          </a:prstGeom>
          <a:noFill/>
          <a:ln>
            <a:noFill/>
          </a:ln>
        </p:spPr>
        <p:txBody>
          <a:bodyPr wrap="none" lIns="0" tIns="0" rIns="0" bIns="0" anchor="t" anchorCtr="0">
            <a:spAutoFit/>
          </a:bodyPr>
          <a:lstStyle/>
          <a:p>
            <a:pPr algn="l"/>
            <a:r>
              <a:rPr lang="zh-CN" sz="2100" b="1" dirty="0">
                <a:solidFill>
                  <a:srgbClr val="1A3A5C"/>
                </a:solidFill>
                <a:latin typeface="Arial"/>
                <a:ea typeface="Microsoft YaHei"/>
                <a:cs typeface="Arial"/>
              </a:rPr>
              <a:t>五</a:t>
            </a:r>
          </a:p>
        </p:txBody>
      </p:sp>
      <p:sp>
        <p:nvSpPr>
          <p:cNvPr id="25" name="TextBox 25"/>
          <p:cNvSpPr txBox="1"/>
          <p:nvPr/>
        </p:nvSpPr>
        <p:spPr>
          <a:xfrm>
            <a:off x="1979295" y="5441632"/>
            <a:ext cx="1487805" cy="335280"/>
          </a:xfrm>
          <a:prstGeom prst="rect">
            <a:avLst/>
          </a:prstGeom>
          <a:noFill/>
          <a:ln>
            <a:noFill/>
          </a:ln>
        </p:spPr>
        <p:txBody>
          <a:bodyPr wrap="none" lIns="0" tIns="0" rIns="0" bIns="0" anchor="t" anchorCtr="0">
            <a:spAutoFit/>
          </a:bodyPr>
          <a:lstStyle/>
          <a:p>
            <a:pPr algn="l"/>
            <a:r>
              <a:rPr lang="zh-CN" sz="1650" dirty="0">
                <a:solidFill>
                  <a:srgbClr val="1A1A1A"/>
                </a:solidFill>
                <a:latin typeface="Arial"/>
                <a:ea typeface="Microsoft YaHei"/>
                <a:cs typeface="Arial"/>
              </a:rPr>
              <a:t>课程设计总结</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0"/>
          </a:xfrm>
          <a:prstGeom prst="rect">
            <a:avLst/>
          </a:prstGeom>
          <a:solidFill>
            <a:srgbClr val="1A3A5C"/>
          </a:solidFill>
          <a:ln>
            <a:noFill/>
          </a:ln>
        </p:spPr>
      </p:sp>
      <p:sp>
        <p:nvSpPr>
          <p:cNvPr id="4" name="TextBox 4"/>
          <p:cNvSpPr txBox="1"/>
          <p:nvPr/>
        </p:nvSpPr>
        <p:spPr>
          <a:xfrm>
            <a:off x="548640" y="300990"/>
            <a:ext cx="3082100"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一、应用背景与任务描述</a:t>
            </a:r>
          </a:p>
        </p:txBody>
      </p:sp>
      <p:sp>
        <p:nvSpPr>
          <p:cNvPr id="5" name="TextBox 5"/>
          <p:cNvSpPr txBox="1"/>
          <p:nvPr/>
        </p:nvSpPr>
        <p:spPr>
          <a:xfrm>
            <a:off x="11508867" y="365760"/>
            <a:ext cx="126873" cy="243840"/>
          </a:xfrm>
          <a:prstGeom prst="rect">
            <a:avLst/>
          </a:prstGeom>
          <a:noFill/>
          <a:ln>
            <a:noFill/>
          </a:ln>
        </p:spPr>
        <p:txBody>
          <a:bodyPr wrap="none" lIns="0" tIns="0" rIns="0" bIns="0" anchor="t" anchorCtr="0">
            <a:spAutoFit/>
          </a:bodyPr>
          <a:lstStyle/>
          <a:p>
            <a:pPr algn="r"/>
            <a:r>
              <a:rPr lang="zh-CN" sz="1200" dirty="0">
                <a:solidFill>
                  <a:srgbClr val="99B3CC">
                    <a:alphaMod val="80000"/>
                  </a:srgbClr>
                </a:solidFill>
                <a:latin typeface="Arial"/>
                <a:ea typeface="Microsoft YaHei"/>
                <a:cs typeface="Arial"/>
              </a:rPr>
              <a:t>3</a:t>
            </a:r>
          </a:p>
        </p:txBody>
      </p:sp>
      <p:sp>
        <p:nvSpPr>
          <p:cNvPr id="6" name="Rectangle 6"/>
          <p:cNvSpPr/>
          <p:nvPr/>
        </p:nvSpPr>
        <p:spPr>
          <a:xfrm>
            <a:off x="571500" y="1047750"/>
            <a:ext cx="1905000" cy="342900"/>
          </a:xfrm>
          <a:prstGeom prst="roundRect">
            <a:avLst>
              <a:gd name="adj" fmla="val 50000"/>
            </a:avLst>
          </a:prstGeom>
          <a:solidFill>
            <a:srgbClr val="2B7BD6"/>
          </a:solidFill>
          <a:ln>
            <a:noFill/>
          </a:ln>
        </p:spPr>
      </p:sp>
      <p:sp>
        <p:nvSpPr>
          <p:cNvPr id="7" name="TextBox 7"/>
          <p:cNvSpPr txBox="1"/>
          <p:nvPr/>
        </p:nvSpPr>
        <p:spPr>
          <a:xfrm>
            <a:off x="1140714" y="1146810"/>
            <a:ext cx="76657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应用背景</a:t>
            </a:r>
          </a:p>
        </p:txBody>
      </p:sp>
      <p:sp>
        <p:nvSpPr>
          <p:cNvPr id="8" name="Rectangle 8"/>
          <p:cNvSpPr/>
          <p:nvPr/>
        </p:nvSpPr>
        <p:spPr>
          <a:xfrm>
            <a:off x="571500" y="1619250"/>
            <a:ext cx="11049000" cy="4762500"/>
          </a:xfrm>
          <a:prstGeom prst="roundRect">
            <a:avLst>
              <a:gd name="adj" fmla="val 2400"/>
            </a:avLst>
          </a:prstGeom>
          <a:solidFill>
            <a:srgbClr val="F0F4F8"/>
          </a:solidFill>
          <a:ln>
            <a:noFill/>
          </a:ln>
        </p:spPr>
      </p:sp>
      <p:sp>
        <p:nvSpPr>
          <p:cNvPr id="9" name="Rectangle 9"/>
          <p:cNvSpPr/>
          <p:nvPr/>
        </p:nvSpPr>
        <p:spPr>
          <a:xfrm>
            <a:off x="762000" y="1809750"/>
            <a:ext cx="10668000" cy="952500"/>
          </a:xfrm>
          <a:prstGeom prst="roundRect">
            <a:avLst>
              <a:gd name="adj" fmla="val 8000"/>
            </a:avLst>
          </a:prstGeom>
          <a:solidFill>
            <a:srgbClr val="FFFFFF"/>
          </a:solidFill>
          <a:ln>
            <a:noFill/>
          </a:ln>
        </p:spPr>
      </p:sp>
      <p:sp>
        <p:nvSpPr>
          <p:cNvPr id="10" name="Rectangle 10"/>
          <p:cNvSpPr/>
          <p:nvPr/>
        </p:nvSpPr>
        <p:spPr>
          <a:xfrm>
            <a:off x="762000" y="1809750"/>
            <a:ext cx="47625" cy="952500"/>
          </a:xfrm>
          <a:prstGeom prst="roundRect">
            <a:avLst>
              <a:gd name="adj" fmla="val 50000"/>
            </a:avLst>
          </a:prstGeom>
          <a:solidFill>
            <a:srgbClr val="E53935"/>
          </a:solidFill>
          <a:ln>
            <a:noFill/>
          </a:ln>
        </p:spPr>
      </p:sp>
      <p:sp>
        <p:nvSpPr>
          <p:cNvPr id="11" name="TextBox 11"/>
          <p:cNvSpPr txBox="1"/>
          <p:nvPr/>
        </p:nvSpPr>
        <p:spPr>
          <a:xfrm>
            <a:off x="1030605" y="1997392"/>
            <a:ext cx="1690497" cy="274320"/>
          </a:xfrm>
          <a:prstGeom prst="rect">
            <a:avLst/>
          </a:prstGeom>
          <a:noFill/>
          <a:ln>
            <a:noFill/>
          </a:ln>
        </p:spPr>
        <p:txBody>
          <a:bodyPr wrap="none" lIns="0" tIns="0" rIns="0" bIns="0" anchor="t" anchorCtr="0">
            <a:spAutoFit/>
          </a:bodyPr>
          <a:lstStyle/>
          <a:p>
            <a:pPr algn="l"/>
            <a:r>
              <a:rPr lang="zh-CN" sz="1350" b="1" dirty="0">
                <a:solidFill>
                  <a:srgbClr val="1A1A1A"/>
                </a:solidFill>
                <a:latin typeface="Arial"/>
                <a:ea typeface="Microsoft YaHei"/>
                <a:cs typeface="Arial"/>
              </a:rPr>
              <a:t>大语言模型的局限</a:t>
            </a:r>
          </a:p>
        </p:txBody>
      </p:sp>
      <p:sp>
        <p:nvSpPr>
          <p:cNvPr id="12" name="TextBox 12"/>
          <p:cNvSpPr txBox="1"/>
          <p:nvPr/>
        </p:nvSpPr>
        <p:spPr>
          <a:xfrm>
            <a:off x="1033462" y="2307431"/>
            <a:ext cx="5614988" cy="228600"/>
          </a:xfrm>
          <a:prstGeom prst="rect">
            <a:avLst/>
          </a:prstGeom>
          <a:noFill/>
          <a:ln>
            <a:noFill/>
          </a:ln>
        </p:spPr>
        <p:txBody>
          <a:bodyPr wrap="none" lIns="0" tIns="0" rIns="0" bIns="0" anchor="t" anchorCtr="0">
            <a:spAutoFit/>
          </a:bodyPr>
          <a:lstStyle/>
          <a:p>
            <a:pPr algn="l"/>
            <a:r>
              <a:rPr lang="zh-CN" sz="1125" dirty="0">
                <a:solidFill>
                  <a:srgbClr val="555555"/>
                </a:solidFill>
                <a:latin typeface="Arial"/>
                <a:ea typeface="Microsoft YaHei"/>
                <a:cs typeface="Arial"/>
              </a:rPr>
              <a:t>通用大语言模型在法律等专业领域存在</a:t>
            </a:r>
            <a:r>
              <a:rPr lang="zh-CN" sz="1125" b="1" dirty="0">
                <a:solidFill>
                  <a:srgbClr val="E53935"/>
                </a:solidFill>
                <a:latin typeface="Arial"/>
                <a:ea typeface="Microsoft YaHei"/>
                <a:cs typeface="Arial"/>
              </a:rPr>
              <a:t>知识不足</a:t>
            </a:r>
            <a:r>
              <a:rPr lang="zh-CN" sz="1125" dirty="0">
                <a:solidFill>
                  <a:srgbClr val="555555"/>
                </a:solidFill>
                <a:latin typeface="Arial"/>
                <a:ea typeface="Microsoft YaHei"/>
                <a:cs typeface="Arial"/>
              </a:rPr>
              <a:t>、</a:t>
            </a:r>
            <a:r>
              <a:rPr lang="zh-CN" sz="1125" b="1" dirty="0">
                <a:solidFill>
                  <a:srgbClr val="E53935"/>
                </a:solidFill>
                <a:latin typeface="Arial"/>
                <a:ea typeface="Microsoft YaHei"/>
                <a:cs typeface="Arial"/>
              </a:rPr>
              <a:t>幻觉频发</a:t>
            </a:r>
            <a:r>
              <a:rPr lang="zh-CN" sz="1125" dirty="0">
                <a:solidFill>
                  <a:srgbClr val="555555"/>
                </a:solidFill>
                <a:latin typeface="Arial"/>
                <a:ea typeface="Microsoft YaHei"/>
                <a:cs typeface="Arial"/>
              </a:rPr>
              <a:t>、</a:t>
            </a:r>
            <a:r>
              <a:rPr lang="zh-CN" sz="1125" b="1" dirty="0">
                <a:solidFill>
                  <a:srgbClr val="E53935"/>
                </a:solidFill>
                <a:latin typeface="Arial"/>
                <a:ea typeface="Microsoft YaHei"/>
                <a:cs typeface="Arial"/>
              </a:rPr>
              <a:t>更新滞后</a:t>
            </a:r>
            <a:r>
              <a:rPr lang="zh-CN" sz="1125" dirty="0">
                <a:solidFill>
                  <a:srgbClr val="555555"/>
                </a:solidFill>
                <a:latin typeface="Arial"/>
                <a:ea typeface="Microsoft YaHei"/>
                <a:cs typeface="Arial"/>
              </a:rPr>
              <a:t>等问题</a:t>
            </a:r>
          </a:p>
        </p:txBody>
      </p:sp>
      <p:sp>
        <p:nvSpPr>
          <p:cNvPr id="13" name="Rectangle 13"/>
          <p:cNvSpPr/>
          <p:nvPr/>
        </p:nvSpPr>
        <p:spPr>
          <a:xfrm>
            <a:off x="762000" y="2952750"/>
            <a:ext cx="10668000" cy="952500"/>
          </a:xfrm>
          <a:prstGeom prst="roundRect">
            <a:avLst>
              <a:gd name="adj" fmla="val 8000"/>
            </a:avLst>
          </a:prstGeom>
          <a:solidFill>
            <a:srgbClr val="FFFFFF"/>
          </a:solidFill>
          <a:ln>
            <a:noFill/>
          </a:ln>
        </p:spPr>
      </p:sp>
      <p:sp>
        <p:nvSpPr>
          <p:cNvPr id="14" name="Rectangle 14"/>
          <p:cNvSpPr/>
          <p:nvPr/>
        </p:nvSpPr>
        <p:spPr>
          <a:xfrm>
            <a:off x="762000" y="2952750"/>
            <a:ext cx="47625" cy="952500"/>
          </a:xfrm>
          <a:prstGeom prst="roundRect">
            <a:avLst>
              <a:gd name="adj" fmla="val 50000"/>
            </a:avLst>
          </a:prstGeom>
          <a:solidFill>
            <a:srgbClr val="2B7BD6"/>
          </a:solidFill>
          <a:ln>
            <a:noFill/>
          </a:ln>
        </p:spPr>
      </p:sp>
      <p:sp>
        <p:nvSpPr>
          <p:cNvPr id="15" name="TextBox 15"/>
          <p:cNvSpPr txBox="1"/>
          <p:nvPr/>
        </p:nvSpPr>
        <p:spPr>
          <a:xfrm>
            <a:off x="1030605" y="3140392"/>
            <a:ext cx="1203986" cy="274320"/>
          </a:xfrm>
          <a:prstGeom prst="rect">
            <a:avLst/>
          </a:prstGeom>
          <a:noFill/>
          <a:ln>
            <a:noFill/>
          </a:ln>
        </p:spPr>
        <p:txBody>
          <a:bodyPr wrap="none" lIns="0" tIns="0" rIns="0" bIns="0" anchor="t" anchorCtr="0">
            <a:spAutoFit/>
          </a:bodyPr>
          <a:lstStyle/>
          <a:p>
            <a:pPr algn="l"/>
            <a:r>
              <a:rPr lang="zh-CN" sz="1350" b="1" dirty="0">
                <a:solidFill>
                  <a:srgbClr val="1A1A1A"/>
                </a:solidFill>
                <a:latin typeface="Arial"/>
                <a:ea typeface="Microsoft YaHei"/>
                <a:cs typeface="Arial"/>
              </a:rPr>
              <a:t>RAG技术方案</a:t>
            </a:r>
          </a:p>
        </p:txBody>
      </p:sp>
      <p:sp>
        <p:nvSpPr>
          <p:cNvPr id="16" name="TextBox 16"/>
          <p:cNvSpPr txBox="1"/>
          <p:nvPr/>
        </p:nvSpPr>
        <p:spPr>
          <a:xfrm>
            <a:off x="1033462" y="3450431"/>
            <a:ext cx="6773347" cy="228600"/>
          </a:xfrm>
          <a:prstGeom prst="rect">
            <a:avLst/>
          </a:prstGeom>
          <a:noFill/>
          <a:ln>
            <a:noFill/>
          </a:ln>
        </p:spPr>
        <p:txBody>
          <a:bodyPr wrap="none" lIns="0" tIns="0" rIns="0" bIns="0" anchor="t" anchorCtr="0">
            <a:spAutoFit/>
          </a:bodyPr>
          <a:lstStyle/>
          <a:p>
            <a:pPr algn="l"/>
            <a:r>
              <a:rPr lang="zh-CN" sz="1125" dirty="0">
                <a:solidFill>
                  <a:srgbClr val="555555"/>
                </a:solidFill>
                <a:latin typeface="Arial"/>
                <a:ea typeface="Microsoft YaHei"/>
                <a:cs typeface="Arial"/>
              </a:rPr>
              <a:t>检索增强生成(RAG)：检索相关文档 → 作为上下文参考 → 引导大模型生成</a:t>
            </a:r>
            <a:r>
              <a:rPr lang="zh-CN" sz="1125" b="1" dirty="0">
                <a:solidFill>
                  <a:srgbClr val="2B7BD6"/>
                </a:solidFill>
                <a:latin typeface="Arial"/>
                <a:ea typeface="Microsoft YaHei"/>
                <a:cs typeface="Arial"/>
              </a:rPr>
              <a:t>基于事实</a:t>
            </a:r>
            <a:r>
              <a:rPr lang="zh-CN" sz="1125" dirty="0">
                <a:solidFill>
                  <a:srgbClr val="555555"/>
                </a:solidFill>
                <a:latin typeface="Arial"/>
                <a:ea typeface="Microsoft YaHei"/>
                <a:cs typeface="Arial"/>
              </a:rPr>
              <a:t>的准确回答</a:t>
            </a:r>
          </a:p>
        </p:txBody>
      </p:sp>
      <p:sp>
        <p:nvSpPr>
          <p:cNvPr id="17" name="Rectangle 17"/>
          <p:cNvSpPr/>
          <p:nvPr/>
        </p:nvSpPr>
        <p:spPr>
          <a:xfrm>
            <a:off x="762000" y="4095750"/>
            <a:ext cx="10668000" cy="952500"/>
          </a:xfrm>
          <a:prstGeom prst="roundRect">
            <a:avLst>
              <a:gd name="adj" fmla="val 8000"/>
            </a:avLst>
          </a:prstGeom>
          <a:solidFill>
            <a:srgbClr val="FFFFFF"/>
          </a:solidFill>
          <a:ln>
            <a:noFill/>
          </a:ln>
        </p:spPr>
      </p:sp>
      <p:sp>
        <p:nvSpPr>
          <p:cNvPr id="18" name="Rectangle 18"/>
          <p:cNvSpPr/>
          <p:nvPr/>
        </p:nvSpPr>
        <p:spPr>
          <a:xfrm>
            <a:off x="762000" y="4095750"/>
            <a:ext cx="47625" cy="952500"/>
          </a:xfrm>
          <a:prstGeom prst="roundRect">
            <a:avLst>
              <a:gd name="adj" fmla="val 50000"/>
            </a:avLst>
          </a:prstGeom>
          <a:solidFill>
            <a:srgbClr val="1A3A5C"/>
          </a:solidFill>
          <a:ln>
            <a:noFill/>
          </a:ln>
        </p:spPr>
      </p:sp>
      <p:sp>
        <p:nvSpPr>
          <p:cNvPr id="19" name="TextBox 19"/>
          <p:cNvSpPr txBox="1"/>
          <p:nvPr/>
        </p:nvSpPr>
        <p:spPr>
          <a:xfrm>
            <a:off x="1030605" y="4283392"/>
            <a:ext cx="1483471" cy="274320"/>
          </a:xfrm>
          <a:prstGeom prst="rect">
            <a:avLst/>
          </a:prstGeom>
          <a:noFill/>
          <a:ln>
            <a:noFill/>
          </a:ln>
        </p:spPr>
        <p:txBody>
          <a:bodyPr wrap="none" lIns="0" tIns="0" rIns="0" bIns="0" anchor="t" anchorCtr="0">
            <a:spAutoFit/>
          </a:bodyPr>
          <a:lstStyle/>
          <a:p>
            <a:pPr algn="l"/>
            <a:r>
              <a:rPr lang="zh-CN" sz="1350" b="1" dirty="0">
                <a:solidFill>
                  <a:srgbClr val="1A1A1A"/>
                </a:solidFill>
                <a:latin typeface="Arial"/>
                <a:ea typeface="Microsoft YaHei"/>
                <a:cs typeface="Arial"/>
              </a:rPr>
              <a:t>劳动法领域需求</a:t>
            </a:r>
          </a:p>
        </p:txBody>
      </p:sp>
      <p:sp>
        <p:nvSpPr>
          <p:cNvPr id="20" name="TextBox 20"/>
          <p:cNvSpPr txBox="1"/>
          <p:nvPr/>
        </p:nvSpPr>
        <p:spPr>
          <a:xfrm>
            <a:off x="1033462" y="4593431"/>
            <a:ext cx="5779294" cy="228600"/>
          </a:xfrm>
          <a:prstGeom prst="rect">
            <a:avLst/>
          </a:prstGeom>
          <a:noFill/>
          <a:ln>
            <a:noFill/>
          </a:ln>
        </p:spPr>
        <p:txBody>
          <a:bodyPr wrap="none" lIns="0" tIns="0" rIns="0" bIns="0" anchor="t" anchorCtr="0">
            <a:spAutoFit/>
          </a:bodyPr>
          <a:lstStyle/>
          <a:p>
            <a:pPr algn="l"/>
            <a:r>
              <a:rPr lang="zh-CN" sz="1125" dirty="0">
                <a:solidFill>
                  <a:srgbClr val="555555"/>
                </a:solidFill>
                <a:latin typeface="Arial"/>
                <a:ea typeface="Microsoft YaHei"/>
                <a:cs typeface="Arial"/>
              </a:rPr>
              <a:t>劳动法</a:t>
            </a:r>
            <a:r>
              <a:rPr lang="zh-CN" sz="1125" b="1" dirty="0">
                <a:solidFill>
                  <a:srgbClr val="555555"/>
                </a:solidFill>
                <a:latin typeface="Arial"/>
                <a:ea typeface="Microsoft YaHei"/>
                <a:cs typeface="Arial"/>
              </a:rPr>
              <a:t>条文繁多</a:t>
            </a:r>
            <a:r>
              <a:rPr lang="zh-CN" sz="1125" dirty="0">
                <a:solidFill>
                  <a:srgbClr val="555555"/>
                </a:solidFill>
                <a:latin typeface="Arial"/>
                <a:ea typeface="Microsoft YaHei"/>
                <a:cs typeface="Arial"/>
              </a:rPr>
              <a:t>、</a:t>
            </a:r>
            <a:r>
              <a:rPr lang="zh-CN" sz="1125" b="1" dirty="0">
                <a:solidFill>
                  <a:srgbClr val="555555"/>
                </a:solidFill>
                <a:latin typeface="Arial"/>
                <a:ea typeface="Microsoft YaHei"/>
                <a:cs typeface="Arial"/>
              </a:rPr>
              <a:t>更新频繁</a:t>
            </a:r>
            <a:r>
              <a:rPr lang="zh-CN" sz="1125" dirty="0">
                <a:solidFill>
                  <a:srgbClr val="555555"/>
                </a:solidFill>
                <a:latin typeface="Arial"/>
                <a:ea typeface="Microsoft YaHei"/>
                <a:cs typeface="Arial"/>
              </a:rPr>
              <a:t>、</a:t>
            </a:r>
            <a:r>
              <a:rPr lang="zh-CN" sz="1125" b="1" dirty="0">
                <a:solidFill>
                  <a:srgbClr val="555555"/>
                </a:solidFill>
                <a:latin typeface="Arial"/>
                <a:ea typeface="Microsoft YaHei"/>
                <a:cs typeface="Arial"/>
              </a:rPr>
              <a:t>专业性强</a:t>
            </a:r>
            <a:r>
              <a:rPr lang="zh-CN" sz="1125" dirty="0">
                <a:solidFill>
                  <a:srgbClr val="555555"/>
                </a:solidFill>
                <a:latin typeface="Arial"/>
                <a:ea typeface="Microsoft YaHei"/>
                <a:cs typeface="Arial"/>
              </a:rPr>
              <a:t>，普通劳动者难以快速获取准确法律信息</a:t>
            </a:r>
          </a:p>
        </p:txBody>
      </p:sp>
      <p:sp>
        <p:nvSpPr>
          <p:cNvPr id="21" name="Rectangle 21"/>
          <p:cNvSpPr/>
          <p:nvPr/>
        </p:nvSpPr>
        <p:spPr>
          <a:xfrm>
            <a:off x="762000" y="5238750"/>
            <a:ext cx="10668000" cy="952500"/>
          </a:xfrm>
          <a:prstGeom prst="roundRect">
            <a:avLst>
              <a:gd name="adj" fmla="val 8000"/>
            </a:avLst>
          </a:prstGeom>
          <a:solidFill>
            <a:srgbClr val="FFFFFF"/>
          </a:solidFill>
          <a:ln>
            <a:noFill/>
          </a:ln>
        </p:spPr>
      </p:sp>
      <p:sp>
        <p:nvSpPr>
          <p:cNvPr id="22" name="Rectangle 22"/>
          <p:cNvSpPr/>
          <p:nvPr/>
        </p:nvSpPr>
        <p:spPr>
          <a:xfrm>
            <a:off x="762000" y="5238750"/>
            <a:ext cx="47625" cy="952500"/>
          </a:xfrm>
          <a:prstGeom prst="roundRect">
            <a:avLst>
              <a:gd name="adj" fmla="val 50000"/>
            </a:avLst>
          </a:prstGeom>
          <a:solidFill>
            <a:srgbClr val="2E7D32"/>
          </a:solidFill>
          <a:ln>
            <a:noFill/>
          </a:ln>
        </p:spPr>
      </p:sp>
      <p:sp>
        <p:nvSpPr>
          <p:cNvPr id="23" name="TextBox 23"/>
          <p:cNvSpPr txBox="1"/>
          <p:nvPr/>
        </p:nvSpPr>
        <p:spPr>
          <a:xfrm>
            <a:off x="1030605" y="5426392"/>
            <a:ext cx="862393" cy="274320"/>
          </a:xfrm>
          <a:prstGeom prst="rect">
            <a:avLst/>
          </a:prstGeom>
          <a:noFill/>
          <a:ln>
            <a:noFill/>
          </a:ln>
        </p:spPr>
        <p:txBody>
          <a:bodyPr wrap="none" lIns="0" tIns="0" rIns="0" bIns="0" anchor="t" anchorCtr="0">
            <a:spAutoFit/>
          </a:bodyPr>
          <a:lstStyle/>
          <a:p>
            <a:pPr algn="l"/>
            <a:r>
              <a:rPr lang="zh-CN" sz="1350" b="1" dirty="0">
                <a:solidFill>
                  <a:srgbClr val="1A1A1A"/>
                </a:solidFill>
                <a:latin typeface="Arial"/>
                <a:ea typeface="Microsoft YaHei"/>
                <a:cs typeface="Arial"/>
              </a:rPr>
              <a:t>应用价值</a:t>
            </a:r>
          </a:p>
        </p:txBody>
      </p:sp>
      <p:sp>
        <p:nvSpPr>
          <p:cNvPr id="24" name="TextBox 24"/>
          <p:cNvSpPr txBox="1"/>
          <p:nvPr/>
        </p:nvSpPr>
        <p:spPr>
          <a:xfrm>
            <a:off x="1033462" y="5736431"/>
            <a:ext cx="5122069" cy="228600"/>
          </a:xfrm>
          <a:prstGeom prst="rect">
            <a:avLst/>
          </a:prstGeom>
          <a:noFill/>
          <a:ln>
            <a:noFill/>
          </a:ln>
        </p:spPr>
        <p:txBody>
          <a:bodyPr wrap="none" lIns="0" tIns="0" rIns="0" bIns="0" anchor="t" anchorCtr="0">
            <a:spAutoFit/>
          </a:bodyPr>
          <a:lstStyle/>
          <a:p>
            <a:pPr algn="l"/>
            <a:r>
              <a:rPr lang="zh-CN" sz="1125" dirty="0">
                <a:solidFill>
                  <a:srgbClr val="555555"/>
                </a:solidFill>
                <a:latin typeface="Arial"/>
                <a:ea typeface="Microsoft YaHei"/>
                <a:cs typeface="Arial"/>
              </a:rPr>
              <a:t>帮助普通劳动者快速获取劳动法知识，具有重要的</a:t>
            </a:r>
            <a:r>
              <a:rPr lang="zh-CN" sz="1125" b="1" dirty="0">
                <a:solidFill>
                  <a:srgbClr val="2E7D32"/>
                </a:solidFill>
                <a:latin typeface="Arial"/>
                <a:ea typeface="Microsoft YaHei"/>
                <a:cs typeface="Arial"/>
              </a:rPr>
              <a:t>应用价值</a:t>
            </a:r>
            <a:r>
              <a:rPr lang="zh-CN" sz="1125" dirty="0">
                <a:solidFill>
                  <a:srgbClr val="555555"/>
                </a:solidFill>
                <a:latin typeface="Arial"/>
                <a:ea typeface="Microsoft YaHei"/>
                <a:cs typeface="Arial"/>
              </a:rPr>
              <a:t>和</a:t>
            </a:r>
            <a:r>
              <a:rPr lang="zh-CN" sz="1125" b="1" dirty="0">
                <a:solidFill>
                  <a:srgbClr val="2E7D32"/>
                </a:solidFill>
                <a:latin typeface="Arial"/>
                <a:ea typeface="Microsoft YaHei"/>
                <a:cs typeface="Arial"/>
              </a:rPr>
              <a:t>社会意义</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0"/>
          </a:xfrm>
          <a:prstGeom prst="rect">
            <a:avLst/>
          </a:prstGeom>
          <a:solidFill>
            <a:srgbClr val="1A3A5C"/>
          </a:solidFill>
          <a:ln>
            <a:noFill/>
          </a:ln>
        </p:spPr>
      </p:sp>
      <p:sp>
        <p:nvSpPr>
          <p:cNvPr id="4" name="TextBox 4"/>
          <p:cNvSpPr txBox="1"/>
          <p:nvPr/>
        </p:nvSpPr>
        <p:spPr>
          <a:xfrm>
            <a:off x="548640" y="300990"/>
            <a:ext cx="3082100"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一、应用背景与任务描述</a:t>
            </a:r>
          </a:p>
        </p:txBody>
      </p:sp>
      <p:sp>
        <p:nvSpPr>
          <p:cNvPr id="5" name="TextBox 5"/>
          <p:cNvSpPr txBox="1"/>
          <p:nvPr/>
        </p:nvSpPr>
        <p:spPr>
          <a:xfrm>
            <a:off x="11508867" y="365760"/>
            <a:ext cx="126873" cy="243840"/>
          </a:xfrm>
          <a:prstGeom prst="rect">
            <a:avLst/>
          </a:prstGeom>
          <a:noFill/>
          <a:ln>
            <a:noFill/>
          </a:ln>
        </p:spPr>
        <p:txBody>
          <a:bodyPr wrap="none" lIns="0" tIns="0" rIns="0" bIns="0" anchor="t" anchorCtr="0">
            <a:spAutoFit/>
          </a:bodyPr>
          <a:lstStyle/>
          <a:p>
            <a:pPr algn="r"/>
            <a:r>
              <a:rPr lang="zh-CN" sz="1200" dirty="0">
                <a:solidFill>
                  <a:srgbClr val="99B3CC">
                    <a:alphaMod val="80000"/>
                  </a:srgbClr>
                </a:solidFill>
                <a:latin typeface="Arial"/>
                <a:ea typeface="Microsoft YaHei"/>
                <a:cs typeface="Arial"/>
              </a:rPr>
              <a:t>4</a:t>
            </a:r>
          </a:p>
        </p:txBody>
      </p:sp>
      <p:sp>
        <p:nvSpPr>
          <p:cNvPr id="6" name="Rectangle 6"/>
          <p:cNvSpPr/>
          <p:nvPr/>
        </p:nvSpPr>
        <p:spPr>
          <a:xfrm>
            <a:off x="571500" y="1047750"/>
            <a:ext cx="1905000" cy="342900"/>
          </a:xfrm>
          <a:prstGeom prst="roundRect">
            <a:avLst>
              <a:gd name="adj" fmla="val 50000"/>
            </a:avLst>
          </a:prstGeom>
          <a:solidFill>
            <a:srgbClr val="2B7BD6"/>
          </a:solidFill>
          <a:ln>
            <a:noFill/>
          </a:ln>
        </p:spPr>
      </p:sp>
      <p:sp>
        <p:nvSpPr>
          <p:cNvPr id="7" name="TextBox 7"/>
          <p:cNvSpPr txBox="1"/>
          <p:nvPr/>
        </p:nvSpPr>
        <p:spPr>
          <a:xfrm>
            <a:off x="1140714" y="1146810"/>
            <a:ext cx="76657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任务介绍</a:t>
            </a:r>
          </a:p>
        </p:txBody>
      </p:sp>
      <p:sp>
        <p:nvSpPr>
          <p:cNvPr id="8" name="Rectangle 8"/>
          <p:cNvSpPr/>
          <p:nvPr/>
        </p:nvSpPr>
        <p:spPr>
          <a:xfrm>
            <a:off x="571500" y="1619250"/>
            <a:ext cx="3524250" cy="2286000"/>
          </a:xfrm>
          <a:prstGeom prst="roundRect">
            <a:avLst>
              <a:gd name="adj" fmla="val 5000"/>
            </a:avLst>
          </a:prstGeom>
          <a:solidFill>
            <a:srgbClr val="F0F4F8"/>
          </a:solidFill>
          <a:ln>
            <a:noFill/>
          </a:ln>
        </p:spPr>
      </p:sp>
      <p:sp>
        <p:nvSpPr>
          <p:cNvPr id="9" name="Ellipse 9"/>
          <p:cNvSpPr/>
          <p:nvPr/>
        </p:nvSpPr>
        <p:spPr>
          <a:xfrm>
            <a:off x="2105025" y="1771650"/>
            <a:ext cx="457200" cy="457200"/>
          </a:xfrm>
          <a:prstGeom prst="ellipse">
            <a:avLst/>
          </a:prstGeom>
          <a:solidFill>
            <a:srgbClr val="1A3A5C"/>
          </a:solidFill>
          <a:ln>
            <a:noFill/>
          </a:ln>
        </p:spPr>
      </p:sp>
      <p:sp>
        <p:nvSpPr>
          <p:cNvPr id="10" name="TextBox 10"/>
          <p:cNvSpPr txBox="1"/>
          <p:nvPr/>
        </p:nvSpPr>
        <p:spPr>
          <a:xfrm>
            <a:off x="2280071" y="1905000"/>
            <a:ext cx="107109"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1</a:t>
            </a:r>
          </a:p>
        </p:txBody>
      </p:sp>
      <p:sp>
        <p:nvSpPr>
          <p:cNvPr id="11" name="TextBox 11"/>
          <p:cNvSpPr txBox="1"/>
          <p:nvPr/>
        </p:nvSpPr>
        <p:spPr>
          <a:xfrm>
            <a:off x="1798915" y="2378392"/>
            <a:ext cx="1069419" cy="274320"/>
          </a:xfrm>
          <a:prstGeom prst="rect">
            <a:avLst/>
          </a:prstGeom>
          <a:noFill/>
          <a:ln>
            <a:noFill/>
          </a:ln>
        </p:spPr>
        <p:txBody>
          <a:bodyPr wrap="none" lIns="0" tIns="0" rIns="0" bIns="0" anchor="t" anchorCtr="0">
            <a:spAutoFit/>
          </a:bodyPr>
          <a:lstStyle/>
          <a:p>
            <a:pPr algn="ctr"/>
            <a:r>
              <a:rPr lang="zh-CN" sz="1350" b="1" dirty="0">
                <a:solidFill>
                  <a:srgbClr val="1A3A5C"/>
                </a:solidFill>
                <a:latin typeface="Segoe UI"/>
                <a:ea typeface="Microsoft YaHei"/>
                <a:cs typeface="Segoe UI"/>
              </a:rPr>
              <a:t>知识库构建</a:t>
            </a:r>
          </a:p>
        </p:txBody>
      </p:sp>
      <p:sp>
        <p:nvSpPr>
          <p:cNvPr id="12" name="TextBox 12"/>
          <p:cNvSpPr txBox="1"/>
          <p:nvPr/>
        </p:nvSpPr>
        <p:spPr>
          <a:xfrm>
            <a:off x="796290" y="2744152"/>
            <a:ext cx="1583198"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劳动法文档 → 文本分块</a:t>
            </a:r>
          </a:p>
        </p:txBody>
      </p:sp>
      <p:sp>
        <p:nvSpPr>
          <p:cNvPr id="13" name="TextBox 13"/>
          <p:cNvSpPr txBox="1"/>
          <p:nvPr/>
        </p:nvSpPr>
        <p:spPr>
          <a:xfrm>
            <a:off x="796290" y="2953702"/>
            <a:ext cx="1751886"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 BGE向量化 → ChromaDB</a:t>
            </a:r>
          </a:p>
        </p:txBody>
      </p:sp>
      <p:sp>
        <p:nvSpPr>
          <p:cNvPr id="14" name="Rectangle 14"/>
          <p:cNvSpPr/>
          <p:nvPr/>
        </p:nvSpPr>
        <p:spPr>
          <a:xfrm>
            <a:off x="4333875" y="1619250"/>
            <a:ext cx="3524250" cy="2286000"/>
          </a:xfrm>
          <a:prstGeom prst="roundRect">
            <a:avLst>
              <a:gd name="adj" fmla="val 5000"/>
            </a:avLst>
          </a:prstGeom>
          <a:solidFill>
            <a:srgbClr val="F0F4F8"/>
          </a:solidFill>
          <a:ln>
            <a:noFill/>
          </a:ln>
        </p:spPr>
      </p:sp>
      <p:sp>
        <p:nvSpPr>
          <p:cNvPr id="15" name="Ellipse 15"/>
          <p:cNvSpPr/>
          <p:nvPr/>
        </p:nvSpPr>
        <p:spPr>
          <a:xfrm>
            <a:off x="5867400" y="1771650"/>
            <a:ext cx="457200" cy="457200"/>
          </a:xfrm>
          <a:prstGeom prst="ellipse">
            <a:avLst/>
          </a:prstGeom>
          <a:solidFill>
            <a:srgbClr val="1A3A5C"/>
          </a:solidFill>
          <a:ln>
            <a:noFill/>
          </a:ln>
        </p:spPr>
      </p:sp>
      <p:sp>
        <p:nvSpPr>
          <p:cNvPr id="16" name="TextBox 16"/>
          <p:cNvSpPr txBox="1"/>
          <p:nvPr/>
        </p:nvSpPr>
        <p:spPr>
          <a:xfrm>
            <a:off x="6013692" y="1905000"/>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2</a:t>
            </a:r>
          </a:p>
        </p:txBody>
      </p:sp>
      <p:sp>
        <p:nvSpPr>
          <p:cNvPr id="17" name="TextBox 17"/>
          <p:cNvSpPr txBox="1"/>
          <p:nvPr/>
        </p:nvSpPr>
        <p:spPr>
          <a:xfrm>
            <a:off x="5664803" y="2378392"/>
            <a:ext cx="862393" cy="274320"/>
          </a:xfrm>
          <a:prstGeom prst="rect">
            <a:avLst/>
          </a:prstGeom>
          <a:noFill/>
          <a:ln>
            <a:noFill/>
          </a:ln>
        </p:spPr>
        <p:txBody>
          <a:bodyPr wrap="none" lIns="0" tIns="0" rIns="0" bIns="0" anchor="t" anchorCtr="0">
            <a:spAutoFit/>
          </a:bodyPr>
          <a:lstStyle/>
          <a:p>
            <a:pPr algn="ctr"/>
            <a:r>
              <a:rPr lang="zh-CN" sz="1350" b="1" dirty="0">
                <a:solidFill>
                  <a:srgbClr val="1A3A5C"/>
                </a:solidFill>
                <a:latin typeface="Segoe UI"/>
                <a:ea typeface="Microsoft YaHei"/>
                <a:cs typeface="Segoe UI"/>
              </a:rPr>
              <a:t>混合检索</a:t>
            </a:r>
          </a:p>
        </p:txBody>
      </p:sp>
      <p:sp>
        <p:nvSpPr>
          <p:cNvPr id="18" name="TextBox 18"/>
          <p:cNvSpPr txBox="1"/>
          <p:nvPr/>
        </p:nvSpPr>
        <p:spPr>
          <a:xfrm>
            <a:off x="4558665" y="2744152"/>
            <a:ext cx="1590866"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jieba+BM25关键词检索</a:t>
            </a:r>
          </a:p>
        </p:txBody>
      </p:sp>
      <p:sp>
        <p:nvSpPr>
          <p:cNvPr id="19" name="TextBox 19"/>
          <p:cNvSpPr txBox="1"/>
          <p:nvPr/>
        </p:nvSpPr>
        <p:spPr>
          <a:xfrm>
            <a:off x="4558665" y="2953702"/>
            <a:ext cx="1759553"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 BGE向量检索 → RRF融合</a:t>
            </a:r>
          </a:p>
        </p:txBody>
      </p:sp>
      <p:sp>
        <p:nvSpPr>
          <p:cNvPr id="20" name="Rectangle 20"/>
          <p:cNvSpPr/>
          <p:nvPr/>
        </p:nvSpPr>
        <p:spPr>
          <a:xfrm>
            <a:off x="8096250" y="1619250"/>
            <a:ext cx="3524250" cy="2286000"/>
          </a:xfrm>
          <a:prstGeom prst="roundRect">
            <a:avLst>
              <a:gd name="adj" fmla="val 5000"/>
            </a:avLst>
          </a:prstGeom>
          <a:solidFill>
            <a:srgbClr val="F0F4F8"/>
          </a:solidFill>
          <a:ln>
            <a:noFill/>
          </a:ln>
        </p:spPr>
      </p:sp>
      <p:sp>
        <p:nvSpPr>
          <p:cNvPr id="21" name="Ellipse 21"/>
          <p:cNvSpPr/>
          <p:nvPr/>
        </p:nvSpPr>
        <p:spPr>
          <a:xfrm>
            <a:off x="9629775" y="1771650"/>
            <a:ext cx="457200" cy="457200"/>
          </a:xfrm>
          <a:prstGeom prst="ellipse">
            <a:avLst/>
          </a:prstGeom>
          <a:solidFill>
            <a:srgbClr val="1A3A5C"/>
          </a:solidFill>
          <a:ln>
            <a:noFill/>
          </a:ln>
        </p:spPr>
      </p:sp>
      <p:sp>
        <p:nvSpPr>
          <p:cNvPr id="22" name="TextBox 22"/>
          <p:cNvSpPr txBox="1"/>
          <p:nvPr/>
        </p:nvSpPr>
        <p:spPr>
          <a:xfrm>
            <a:off x="9776067" y="1905000"/>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3</a:t>
            </a:r>
          </a:p>
        </p:txBody>
      </p:sp>
      <p:sp>
        <p:nvSpPr>
          <p:cNvPr id="23" name="TextBox 23"/>
          <p:cNvSpPr txBox="1"/>
          <p:nvPr/>
        </p:nvSpPr>
        <p:spPr>
          <a:xfrm>
            <a:off x="9427178" y="2378392"/>
            <a:ext cx="862393" cy="274320"/>
          </a:xfrm>
          <a:prstGeom prst="rect">
            <a:avLst/>
          </a:prstGeom>
          <a:noFill/>
          <a:ln>
            <a:noFill/>
          </a:ln>
        </p:spPr>
        <p:txBody>
          <a:bodyPr wrap="none" lIns="0" tIns="0" rIns="0" bIns="0" anchor="t" anchorCtr="0">
            <a:spAutoFit/>
          </a:bodyPr>
          <a:lstStyle/>
          <a:p>
            <a:pPr algn="ctr"/>
            <a:r>
              <a:rPr lang="zh-CN" sz="1350" b="1" dirty="0">
                <a:solidFill>
                  <a:srgbClr val="1A3A5C"/>
                </a:solidFill>
                <a:latin typeface="Segoe UI"/>
                <a:ea typeface="Microsoft YaHei"/>
                <a:cs typeface="Segoe UI"/>
              </a:rPr>
              <a:t>答案生成</a:t>
            </a:r>
          </a:p>
        </p:txBody>
      </p:sp>
      <p:sp>
        <p:nvSpPr>
          <p:cNvPr id="24" name="TextBox 24"/>
          <p:cNvSpPr txBox="1"/>
          <p:nvPr/>
        </p:nvSpPr>
        <p:spPr>
          <a:xfrm>
            <a:off x="8321040" y="2744152"/>
            <a:ext cx="1889903"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检索文档片段 → 构建提示词</a:t>
            </a:r>
          </a:p>
        </p:txBody>
      </p:sp>
      <p:sp>
        <p:nvSpPr>
          <p:cNvPr id="25" name="TextBox 25"/>
          <p:cNvSpPr txBox="1"/>
          <p:nvPr/>
        </p:nvSpPr>
        <p:spPr>
          <a:xfrm>
            <a:off x="8321040" y="2953702"/>
            <a:ext cx="1828562"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 DeepSeek-1.5B生成回答</a:t>
            </a:r>
          </a:p>
        </p:txBody>
      </p:sp>
      <p:sp>
        <p:nvSpPr>
          <p:cNvPr id="26" name="Rectangle 26"/>
          <p:cNvSpPr/>
          <p:nvPr/>
        </p:nvSpPr>
        <p:spPr>
          <a:xfrm>
            <a:off x="571500" y="4143375"/>
            <a:ext cx="3524250" cy="2286000"/>
          </a:xfrm>
          <a:prstGeom prst="roundRect">
            <a:avLst>
              <a:gd name="adj" fmla="val 5000"/>
            </a:avLst>
          </a:prstGeom>
          <a:solidFill>
            <a:srgbClr val="F0F4F8"/>
          </a:solidFill>
          <a:ln>
            <a:noFill/>
          </a:ln>
        </p:spPr>
      </p:sp>
      <p:sp>
        <p:nvSpPr>
          <p:cNvPr id="27" name="Ellipse 27"/>
          <p:cNvSpPr/>
          <p:nvPr/>
        </p:nvSpPr>
        <p:spPr>
          <a:xfrm>
            <a:off x="2105025" y="4295775"/>
            <a:ext cx="457200" cy="457200"/>
          </a:xfrm>
          <a:prstGeom prst="ellipse">
            <a:avLst/>
          </a:prstGeom>
          <a:solidFill>
            <a:srgbClr val="2B7BD6"/>
          </a:solidFill>
          <a:ln>
            <a:noFill/>
          </a:ln>
        </p:spPr>
      </p:sp>
      <p:sp>
        <p:nvSpPr>
          <p:cNvPr id="28" name="TextBox 28"/>
          <p:cNvSpPr txBox="1"/>
          <p:nvPr/>
        </p:nvSpPr>
        <p:spPr>
          <a:xfrm>
            <a:off x="2251317" y="442912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4</a:t>
            </a:r>
          </a:p>
        </p:txBody>
      </p:sp>
      <p:sp>
        <p:nvSpPr>
          <p:cNvPr id="29" name="TextBox 29"/>
          <p:cNvSpPr txBox="1"/>
          <p:nvPr/>
        </p:nvSpPr>
        <p:spPr>
          <a:xfrm>
            <a:off x="1902428" y="4902518"/>
            <a:ext cx="862393" cy="274320"/>
          </a:xfrm>
          <a:prstGeom prst="rect">
            <a:avLst/>
          </a:prstGeom>
          <a:noFill/>
          <a:ln>
            <a:noFill/>
          </a:ln>
        </p:spPr>
        <p:txBody>
          <a:bodyPr wrap="none" lIns="0" tIns="0" rIns="0" bIns="0" anchor="t" anchorCtr="0">
            <a:spAutoFit/>
          </a:bodyPr>
          <a:lstStyle/>
          <a:p>
            <a:pPr algn="ctr"/>
            <a:r>
              <a:rPr lang="zh-CN" sz="1350" b="1" dirty="0">
                <a:solidFill>
                  <a:srgbClr val="2B7BD6"/>
                </a:solidFill>
                <a:latin typeface="Segoe UI"/>
                <a:ea typeface="Microsoft YaHei"/>
                <a:cs typeface="Segoe UI"/>
              </a:rPr>
              <a:t>模型微调</a:t>
            </a:r>
          </a:p>
        </p:txBody>
      </p:sp>
      <p:sp>
        <p:nvSpPr>
          <p:cNvPr id="30" name="TextBox 30"/>
          <p:cNvSpPr txBox="1"/>
          <p:nvPr/>
        </p:nvSpPr>
        <p:spPr>
          <a:xfrm>
            <a:off x="796290" y="5268278"/>
            <a:ext cx="2081593"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劳动法QA数据集 → QLoRA微调</a:t>
            </a:r>
          </a:p>
        </p:txBody>
      </p:sp>
      <p:sp>
        <p:nvSpPr>
          <p:cNvPr id="31" name="TextBox 31"/>
          <p:cNvSpPr txBox="1"/>
          <p:nvPr/>
        </p:nvSpPr>
        <p:spPr>
          <a:xfrm>
            <a:off x="796290" y="5477828"/>
            <a:ext cx="1077135"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 领域适配优化</a:t>
            </a:r>
          </a:p>
        </p:txBody>
      </p:sp>
      <p:sp>
        <p:nvSpPr>
          <p:cNvPr id="32" name="Rectangle 32"/>
          <p:cNvSpPr/>
          <p:nvPr/>
        </p:nvSpPr>
        <p:spPr>
          <a:xfrm>
            <a:off x="4333875" y="4143375"/>
            <a:ext cx="3524250" cy="2286000"/>
          </a:xfrm>
          <a:prstGeom prst="roundRect">
            <a:avLst>
              <a:gd name="adj" fmla="val 5000"/>
            </a:avLst>
          </a:prstGeom>
          <a:solidFill>
            <a:srgbClr val="F0F4F8"/>
          </a:solidFill>
          <a:ln>
            <a:noFill/>
          </a:ln>
        </p:spPr>
      </p:sp>
      <p:sp>
        <p:nvSpPr>
          <p:cNvPr id="33" name="Ellipse 33"/>
          <p:cNvSpPr/>
          <p:nvPr/>
        </p:nvSpPr>
        <p:spPr>
          <a:xfrm>
            <a:off x="5867400" y="4295775"/>
            <a:ext cx="457200" cy="457200"/>
          </a:xfrm>
          <a:prstGeom prst="ellipse">
            <a:avLst/>
          </a:prstGeom>
          <a:solidFill>
            <a:srgbClr val="2B7BD6"/>
          </a:solidFill>
          <a:ln>
            <a:noFill/>
          </a:ln>
        </p:spPr>
      </p:sp>
      <p:sp>
        <p:nvSpPr>
          <p:cNvPr id="34" name="TextBox 34"/>
          <p:cNvSpPr txBox="1"/>
          <p:nvPr/>
        </p:nvSpPr>
        <p:spPr>
          <a:xfrm>
            <a:off x="6013692" y="442912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5</a:t>
            </a:r>
          </a:p>
        </p:txBody>
      </p:sp>
      <p:sp>
        <p:nvSpPr>
          <p:cNvPr id="35" name="TextBox 35"/>
          <p:cNvSpPr txBox="1"/>
          <p:nvPr/>
        </p:nvSpPr>
        <p:spPr>
          <a:xfrm>
            <a:off x="5664803" y="4902518"/>
            <a:ext cx="862393" cy="274320"/>
          </a:xfrm>
          <a:prstGeom prst="rect">
            <a:avLst/>
          </a:prstGeom>
          <a:noFill/>
          <a:ln>
            <a:noFill/>
          </a:ln>
        </p:spPr>
        <p:txBody>
          <a:bodyPr wrap="none" lIns="0" tIns="0" rIns="0" bIns="0" anchor="t" anchorCtr="0">
            <a:spAutoFit/>
          </a:bodyPr>
          <a:lstStyle/>
          <a:p>
            <a:pPr algn="ctr"/>
            <a:r>
              <a:rPr lang="zh-CN" sz="1350" b="1" dirty="0">
                <a:solidFill>
                  <a:srgbClr val="2B7BD6"/>
                </a:solidFill>
                <a:latin typeface="Segoe UI"/>
                <a:ea typeface="Microsoft YaHei"/>
                <a:cs typeface="Segoe UI"/>
              </a:rPr>
              <a:t>系统评估</a:t>
            </a:r>
          </a:p>
        </p:txBody>
      </p:sp>
      <p:sp>
        <p:nvSpPr>
          <p:cNvPr id="36" name="TextBox 36"/>
          <p:cNvSpPr txBox="1"/>
          <p:nvPr/>
        </p:nvSpPr>
        <p:spPr>
          <a:xfrm>
            <a:off x="4558665" y="5268278"/>
            <a:ext cx="1912906"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BLEU-4 + Rouge-L自动评估</a:t>
            </a:r>
          </a:p>
        </p:txBody>
      </p:sp>
      <p:sp>
        <p:nvSpPr>
          <p:cNvPr id="37" name="TextBox 37"/>
          <p:cNvSpPr txBox="1"/>
          <p:nvPr/>
        </p:nvSpPr>
        <p:spPr>
          <a:xfrm>
            <a:off x="4558665" y="5477828"/>
            <a:ext cx="2027920"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 人工评分(准确/流畅/相关)</a:t>
            </a:r>
          </a:p>
        </p:txBody>
      </p:sp>
      <p:sp>
        <p:nvSpPr>
          <p:cNvPr id="38" name="Rectangle 38"/>
          <p:cNvSpPr/>
          <p:nvPr/>
        </p:nvSpPr>
        <p:spPr>
          <a:xfrm>
            <a:off x="8096250" y="4143375"/>
            <a:ext cx="3524250" cy="2286000"/>
          </a:xfrm>
          <a:prstGeom prst="roundRect">
            <a:avLst>
              <a:gd name="adj" fmla="val 5000"/>
            </a:avLst>
          </a:prstGeom>
          <a:solidFill>
            <a:srgbClr val="F0F4F8"/>
          </a:solidFill>
          <a:ln>
            <a:noFill/>
          </a:ln>
        </p:spPr>
      </p:sp>
      <p:sp>
        <p:nvSpPr>
          <p:cNvPr id="39" name="Ellipse 39"/>
          <p:cNvSpPr/>
          <p:nvPr/>
        </p:nvSpPr>
        <p:spPr>
          <a:xfrm>
            <a:off x="9629775" y="4295775"/>
            <a:ext cx="457200" cy="457200"/>
          </a:xfrm>
          <a:prstGeom prst="ellipse">
            <a:avLst/>
          </a:prstGeom>
          <a:solidFill>
            <a:srgbClr val="2B7BD6"/>
          </a:solidFill>
          <a:ln>
            <a:noFill/>
          </a:ln>
        </p:spPr>
      </p:sp>
      <p:sp>
        <p:nvSpPr>
          <p:cNvPr id="40" name="TextBox 40"/>
          <p:cNvSpPr txBox="1"/>
          <p:nvPr/>
        </p:nvSpPr>
        <p:spPr>
          <a:xfrm>
            <a:off x="9776067" y="4429125"/>
            <a:ext cx="164616"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Microsoft YaHei"/>
                <a:cs typeface="Arial"/>
              </a:rPr>
              <a:t>6</a:t>
            </a:r>
          </a:p>
        </p:txBody>
      </p:sp>
      <p:sp>
        <p:nvSpPr>
          <p:cNvPr id="41" name="TextBox 41"/>
          <p:cNvSpPr txBox="1"/>
          <p:nvPr/>
        </p:nvSpPr>
        <p:spPr>
          <a:xfrm>
            <a:off x="9442705" y="4902518"/>
            <a:ext cx="831340" cy="274320"/>
          </a:xfrm>
          <a:prstGeom prst="rect">
            <a:avLst/>
          </a:prstGeom>
          <a:noFill/>
          <a:ln>
            <a:noFill/>
          </a:ln>
        </p:spPr>
        <p:txBody>
          <a:bodyPr wrap="none" lIns="0" tIns="0" rIns="0" bIns="0" anchor="t" anchorCtr="0">
            <a:spAutoFit/>
          </a:bodyPr>
          <a:lstStyle/>
          <a:p>
            <a:pPr algn="ctr"/>
            <a:r>
              <a:rPr lang="zh-CN" sz="1350" b="1" dirty="0">
                <a:solidFill>
                  <a:srgbClr val="2B7BD6"/>
                </a:solidFill>
                <a:latin typeface="Segoe UI"/>
                <a:ea typeface="Microsoft YaHei"/>
                <a:cs typeface="Segoe UI"/>
              </a:rPr>
              <a:t>Web界面</a:t>
            </a:r>
          </a:p>
        </p:txBody>
      </p:sp>
      <p:sp>
        <p:nvSpPr>
          <p:cNvPr id="42" name="TextBox 42"/>
          <p:cNvSpPr txBox="1"/>
          <p:nvPr/>
        </p:nvSpPr>
        <p:spPr>
          <a:xfrm>
            <a:off x="8321040" y="5268278"/>
            <a:ext cx="1414510"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Gradio多轮对话界面</a:t>
            </a:r>
          </a:p>
        </p:txBody>
      </p:sp>
      <p:sp>
        <p:nvSpPr>
          <p:cNvPr id="43" name="TextBox 43"/>
          <p:cNvSpPr txBox="1"/>
          <p:nvPr/>
        </p:nvSpPr>
        <p:spPr>
          <a:xfrm>
            <a:off x="8321040" y="5477828"/>
            <a:ext cx="1889903"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Arial"/>
                <a:ea typeface="Microsoft YaHei"/>
                <a:cs typeface="Arial"/>
              </a:rPr>
              <a:t>检索来源可视化 + 模型切换</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0"/>
          </a:xfrm>
          <a:prstGeom prst="rect">
            <a:avLst/>
          </a:prstGeom>
          <a:solidFill>
            <a:srgbClr val="1A3A5C"/>
          </a:solidFill>
          <a:ln>
            <a:noFill/>
          </a:ln>
        </p:spPr>
      </p:sp>
      <p:sp>
        <p:nvSpPr>
          <p:cNvPr id="4" name="TextBox 4"/>
          <p:cNvSpPr txBox="1"/>
          <p:nvPr/>
        </p:nvSpPr>
        <p:spPr>
          <a:xfrm>
            <a:off x="548640" y="300990"/>
            <a:ext cx="4959134"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二、技术路线 — 解决思路与关键NLP技术</a:t>
            </a:r>
          </a:p>
        </p:txBody>
      </p:sp>
      <p:sp>
        <p:nvSpPr>
          <p:cNvPr id="5" name="TextBox 5"/>
          <p:cNvSpPr txBox="1"/>
          <p:nvPr/>
        </p:nvSpPr>
        <p:spPr>
          <a:xfrm>
            <a:off x="11508867" y="365760"/>
            <a:ext cx="126873" cy="243840"/>
          </a:xfrm>
          <a:prstGeom prst="rect">
            <a:avLst/>
          </a:prstGeom>
          <a:noFill/>
          <a:ln>
            <a:noFill/>
          </a:ln>
        </p:spPr>
        <p:txBody>
          <a:bodyPr wrap="none" lIns="0" tIns="0" rIns="0" bIns="0" anchor="t" anchorCtr="0">
            <a:spAutoFit/>
          </a:bodyPr>
          <a:lstStyle/>
          <a:p>
            <a:pPr algn="r"/>
            <a:r>
              <a:rPr lang="zh-CN" sz="1200" dirty="0">
                <a:solidFill>
                  <a:srgbClr val="99B3CC">
                    <a:alphaMod val="80000"/>
                  </a:srgbClr>
                </a:solidFill>
                <a:latin typeface="Arial"/>
                <a:ea typeface="Microsoft YaHei"/>
                <a:cs typeface="Arial"/>
              </a:rPr>
              <a:t>5</a:t>
            </a:r>
          </a:p>
        </p:txBody>
      </p:sp>
      <p:sp>
        <p:nvSpPr>
          <p:cNvPr id="6" name="Rectangle 6"/>
          <p:cNvSpPr/>
          <p:nvPr/>
        </p:nvSpPr>
        <p:spPr>
          <a:xfrm>
            <a:off x="381000" y="1047750"/>
            <a:ext cx="2667000" cy="1762125"/>
          </a:xfrm>
          <a:prstGeom prst="roundRect">
            <a:avLst>
              <a:gd name="adj" fmla="val 5405"/>
            </a:avLst>
          </a:prstGeom>
          <a:solidFill>
            <a:srgbClr val="F0F4F8"/>
          </a:solidFill>
          <a:ln>
            <a:noFill/>
          </a:ln>
        </p:spPr>
      </p:sp>
      <p:sp>
        <p:nvSpPr>
          <p:cNvPr id="7" name="Rectangle 7"/>
          <p:cNvSpPr/>
          <p:nvPr/>
        </p:nvSpPr>
        <p:spPr>
          <a:xfrm>
            <a:off x="381000" y="1047750"/>
            <a:ext cx="2667000" cy="38100"/>
          </a:xfrm>
          <a:prstGeom prst="roundRect">
            <a:avLst>
              <a:gd name="adj" fmla="val 50000"/>
            </a:avLst>
          </a:prstGeom>
          <a:solidFill>
            <a:srgbClr val="1A3A5C"/>
          </a:solidFill>
          <a:ln>
            <a:noFill/>
          </a:ln>
        </p:spPr>
      </p:sp>
      <p:sp>
        <p:nvSpPr>
          <p:cNvPr id="8" name="TextBox 8"/>
          <p:cNvSpPr txBox="1"/>
          <p:nvPr/>
        </p:nvSpPr>
        <p:spPr>
          <a:xfrm>
            <a:off x="1283303" y="1302068"/>
            <a:ext cx="862393" cy="274320"/>
          </a:xfrm>
          <a:prstGeom prst="rect">
            <a:avLst/>
          </a:prstGeom>
          <a:noFill/>
          <a:ln>
            <a:noFill/>
          </a:ln>
        </p:spPr>
        <p:txBody>
          <a:bodyPr wrap="none" lIns="0" tIns="0" rIns="0" bIns="0" anchor="t" anchorCtr="0">
            <a:spAutoFit/>
          </a:bodyPr>
          <a:lstStyle/>
          <a:p>
            <a:pPr algn="ctr"/>
            <a:r>
              <a:rPr lang="zh-CN" sz="1350" b="1" dirty="0">
                <a:solidFill>
                  <a:srgbClr val="1A3A5C"/>
                </a:solidFill>
                <a:latin typeface="Segoe UI"/>
                <a:ea typeface="Microsoft YaHei"/>
                <a:cs typeface="Segoe UI"/>
              </a:rPr>
              <a:t>文本分块</a:t>
            </a:r>
          </a:p>
        </p:txBody>
      </p:sp>
      <p:sp>
        <p:nvSpPr>
          <p:cNvPr id="9" name="TextBox 9"/>
          <p:cNvSpPr txBox="1"/>
          <p:nvPr/>
        </p:nvSpPr>
        <p:spPr>
          <a:xfrm>
            <a:off x="559118" y="1656874"/>
            <a:ext cx="1712190"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RecursiveCharacterText</a:t>
            </a:r>
          </a:p>
        </p:txBody>
      </p:sp>
      <p:sp>
        <p:nvSpPr>
          <p:cNvPr id="10" name="TextBox 10"/>
          <p:cNvSpPr txBox="1"/>
          <p:nvPr/>
        </p:nvSpPr>
        <p:spPr>
          <a:xfrm>
            <a:off x="559118" y="1828324"/>
            <a:ext cx="580120"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Splitter</a:t>
            </a:r>
          </a:p>
        </p:txBody>
      </p:sp>
      <p:sp>
        <p:nvSpPr>
          <p:cNvPr id="11" name="TextBox 11"/>
          <p:cNvSpPr txBox="1"/>
          <p:nvPr/>
        </p:nvSpPr>
        <p:spPr>
          <a:xfrm>
            <a:off x="559118" y="2037874"/>
            <a:ext cx="1101300" cy="198120"/>
          </a:xfrm>
          <a:prstGeom prst="rect">
            <a:avLst/>
          </a:prstGeom>
          <a:noFill/>
          <a:ln>
            <a:noFill/>
          </a:ln>
        </p:spPr>
        <p:txBody>
          <a:bodyPr wrap="none" lIns="0" tIns="0" rIns="0" bIns="0" anchor="t" anchorCtr="0">
            <a:spAutoFit/>
          </a:bodyPr>
          <a:lstStyle/>
          <a:p>
            <a:pPr algn="l"/>
            <a:r>
              <a:rPr lang="zh-CN" sz="975" b="1" dirty="0">
                <a:solidFill>
                  <a:srgbClr val="2B7BD6"/>
                </a:solidFill>
                <a:latin typeface="Arial"/>
                <a:ea typeface="Microsoft YaHei"/>
                <a:cs typeface="Arial"/>
              </a:rPr>
              <a:t>chunk_size=512</a:t>
            </a:r>
          </a:p>
        </p:txBody>
      </p:sp>
      <p:sp>
        <p:nvSpPr>
          <p:cNvPr id="12" name="TextBox 12"/>
          <p:cNvSpPr txBox="1"/>
          <p:nvPr/>
        </p:nvSpPr>
        <p:spPr>
          <a:xfrm>
            <a:off x="559118" y="2209324"/>
            <a:ext cx="854594" cy="198120"/>
          </a:xfrm>
          <a:prstGeom prst="rect">
            <a:avLst/>
          </a:prstGeom>
          <a:noFill/>
          <a:ln>
            <a:noFill/>
          </a:ln>
        </p:spPr>
        <p:txBody>
          <a:bodyPr wrap="none" lIns="0" tIns="0" rIns="0" bIns="0" anchor="t" anchorCtr="0">
            <a:spAutoFit/>
          </a:bodyPr>
          <a:lstStyle/>
          <a:p>
            <a:pPr algn="l"/>
            <a:r>
              <a:rPr lang="zh-CN" sz="975" b="1" dirty="0">
                <a:solidFill>
                  <a:srgbClr val="2B7BD6"/>
                </a:solidFill>
                <a:latin typeface="Arial"/>
                <a:ea typeface="Microsoft YaHei"/>
                <a:cs typeface="Arial"/>
              </a:rPr>
              <a:t>overlap=128</a:t>
            </a:r>
          </a:p>
        </p:txBody>
      </p:sp>
      <p:sp>
        <p:nvSpPr>
          <p:cNvPr id="13" name="Rectangle 13"/>
          <p:cNvSpPr/>
          <p:nvPr/>
        </p:nvSpPr>
        <p:spPr>
          <a:xfrm>
            <a:off x="3238500" y="1047750"/>
            <a:ext cx="2667000" cy="1762125"/>
          </a:xfrm>
          <a:prstGeom prst="roundRect">
            <a:avLst>
              <a:gd name="adj" fmla="val 5405"/>
            </a:avLst>
          </a:prstGeom>
          <a:solidFill>
            <a:srgbClr val="F0F4F8"/>
          </a:solidFill>
          <a:ln>
            <a:noFill/>
          </a:ln>
        </p:spPr>
      </p:sp>
      <p:sp>
        <p:nvSpPr>
          <p:cNvPr id="14" name="Rectangle 14"/>
          <p:cNvSpPr/>
          <p:nvPr/>
        </p:nvSpPr>
        <p:spPr>
          <a:xfrm>
            <a:off x="3238500" y="1047750"/>
            <a:ext cx="2667000" cy="38100"/>
          </a:xfrm>
          <a:prstGeom prst="roundRect">
            <a:avLst>
              <a:gd name="adj" fmla="val 50000"/>
            </a:avLst>
          </a:prstGeom>
          <a:solidFill>
            <a:srgbClr val="2B7BD6"/>
          </a:solidFill>
          <a:ln>
            <a:noFill/>
          </a:ln>
        </p:spPr>
      </p:sp>
      <p:sp>
        <p:nvSpPr>
          <p:cNvPr id="15" name="TextBox 15"/>
          <p:cNvSpPr txBox="1"/>
          <p:nvPr/>
        </p:nvSpPr>
        <p:spPr>
          <a:xfrm>
            <a:off x="4037290" y="1302068"/>
            <a:ext cx="1069419" cy="274320"/>
          </a:xfrm>
          <a:prstGeom prst="rect">
            <a:avLst/>
          </a:prstGeom>
          <a:noFill/>
          <a:ln>
            <a:noFill/>
          </a:ln>
        </p:spPr>
        <p:txBody>
          <a:bodyPr wrap="none" lIns="0" tIns="0" rIns="0" bIns="0" anchor="t" anchorCtr="0">
            <a:spAutoFit/>
          </a:bodyPr>
          <a:lstStyle/>
          <a:p>
            <a:pPr algn="ctr"/>
            <a:r>
              <a:rPr lang="zh-CN" sz="1350" b="1" dirty="0">
                <a:solidFill>
                  <a:srgbClr val="1A3A5C"/>
                </a:solidFill>
                <a:latin typeface="Segoe UI"/>
                <a:ea typeface="Microsoft YaHei"/>
                <a:cs typeface="Segoe UI"/>
              </a:rPr>
              <a:t>文本向量化</a:t>
            </a:r>
          </a:p>
        </p:txBody>
      </p:sp>
      <p:sp>
        <p:nvSpPr>
          <p:cNvPr id="16" name="TextBox 16"/>
          <p:cNvSpPr txBox="1"/>
          <p:nvPr/>
        </p:nvSpPr>
        <p:spPr>
          <a:xfrm>
            <a:off x="3416618" y="1656874"/>
            <a:ext cx="1633871"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BAAI/bge-small-zh-v1.5</a:t>
            </a:r>
          </a:p>
        </p:txBody>
      </p:sp>
      <p:sp>
        <p:nvSpPr>
          <p:cNvPr id="17" name="TextBox 17"/>
          <p:cNvSpPr txBox="1"/>
          <p:nvPr/>
        </p:nvSpPr>
        <p:spPr>
          <a:xfrm>
            <a:off x="3416618" y="1847374"/>
            <a:ext cx="879157"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中文嵌入模型</a:t>
            </a:r>
          </a:p>
        </p:txBody>
      </p:sp>
      <p:sp>
        <p:nvSpPr>
          <p:cNvPr id="18" name="TextBox 18"/>
          <p:cNvSpPr txBox="1"/>
          <p:nvPr/>
        </p:nvSpPr>
        <p:spPr>
          <a:xfrm>
            <a:off x="3416618" y="2056924"/>
            <a:ext cx="809738" cy="198120"/>
          </a:xfrm>
          <a:prstGeom prst="rect">
            <a:avLst/>
          </a:prstGeom>
          <a:noFill/>
          <a:ln>
            <a:noFill/>
          </a:ln>
        </p:spPr>
        <p:txBody>
          <a:bodyPr wrap="none" lIns="0" tIns="0" rIns="0" bIns="0" anchor="t" anchorCtr="0">
            <a:spAutoFit/>
          </a:bodyPr>
          <a:lstStyle/>
          <a:p>
            <a:pPr algn="l"/>
            <a:r>
              <a:rPr lang="zh-CN" sz="975" b="1" dirty="0">
                <a:solidFill>
                  <a:srgbClr val="2B7BD6"/>
                </a:solidFill>
                <a:latin typeface="Arial"/>
                <a:ea typeface="Microsoft YaHei"/>
                <a:cs typeface="Arial"/>
              </a:rPr>
              <a:t>→ 512维向量</a:t>
            </a:r>
          </a:p>
        </p:txBody>
      </p:sp>
      <p:sp>
        <p:nvSpPr>
          <p:cNvPr id="19" name="Rectangle 19"/>
          <p:cNvSpPr/>
          <p:nvPr/>
        </p:nvSpPr>
        <p:spPr>
          <a:xfrm>
            <a:off x="6096000" y="1047750"/>
            <a:ext cx="2667000" cy="1762125"/>
          </a:xfrm>
          <a:prstGeom prst="roundRect">
            <a:avLst>
              <a:gd name="adj" fmla="val 5405"/>
            </a:avLst>
          </a:prstGeom>
          <a:solidFill>
            <a:srgbClr val="F0F4F8"/>
          </a:solidFill>
          <a:ln>
            <a:noFill/>
          </a:ln>
        </p:spPr>
      </p:sp>
      <p:sp>
        <p:nvSpPr>
          <p:cNvPr id="20" name="Rectangle 20"/>
          <p:cNvSpPr/>
          <p:nvPr/>
        </p:nvSpPr>
        <p:spPr>
          <a:xfrm>
            <a:off x="6096000" y="1047750"/>
            <a:ext cx="2667000" cy="38100"/>
          </a:xfrm>
          <a:prstGeom prst="roundRect">
            <a:avLst>
              <a:gd name="adj" fmla="val 50000"/>
            </a:avLst>
          </a:prstGeom>
          <a:solidFill>
            <a:srgbClr val="1A3A5C"/>
          </a:solidFill>
          <a:ln>
            <a:noFill/>
          </a:ln>
        </p:spPr>
      </p:sp>
      <p:sp>
        <p:nvSpPr>
          <p:cNvPr id="21" name="TextBox 21"/>
          <p:cNvSpPr txBox="1"/>
          <p:nvPr/>
        </p:nvSpPr>
        <p:spPr>
          <a:xfrm>
            <a:off x="6894790" y="1302068"/>
            <a:ext cx="1069419" cy="274320"/>
          </a:xfrm>
          <a:prstGeom prst="rect">
            <a:avLst/>
          </a:prstGeom>
          <a:noFill/>
          <a:ln>
            <a:noFill/>
          </a:ln>
        </p:spPr>
        <p:txBody>
          <a:bodyPr wrap="none" lIns="0" tIns="0" rIns="0" bIns="0" anchor="t" anchorCtr="0">
            <a:spAutoFit/>
          </a:bodyPr>
          <a:lstStyle/>
          <a:p>
            <a:pPr algn="ctr"/>
            <a:r>
              <a:rPr lang="zh-CN" sz="1350" b="1" dirty="0">
                <a:solidFill>
                  <a:srgbClr val="1A3A5C"/>
                </a:solidFill>
                <a:latin typeface="Segoe UI"/>
                <a:ea typeface="Microsoft YaHei"/>
                <a:cs typeface="Segoe UI"/>
              </a:rPr>
              <a:t>关键词检索</a:t>
            </a:r>
          </a:p>
        </p:txBody>
      </p:sp>
      <p:sp>
        <p:nvSpPr>
          <p:cNvPr id="22" name="TextBox 22"/>
          <p:cNvSpPr txBox="1"/>
          <p:nvPr/>
        </p:nvSpPr>
        <p:spPr>
          <a:xfrm>
            <a:off x="6274118" y="1656874"/>
            <a:ext cx="914757"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jieba中文分词</a:t>
            </a:r>
          </a:p>
        </p:txBody>
      </p:sp>
      <p:sp>
        <p:nvSpPr>
          <p:cNvPr id="23" name="TextBox 23"/>
          <p:cNvSpPr txBox="1"/>
          <p:nvPr/>
        </p:nvSpPr>
        <p:spPr>
          <a:xfrm>
            <a:off x="6274118" y="1828324"/>
            <a:ext cx="1156835"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 BM25Okapi算法</a:t>
            </a:r>
          </a:p>
        </p:txBody>
      </p:sp>
      <p:sp>
        <p:nvSpPr>
          <p:cNvPr id="24" name="TextBox 24"/>
          <p:cNvSpPr txBox="1"/>
          <p:nvPr/>
        </p:nvSpPr>
        <p:spPr>
          <a:xfrm>
            <a:off x="6274118" y="2037874"/>
            <a:ext cx="779834" cy="198120"/>
          </a:xfrm>
          <a:prstGeom prst="rect">
            <a:avLst/>
          </a:prstGeom>
          <a:noFill/>
          <a:ln>
            <a:noFill/>
          </a:ln>
        </p:spPr>
        <p:txBody>
          <a:bodyPr wrap="none" lIns="0" tIns="0" rIns="0" bIns="0" anchor="t" anchorCtr="0">
            <a:spAutoFit/>
          </a:bodyPr>
          <a:lstStyle/>
          <a:p>
            <a:pPr algn="l"/>
            <a:r>
              <a:rPr lang="zh-CN" sz="975" b="1" dirty="0">
                <a:solidFill>
                  <a:srgbClr val="2B7BD6"/>
                </a:solidFill>
                <a:latin typeface="Arial"/>
                <a:ea typeface="Microsoft YaHei"/>
                <a:cs typeface="Arial"/>
              </a:rPr>
              <a:t>Top-10结果</a:t>
            </a:r>
          </a:p>
        </p:txBody>
      </p:sp>
      <p:sp>
        <p:nvSpPr>
          <p:cNvPr id="25" name="Rectangle 25"/>
          <p:cNvSpPr/>
          <p:nvPr/>
        </p:nvSpPr>
        <p:spPr>
          <a:xfrm>
            <a:off x="8953500" y="1047750"/>
            <a:ext cx="2857500" cy="1762125"/>
          </a:xfrm>
          <a:prstGeom prst="roundRect">
            <a:avLst>
              <a:gd name="adj" fmla="val 5405"/>
            </a:avLst>
          </a:prstGeom>
          <a:solidFill>
            <a:srgbClr val="F0F4F8"/>
          </a:solidFill>
          <a:ln>
            <a:noFill/>
          </a:ln>
        </p:spPr>
      </p:sp>
      <p:sp>
        <p:nvSpPr>
          <p:cNvPr id="26" name="Rectangle 26"/>
          <p:cNvSpPr/>
          <p:nvPr/>
        </p:nvSpPr>
        <p:spPr>
          <a:xfrm>
            <a:off x="8953500" y="1047750"/>
            <a:ext cx="2857500" cy="38100"/>
          </a:xfrm>
          <a:prstGeom prst="roundRect">
            <a:avLst>
              <a:gd name="adj" fmla="val 50000"/>
            </a:avLst>
          </a:prstGeom>
          <a:solidFill>
            <a:srgbClr val="2B7BD6"/>
          </a:solidFill>
          <a:ln>
            <a:noFill/>
          </a:ln>
        </p:spPr>
      </p:sp>
      <p:sp>
        <p:nvSpPr>
          <p:cNvPr id="27" name="TextBox 27"/>
          <p:cNvSpPr txBox="1"/>
          <p:nvPr/>
        </p:nvSpPr>
        <p:spPr>
          <a:xfrm>
            <a:off x="9951053" y="1302068"/>
            <a:ext cx="862393" cy="274320"/>
          </a:xfrm>
          <a:prstGeom prst="rect">
            <a:avLst/>
          </a:prstGeom>
          <a:noFill/>
          <a:ln>
            <a:noFill/>
          </a:ln>
        </p:spPr>
        <p:txBody>
          <a:bodyPr wrap="none" lIns="0" tIns="0" rIns="0" bIns="0" anchor="t" anchorCtr="0">
            <a:spAutoFit/>
          </a:bodyPr>
          <a:lstStyle/>
          <a:p>
            <a:pPr algn="ctr"/>
            <a:r>
              <a:rPr lang="zh-CN" sz="1350" b="1" dirty="0">
                <a:solidFill>
                  <a:srgbClr val="1A3A5C"/>
                </a:solidFill>
                <a:latin typeface="Segoe UI"/>
                <a:ea typeface="Microsoft YaHei"/>
                <a:cs typeface="Segoe UI"/>
              </a:rPr>
              <a:t>向量检索</a:t>
            </a:r>
          </a:p>
        </p:txBody>
      </p:sp>
      <p:sp>
        <p:nvSpPr>
          <p:cNvPr id="28" name="TextBox 28"/>
          <p:cNvSpPr txBox="1"/>
          <p:nvPr/>
        </p:nvSpPr>
        <p:spPr>
          <a:xfrm>
            <a:off x="9131618" y="1656874"/>
            <a:ext cx="1391793"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ChromaDB向量数据库</a:t>
            </a:r>
          </a:p>
        </p:txBody>
      </p:sp>
      <p:sp>
        <p:nvSpPr>
          <p:cNvPr id="29" name="TextBox 29"/>
          <p:cNvSpPr txBox="1"/>
          <p:nvPr/>
        </p:nvSpPr>
        <p:spPr>
          <a:xfrm>
            <a:off x="9131618" y="1828324"/>
            <a:ext cx="1021556"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余弦相似度匹配</a:t>
            </a:r>
          </a:p>
        </p:txBody>
      </p:sp>
      <p:sp>
        <p:nvSpPr>
          <p:cNvPr id="30" name="TextBox 30"/>
          <p:cNvSpPr txBox="1"/>
          <p:nvPr/>
        </p:nvSpPr>
        <p:spPr>
          <a:xfrm>
            <a:off x="9131618" y="2037874"/>
            <a:ext cx="779834" cy="198120"/>
          </a:xfrm>
          <a:prstGeom prst="rect">
            <a:avLst/>
          </a:prstGeom>
          <a:noFill/>
          <a:ln>
            <a:noFill/>
          </a:ln>
        </p:spPr>
        <p:txBody>
          <a:bodyPr wrap="none" lIns="0" tIns="0" rIns="0" bIns="0" anchor="t" anchorCtr="0">
            <a:spAutoFit/>
          </a:bodyPr>
          <a:lstStyle/>
          <a:p>
            <a:pPr algn="l"/>
            <a:r>
              <a:rPr lang="zh-CN" sz="975" b="1" dirty="0">
                <a:solidFill>
                  <a:srgbClr val="2B7BD6"/>
                </a:solidFill>
                <a:latin typeface="Arial"/>
                <a:ea typeface="Microsoft YaHei"/>
                <a:cs typeface="Arial"/>
              </a:rPr>
              <a:t>Top-10结果</a:t>
            </a:r>
          </a:p>
        </p:txBody>
      </p:sp>
      <p:sp>
        <p:nvSpPr>
          <p:cNvPr id="31" name="Rectangle 31"/>
          <p:cNvSpPr/>
          <p:nvPr/>
        </p:nvSpPr>
        <p:spPr>
          <a:xfrm>
            <a:off x="1428750" y="3000375"/>
            <a:ext cx="2857500" cy="1666875"/>
          </a:xfrm>
          <a:prstGeom prst="roundRect">
            <a:avLst>
              <a:gd name="adj" fmla="val 5714"/>
            </a:avLst>
          </a:prstGeom>
          <a:solidFill>
            <a:srgbClr val="F0F4F8"/>
          </a:solidFill>
          <a:ln>
            <a:noFill/>
          </a:ln>
        </p:spPr>
      </p:sp>
      <p:sp>
        <p:nvSpPr>
          <p:cNvPr id="32" name="Rectangle 32"/>
          <p:cNvSpPr/>
          <p:nvPr/>
        </p:nvSpPr>
        <p:spPr>
          <a:xfrm>
            <a:off x="1428750" y="3000375"/>
            <a:ext cx="2857500" cy="38100"/>
          </a:xfrm>
          <a:prstGeom prst="roundRect">
            <a:avLst>
              <a:gd name="adj" fmla="val 50000"/>
            </a:avLst>
          </a:prstGeom>
          <a:solidFill>
            <a:srgbClr val="E53935"/>
          </a:solidFill>
          <a:ln>
            <a:noFill/>
          </a:ln>
        </p:spPr>
      </p:sp>
      <p:sp>
        <p:nvSpPr>
          <p:cNvPr id="33" name="TextBox 33"/>
          <p:cNvSpPr txBox="1"/>
          <p:nvPr/>
        </p:nvSpPr>
        <p:spPr>
          <a:xfrm>
            <a:off x="2048481" y="3254692"/>
            <a:ext cx="1618038" cy="274320"/>
          </a:xfrm>
          <a:prstGeom prst="rect">
            <a:avLst/>
          </a:prstGeom>
          <a:noFill/>
          <a:ln>
            <a:noFill/>
          </a:ln>
        </p:spPr>
        <p:txBody>
          <a:bodyPr wrap="none" lIns="0" tIns="0" rIns="0" bIns="0" anchor="t" anchorCtr="0">
            <a:spAutoFit/>
          </a:bodyPr>
          <a:lstStyle/>
          <a:p>
            <a:pPr algn="ctr"/>
            <a:r>
              <a:rPr lang="zh-CN" sz="1350" b="1" dirty="0">
                <a:solidFill>
                  <a:srgbClr val="1A3A5C"/>
                </a:solidFill>
                <a:latin typeface="Segoe UI"/>
                <a:ea typeface="Microsoft YaHei"/>
                <a:cs typeface="Segoe UI"/>
              </a:rPr>
              <a:t>RRF混合检索融合</a:t>
            </a:r>
          </a:p>
        </p:txBody>
      </p:sp>
      <p:sp>
        <p:nvSpPr>
          <p:cNvPr id="34" name="TextBox 34"/>
          <p:cNvSpPr txBox="1"/>
          <p:nvPr/>
        </p:nvSpPr>
        <p:spPr>
          <a:xfrm>
            <a:off x="1606868" y="3609499"/>
            <a:ext cx="1904429"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RRF_score = 1/(K+rank_kw)</a:t>
            </a:r>
          </a:p>
        </p:txBody>
      </p:sp>
      <p:sp>
        <p:nvSpPr>
          <p:cNvPr id="35" name="TextBox 35"/>
          <p:cNvSpPr txBox="1"/>
          <p:nvPr/>
        </p:nvSpPr>
        <p:spPr>
          <a:xfrm>
            <a:off x="1606868" y="3780949"/>
            <a:ext cx="1640991"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+ 1/(K+rank_vec), K=60</a:t>
            </a:r>
          </a:p>
        </p:txBody>
      </p:sp>
      <p:sp>
        <p:nvSpPr>
          <p:cNvPr id="36" name="TextBox 36"/>
          <p:cNvSpPr txBox="1"/>
          <p:nvPr/>
        </p:nvSpPr>
        <p:spPr>
          <a:xfrm>
            <a:off x="1606868" y="3990499"/>
            <a:ext cx="1123727" cy="198120"/>
          </a:xfrm>
          <a:prstGeom prst="rect">
            <a:avLst/>
          </a:prstGeom>
          <a:noFill/>
          <a:ln>
            <a:noFill/>
          </a:ln>
        </p:spPr>
        <p:txBody>
          <a:bodyPr wrap="none" lIns="0" tIns="0" rIns="0" bIns="0" anchor="t" anchorCtr="0">
            <a:spAutoFit/>
          </a:bodyPr>
          <a:lstStyle/>
          <a:p>
            <a:pPr algn="l"/>
            <a:r>
              <a:rPr lang="zh-CN" sz="975" b="1" dirty="0">
                <a:solidFill>
                  <a:srgbClr val="E53935"/>
                </a:solidFill>
                <a:latin typeface="Arial"/>
                <a:ea typeface="Microsoft YaHei"/>
                <a:cs typeface="Arial"/>
              </a:rPr>
              <a:t>最终 Top-3 结果</a:t>
            </a:r>
          </a:p>
        </p:txBody>
      </p:sp>
      <p:sp>
        <p:nvSpPr>
          <p:cNvPr id="37" name="Rectangle 37"/>
          <p:cNvSpPr/>
          <p:nvPr/>
        </p:nvSpPr>
        <p:spPr>
          <a:xfrm>
            <a:off x="4667250" y="3000375"/>
            <a:ext cx="2857500" cy="1666875"/>
          </a:xfrm>
          <a:prstGeom prst="roundRect">
            <a:avLst>
              <a:gd name="adj" fmla="val 5714"/>
            </a:avLst>
          </a:prstGeom>
          <a:solidFill>
            <a:srgbClr val="F0F4F8"/>
          </a:solidFill>
          <a:ln>
            <a:noFill/>
          </a:ln>
        </p:spPr>
      </p:sp>
      <p:sp>
        <p:nvSpPr>
          <p:cNvPr id="38" name="Rectangle 38"/>
          <p:cNvSpPr/>
          <p:nvPr/>
        </p:nvSpPr>
        <p:spPr>
          <a:xfrm>
            <a:off x="4667250" y="3000375"/>
            <a:ext cx="2857500" cy="38100"/>
          </a:xfrm>
          <a:prstGeom prst="roundRect">
            <a:avLst>
              <a:gd name="adj" fmla="val 50000"/>
            </a:avLst>
          </a:prstGeom>
          <a:solidFill>
            <a:srgbClr val="1A3A5C"/>
          </a:solidFill>
          <a:ln>
            <a:noFill/>
          </a:ln>
        </p:spPr>
      </p:sp>
      <p:sp>
        <p:nvSpPr>
          <p:cNvPr id="39" name="TextBox 39"/>
          <p:cNvSpPr txBox="1"/>
          <p:nvPr/>
        </p:nvSpPr>
        <p:spPr>
          <a:xfrm>
            <a:off x="5561290" y="3254692"/>
            <a:ext cx="1069419" cy="274320"/>
          </a:xfrm>
          <a:prstGeom prst="rect">
            <a:avLst/>
          </a:prstGeom>
          <a:noFill/>
          <a:ln>
            <a:noFill/>
          </a:ln>
        </p:spPr>
        <p:txBody>
          <a:bodyPr wrap="none" lIns="0" tIns="0" rIns="0" bIns="0" anchor="t" anchorCtr="0">
            <a:spAutoFit/>
          </a:bodyPr>
          <a:lstStyle/>
          <a:p>
            <a:pPr algn="ctr"/>
            <a:r>
              <a:rPr lang="zh-CN" sz="1350" b="1" dirty="0">
                <a:solidFill>
                  <a:srgbClr val="1A3A5C"/>
                </a:solidFill>
                <a:latin typeface="Segoe UI"/>
                <a:ea typeface="Microsoft YaHei"/>
                <a:cs typeface="Segoe UI"/>
              </a:rPr>
              <a:t>大模型生成</a:t>
            </a:r>
          </a:p>
        </p:txBody>
      </p:sp>
      <p:sp>
        <p:nvSpPr>
          <p:cNvPr id="40" name="TextBox 40"/>
          <p:cNvSpPr txBox="1"/>
          <p:nvPr/>
        </p:nvSpPr>
        <p:spPr>
          <a:xfrm>
            <a:off x="4845368" y="3609499"/>
            <a:ext cx="1334834"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DeepSeek-R1-Distill</a:t>
            </a:r>
          </a:p>
        </p:txBody>
      </p:sp>
      <p:sp>
        <p:nvSpPr>
          <p:cNvPr id="41" name="TextBox 41"/>
          <p:cNvSpPr txBox="1"/>
          <p:nvPr/>
        </p:nvSpPr>
        <p:spPr>
          <a:xfrm>
            <a:off x="4845368" y="3780949"/>
            <a:ext cx="1498592"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Qwen-1.5B (15亿参数)</a:t>
            </a:r>
          </a:p>
        </p:txBody>
      </p:sp>
      <p:sp>
        <p:nvSpPr>
          <p:cNvPr id="42" name="TextBox 42"/>
          <p:cNvSpPr txBox="1"/>
          <p:nvPr/>
        </p:nvSpPr>
        <p:spPr>
          <a:xfrm>
            <a:off x="4845368" y="3990499"/>
            <a:ext cx="1669471"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a:ea typeface="Microsoft YaHei"/>
                <a:cs typeface="Arial"/>
              </a:rPr>
              <a:t>T=0.3, max=512 tokens</a:t>
            </a:r>
          </a:p>
        </p:txBody>
      </p:sp>
      <p:sp>
        <p:nvSpPr>
          <p:cNvPr id="43" name="Rectangle 43"/>
          <p:cNvSpPr/>
          <p:nvPr/>
        </p:nvSpPr>
        <p:spPr>
          <a:xfrm>
            <a:off x="7905750" y="3000375"/>
            <a:ext cx="2857500" cy="1666875"/>
          </a:xfrm>
          <a:prstGeom prst="roundRect">
            <a:avLst>
              <a:gd name="adj" fmla="val 5714"/>
            </a:avLst>
          </a:prstGeom>
          <a:solidFill>
            <a:srgbClr val="F0F4F8"/>
          </a:solidFill>
          <a:ln>
            <a:noFill/>
          </a:ln>
        </p:spPr>
      </p:sp>
      <p:sp>
        <p:nvSpPr>
          <p:cNvPr id="44" name="Rectangle 44"/>
          <p:cNvSpPr/>
          <p:nvPr/>
        </p:nvSpPr>
        <p:spPr>
          <a:xfrm>
            <a:off x="7905750" y="3000375"/>
            <a:ext cx="2857500" cy="38100"/>
          </a:xfrm>
          <a:prstGeom prst="roundRect">
            <a:avLst>
              <a:gd name="adj" fmla="val 50000"/>
            </a:avLst>
          </a:prstGeom>
          <a:solidFill>
            <a:srgbClr val="2E7D32"/>
          </a:solidFill>
          <a:ln>
            <a:noFill/>
          </a:ln>
        </p:spPr>
      </p:sp>
      <p:sp>
        <p:nvSpPr>
          <p:cNvPr id="45" name="TextBox 45"/>
          <p:cNvSpPr txBox="1"/>
          <p:nvPr/>
        </p:nvSpPr>
        <p:spPr>
          <a:xfrm>
            <a:off x="8804966" y="3254692"/>
            <a:ext cx="1059068" cy="274320"/>
          </a:xfrm>
          <a:prstGeom prst="rect">
            <a:avLst/>
          </a:prstGeom>
          <a:noFill/>
          <a:ln>
            <a:noFill/>
          </a:ln>
        </p:spPr>
        <p:txBody>
          <a:bodyPr wrap="none" lIns="0" tIns="0" rIns="0" bIns="0" anchor="t" anchorCtr="0">
            <a:spAutoFit/>
          </a:bodyPr>
          <a:lstStyle/>
          <a:p>
            <a:pPr algn="ctr"/>
            <a:r>
              <a:rPr lang="zh-CN" sz="1350" b="1" dirty="0">
                <a:solidFill>
                  <a:srgbClr val="1A3A5C"/>
                </a:solidFill>
                <a:latin typeface="Segoe UI"/>
                <a:ea typeface="Microsoft YaHei"/>
                <a:cs typeface="Segoe UI"/>
              </a:rPr>
              <a:t>QLoRA微调</a:t>
            </a:r>
          </a:p>
        </p:txBody>
      </p:sp>
      <p:sp>
        <p:nvSpPr>
          <p:cNvPr id="46" name="TextBox 46"/>
          <p:cNvSpPr txBox="1"/>
          <p:nvPr/>
        </p:nvSpPr>
        <p:spPr>
          <a:xfrm>
            <a:off x="8083868" y="3609499"/>
            <a:ext cx="1598271"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4bit NF4量化 + 双重量化</a:t>
            </a:r>
          </a:p>
        </p:txBody>
      </p:sp>
      <p:sp>
        <p:nvSpPr>
          <p:cNvPr id="47" name="TextBox 47"/>
          <p:cNvSpPr txBox="1"/>
          <p:nvPr/>
        </p:nvSpPr>
        <p:spPr>
          <a:xfrm>
            <a:off x="8083868" y="3780949"/>
            <a:ext cx="1448753" cy="198120"/>
          </a:xfrm>
          <a:prstGeom prst="rect">
            <a:avLst/>
          </a:prstGeom>
          <a:noFill/>
          <a:ln>
            <a:noFill/>
          </a:ln>
        </p:spPr>
        <p:txBody>
          <a:bodyPr wrap="none" lIns="0" tIns="0" rIns="0" bIns="0" anchor="t" anchorCtr="0">
            <a:spAutoFit/>
          </a:bodyPr>
          <a:lstStyle/>
          <a:p>
            <a:pPr algn="l"/>
            <a:r>
              <a:rPr lang="zh-CN" sz="975" dirty="0">
                <a:solidFill>
                  <a:srgbClr val="555555"/>
                </a:solidFill>
                <a:latin typeface="Arial"/>
                <a:ea typeface="Microsoft YaHei"/>
                <a:cs typeface="Arial"/>
              </a:rPr>
              <a:t>LoRA: r=16, alpha=32</a:t>
            </a:r>
          </a:p>
        </p:txBody>
      </p:sp>
      <p:sp>
        <p:nvSpPr>
          <p:cNvPr id="48" name="TextBox 48"/>
          <p:cNvSpPr txBox="1"/>
          <p:nvPr/>
        </p:nvSpPr>
        <p:spPr>
          <a:xfrm>
            <a:off x="8083868" y="3990499"/>
            <a:ext cx="1220914" cy="198120"/>
          </a:xfrm>
          <a:prstGeom prst="rect">
            <a:avLst/>
          </a:prstGeom>
          <a:noFill/>
          <a:ln>
            <a:noFill/>
          </a:ln>
        </p:spPr>
        <p:txBody>
          <a:bodyPr wrap="none" lIns="0" tIns="0" rIns="0" bIns="0" anchor="t" anchorCtr="0">
            <a:spAutoFit/>
          </a:bodyPr>
          <a:lstStyle/>
          <a:p>
            <a:pPr algn="l"/>
            <a:r>
              <a:rPr lang="zh-CN" sz="975" b="1" dirty="0">
                <a:solidFill>
                  <a:srgbClr val="2E7D32"/>
                </a:solidFill>
                <a:latin typeface="Arial"/>
                <a:ea typeface="Microsoft YaHei"/>
                <a:cs typeface="Arial"/>
              </a:rPr>
              <a:t>大幅降低显存占用</a:t>
            </a:r>
          </a:p>
        </p:txBody>
      </p:sp>
      <p:sp>
        <p:nvSpPr>
          <p:cNvPr id="49" name="TextBox 49"/>
          <p:cNvSpPr txBox="1"/>
          <p:nvPr/>
        </p:nvSpPr>
        <p:spPr>
          <a:xfrm>
            <a:off x="4516079" y="5212556"/>
            <a:ext cx="3159841"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a:ea typeface="Microsoft YaHei"/>
                <a:cs typeface="Arial"/>
              </a:rPr>
              <a:t>核心思路：信息检索 + 大模型生成相结合</a:t>
            </a:r>
          </a:p>
        </p:txBody>
      </p:sp>
      <p:sp>
        <p:nvSpPr>
          <p:cNvPr id="50" name="Rectangle 50"/>
          <p:cNvSpPr/>
          <p:nvPr/>
        </p:nvSpPr>
        <p:spPr>
          <a:xfrm>
            <a:off x="3238500" y="5476875"/>
            <a:ext cx="5715000" cy="19050"/>
          </a:xfrm>
          <a:prstGeom prst="roundRect">
            <a:avLst>
              <a:gd name="adj" fmla="val 50000"/>
            </a:avLst>
          </a:prstGeom>
          <a:solidFill>
            <a:srgbClr val="D0D7DE"/>
          </a:solidFill>
          <a:ln>
            <a:noFill/>
          </a:ln>
        </p:spPr>
      </p:sp>
      <p:sp>
        <p:nvSpPr>
          <p:cNvPr id="51" name="TextBox 51"/>
          <p:cNvSpPr txBox="1"/>
          <p:nvPr/>
        </p:nvSpPr>
        <p:spPr>
          <a:xfrm>
            <a:off x="588645" y="4855845"/>
            <a:ext cx="5168932" cy="182880"/>
          </a:xfrm>
          <a:prstGeom prst="rect">
            <a:avLst/>
          </a:prstGeom>
          <a:noFill/>
          <a:ln>
            <a:noFill/>
          </a:ln>
        </p:spPr>
        <p:txBody>
          <a:bodyPr wrap="none" lIns="0" tIns="0" rIns="0" bIns="0" anchor="t" anchorCtr="0">
            <a:spAutoFit/>
          </a:bodyPr>
          <a:lstStyle/>
          <a:p>
            <a:pPr algn="l"/>
            <a:r>
              <a:rPr lang="zh-CN" sz="900" dirty="0">
                <a:solidFill>
                  <a:srgbClr val="888888"/>
                </a:solidFill>
                <a:latin typeface="Segoe UI"/>
                <a:ea typeface="Microsoft YaHei"/>
                <a:cs typeface="Segoe UI"/>
              </a:rPr>
              <a:t>① 文档处理 → ② 向量化入库 → ③④ 双路检索 → ⑤ RRF融合 → ⑥ 模型生成 (+ ⑦ 领域微调优化)</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0"/>
          </a:xfrm>
          <a:prstGeom prst="rect">
            <a:avLst/>
          </a:prstGeom>
          <a:solidFill>
            <a:srgbClr val="1A3A5C"/>
          </a:solidFill>
          <a:ln>
            <a:noFill/>
          </a:ln>
        </p:spPr>
      </p:sp>
      <p:sp>
        <p:nvSpPr>
          <p:cNvPr id="4" name="TextBox 4"/>
          <p:cNvSpPr txBox="1"/>
          <p:nvPr/>
        </p:nvSpPr>
        <p:spPr>
          <a:xfrm>
            <a:off x="548640" y="300990"/>
            <a:ext cx="3399539"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二、技术路线 — 技术路线图</a:t>
            </a:r>
          </a:p>
        </p:txBody>
      </p:sp>
      <p:sp>
        <p:nvSpPr>
          <p:cNvPr id="5" name="TextBox 5"/>
          <p:cNvSpPr txBox="1"/>
          <p:nvPr/>
        </p:nvSpPr>
        <p:spPr>
          <a:xfrm>
            <a:off x="11508867" y="365760"/>
            <a:ext cx="126873" cy="243840"/>
          </a:xfrm>
          <a:prstGeom prst="rect">
            <a:avLst/>
          </a:prstGeom>
          <a:noFill/>
          <a:ln>
            <a:noFill/>
          </a:ln>
        </p:spPr>
        <p:txBody>
          <a:bodyPr wrap="none" lIns="0" tIns="0" rIns="0" bIns="0" anchor="t" anchorCtr="0">
            <a:spAutoFit/>
          </a:bodyPr>
          <a:lstStyle/>
          <a:p>
            <a:pPr algn="r"/>
            <a:r>
              <a:rPr lang="zh-CN" sz="1200" dirty="0">
                <a:solidFill>
                  <a:srgbClr val="99B3CC">
                    <a:alphaMod val="80000"/>
                  </a:srgbClr>
                </a:solidFill>
                <a:latin typeface="Arial"/>
                <a:ea typeface="Microsoft YaHei"/>
                <a:cs typeface="Arial"/>
              </a:rPr>
              <a:t>6</a:t>
            </a:r>
          </a:p>
        </p:txBody>
      </p:sp>
      <p:sp>
        <p:nvSpPr>
          <p:cNvPr id="6" name="Rectangle 6"/>
          <p:cNvSpPr/>
          <p:nvPr/>
        </p:nvSpPr>
        <p:spPr>
          <a:xfrm>
            <a:off x="381000" y="1143000"/>
            <a:ext cx="1476375" cy="1047750"/>
          </a:xfrm>
          <a:prstGeom prst="roundRect">
            <a:avLst>
              <a:gd name="adj" fmla="val 7273"/>
            </a:avLst>
          </a:prstGeom>
          <a:solidFill>
            <a:srgbClr val="F0F4F8"/>
          </a:solidFill>
          <a:ln>
            <a:noFill/>
          </a:ln>
        </p:spPr>
      </p:sp>
      <p:sp>
        <p:nvSpPr>
          <p:cNvPr id="7" name="Ellipse 7"/>
          <p:cNvSpPr/>
          <p:nvPr/>
        </p:nvSpPr>
        <p:spPr>
          <a:xfrm>
            <a:off x="962025" y="1228725"/>
            <a:ext cx="304800" cy="304800"/>
          </a:xfrm>
          <a:prstGeom prst="ellipse">
            <a:avLst/>
          </a:prstGeom>
          <a:solidFill>
            <a:srgbClr val="1A3A5C"/>
          </a:solidFill>
          <a:ln>
            <a:noFill/>
          </a:ln>
        </p:spPr>
      </p:sp>
      <p:sp>
        <p:nvSpPr>
          <p:cNvPr id="8" name="TextBox 8"/>
          <p:cNvSpPr txBox="1"/>
          <p:nvPr/>
        </p:nvSpPr>
        <p:spPr>
          <a:xfrm>
            <a:off x="1074259" y="1316831"/>
            <a:ext cx="8033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1</a:t>
            </a:r>
          </a:p>
        </p:txBody>
      </p:sp>
      <p:sp>
        <p:nvSpPr>
          <p:cNvPr id="9" name="TextBox 9"/>
          <p:cNvSpPr txBox="1"/>
          <p:nvPr/>
        </p:nvSpPr>
        <p:spPr>
          <a:xfrm>
            <a:off x="779050" y="1648778"/>
            <a:ext cx="670750" cy="213360"/>
          </a:xfrm>
          <a:prstGeom prst="rect">
            <a:avLst/>
          </a:prstGeom>
          <a:noFill/>
          <a:ln>
            <a:noFill/>
          </a:ln>
        </p:spPr>
        <p:txBody>
          <a:bodyPr wrap="none" lIns="0" tIns="0" rIns="0" bIns="0" anchor="t" anchorCtr="0">
            <a:spAutoFit/>
          </a:bodyPr>
          <a:lstStyle/>
          <a:p>
            <a:pPr algn="ctr"/>
            <a:r>
              <a:rPr lang="zh-CN" sz="1050" b="1" dirty="0">
                <a:solidFill>
                  <a:srgbClr val="1A3A5C"/>
                </a:solidFill>
                <a:latin typeface="Segoe UI"/>
                <a:ea typeface="Microsoft YaHei"/>
                <a:cs typeface="Segoe UI"/>
              </a:rPr>
              <a:t>文档加载</a:t>
            </a:r>
          </a:p>
        </p:txBody>
      </p:sp>
      <p:sp>
        <p:nvSpPr>
          <p:cNvPr id="10" name="TextBox 10"/>
          <p:cNvSpPr txBox="1"/>
          <p:nvPr/>
        </p:nvSpPr>
        <p:spPr>
          <a:xfrm>
            <a:off x="628007" y="1911191"/>
            <a:ext cx="972836"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Segoe UI"/>
                <a:ea typeface="Microsoft YaHei"/>
                <a:cs typeface="Segoe UI"/>
              </a:rPr>
              <a:t>data/raw/*.txt</a:t>
            </a:r>
          </a:p>
        </p:txBody>
      </p:sp>
      <p:sp>
        <p:nvSpPr>
          <p:cNvPr id="11" name="Line 11"/>
          <p:cNvSpPr/>
          <p:nvPr/>
        </p:nvSpPr>
        <p:spPr>
          <a:xfrm>
            <a:off x="1857375" y="1666875"/>
            <a:ext cx="333375" cy="9525"/>
          </a:xfrm>
          <a:custGeom>
            <a:avLst/>
            <a:gdLst/>
            <a:ahLst/>
            <a:cxnLst/>
            <a:rect l="l" t="t" r="r" b="b"/>
            <a:pathLst>
              <a:path w="333375" h="9525">
                <a:moveTo>
                  <a:pt x="0" y="0"/>
                </a:moveTo>
                <a:lnTo>
                  <a:pt x="333375" y="0"/>
                </a:lnTo>
              </a:path>
            </a:pathLst>
          </a:custGeom>
          <a:noFill/>
          <a:ln w="19050">
            <a:solidFill>
              <a:srgbClr val="D0D7DE"/>
            </a:solidFill>
          </a:ln>
        </p:spPr>
      </p:sp>
      <p:sp>
        <p:nvSpPr>
          <p:cNvPr id="12" name="Polygon 12"/>
          <p:cNvSpPr/>
          <p:nvPr/>
        </p:nvSpPr>
        <p:spPr>
          <a:xfrm>
            <a:off x="2190750" y="1619250"/>
            <a:ext cx="95250" cy="95250"/>
          </a:xfrm>
          <a:custGeom>
            <a:avLst/>
            <a:gdLst/>
            <a:ahLst/>
            <a:cxnLst/>
            <a:rect l="l" t="t" r="r" b="b"/>
            <a:pathLst>
              <a:path w="95250" h="95250">
                <a:moveTo>
                  <a:pt x="0" y="0"/>
                </a:moveTo>
                <a:lnTo>
                  <a:pt x="95250" y="47625"/>
                </a:lnTo>
                <a:lnTo>
                  <a:pt x="0" y="95250"/>
                </a:lnTo>
                <a:close/>
              </a:path>
            </a:pathLst>
          </a:custGeom>
          <a:solidFill>
            <a:srgbClr val="D0D7DE"/>
          </a:solidFill>
          <a:ln>
            <a:noFill/>
          </a:ln>
        </p:spPr>
      </p:sp>
      <p:sp>
        <p:nvSpPr>
          <p:cNvPr id="13" name="Rectangle 13"/>
          <p:cNvSpPr/>
          <p:nvPr/>
        </p:nvSpPr>
        <p:spPr>
          <a:xfrm>
            <a:off x="2333625" y="1143000"/>
            <a:ext cx="1476375" cy="1047750"/>
          </a:xfrm>
          <a:prstGeom prst="roundRect">
            <a:avLst>
              <a:gd name="adj" fmla="val 7273"/>
            </a:avLst>
          </a:prstGeom>
          <a:solidFill>
            <a:srgbClr val="F0F4F8"/>
          </a:solidFill>
          <a:ln>
            <a:noFill/>
          </a:ln>
        </p:spPr>
      </p:sp>
      <p:sp>
        <p:nvSpPr>
          <p:cNvPr id="14" name="Ellipse 14"/>
          <p:cNvSpPr/>
          <p:nvPr/>
        </p:nvSpPr>
        <p:spPr>
          <a:xfrm>
            <a:off x="2914650" y="1228725"/>
            <a:ext cx="304800" cy="304800"/>
          </a:xfrm>
          <a:prstGeom prst="ellipse">
            <a:avLst/>
          </a:prstGeom>
          <a:solidFill>
            <a:srgbClr val="1A3A5C"/>
          </a:solidFill>
          <a:ln>
            <a:noFill/>
          </a:ln>
        </p:spPr>
      </p:sp>
      <p:sp>
        <p:nvSpPr>
          <p:cNvPr id="15" name="TextBox 15"/>
          <p:cNvSpPr txBox="1"/>
          <p:nvPr/>
        </p:nvSpPr>
        <p:spPr>
          <a:xfrm>
            <a:off x="3005319" y="1316831"/>
            <a:ext cx="12346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2</a:t>
            </a:r>
          </a:p>
        </p:txBody>
      </p:sp>
      <p:sp>
        <p:nvSpPr>
          <p:cNvPr id="16" name="TextBox 16"/>
          <p:cNvSpPr txBox="1"/>
          <p:nvPr/>
        </p:nvSpPr>
        <p:spPr>
          <a:xfrm>
            <a:off x="2731675" y="1648778"/>
            <a:ext cx="670750" cy="213360"/>
          </a:xfrm>
          <a:prstGeom prst="rect">
            <a:avLst/>
          </a:prstGeom>
          <a:noFill/>
          <a:ln>
            <a:noFill/>
          </a:ln>
        </p:spPr>
        <p:txBody>
          <a:bodyPr wrap="none" lIns="0" tIns="0" rIns="0" bIns="0" anchor="t" anchorCtr="0">
            <a:spAutoFit/>
          </a:bodyPr>
          <a:lstStyle/>
          <a:p>
            <a:pPr algn="ctr"/>
            <a:r>
              <a:rPr lang="zh-CN" sz="1050" b="1" dirty="0">
                <a:solidFill>
                  <a:srgbClr val="1A3A5C"/>
                </a:solidFill>
                <a:latin typeface="Segoe UI"/>
                <a:ea typeface="Microsoft YaHei"/>
                <a:cs typeface="Segoe UI"/>
              </a:rPr>
              <a:t>文本分块</a:t>
            </a:r>
          </a:p>
        </p:txBody>
      </p:sp>
      <p:sp>
        <p:nvSpPr>
          <p:cNvPr id="17" name="TextBox 17"/>
          <p:cNvSpPr txBox="1"/>
          <p:nvPr/>
        </p:nvSpPr>
        <p:spPr>
          <a:xfrm>
            <a:off x="2854750" y="1911191"/>
            <a:ext cx="424601"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Segoe UI"/>
                <a:ea typeface="Microsoft YaHei"/>
                <a:cs typeface="Segoe UI"/>
              </a:rPr>
              <a:t>512/128</a:t>
            </a:r>
          </a:p>
        </p:txBody>
      </p:sp>
      <p:sp>
        <p:nvSpPr>
          <p:cNvPr id="18" name="Line 18"/>
          <p:cNvSpPr/>
          <p:nvPr/>
        </p:nvSpPr>
        <p:spPr>
          <a:xfrm>
            <a:off x="3810000" y="1666875"/>
            <a:ext cx="333375" cy="9525"/>
          </a:xfrm>
          <a:custGeom>
            <a:avLst/>
            <a:gdLst/>
            <a:ahLst/>
            <a:cxnLst/>
            <a:rect l="l" t="t" r="r" b="b"/>
            <a:pathLst>
              <a:path w="333375" h="9525">
                <a:moveTo>
                  <a:pt x="0" y="0"/>
                </a:moveTo>
                <a:lnTo>
                  <a:pt x="333375" y="0"/>
                </a:lnTo>
              </a:path>
            </a:pathLst>
          </a:custGeom>
          <a:noFill/>
          <a:ln w="19050">
            <a:solidFill>
              <a:srgbClr val="D0D7DE"/>
            </a:solidFill>
          </a:ln>
        </p:spPr>
      </p:sp>
      <p:sp>
        <p:nvSpPr>
          <p:cNvPr id="19" name="Polygon 19"/>
          <p:cNvSpPr/>
          <p:nvPr/>
        </p:nvSpPr>
        <p:spPr>
          <a:xfrm>
            <a:off x="4143375" y="1619250"/>
            <a:ext cx="95250" cy="95250"/>
          </a:xfrm>
          <a:custGeom>
            <a:avLst/>
            <a:gdLst/>
            <a:ahLst/>
            <a:cxnLst/>
            <a:rect l="l" t="t" r="r" b="b"/>
            <a:pathLst>
              <a:path w="95250" h="95250">
                <a:moveTo>
                  <a:pt x="0" y="0"/>
                </a:moveTo>
                <a:lnTo>
                  <a:pt x="95250" y="47625"/>
                </a:lnTo>
                <a:lnTo>
                  <a:pt x="0" y="95250"/>
                </a:lnTo>
                <a:close/>
              </a:path>
            </a:pathLst>
          </a:custGeom>
          <a:solidFill>
            <a:srgbClr val="D0D7DE"/>
          </a:solidFill>
          <a:ln>
            <a:noFill/>
          </a:ln>
        </p:spPr>
      </p:sp>
      <p:sp>
        <p:nvSpPr>
          <p:cNvPr id="20" name="Rectangle 20"/>
          <p:cNvSpPr/>
          <p:nvPr/>
        </p:nvSpPr>
        <p:spPr>
          <a:xfrm>
            <a:off x="4286250" y="1143000"/>
            <a:ext cx="1476375" cy="1047750"/>
          </a:xfrm>
          <a:prstGeom prst="roundRect">
            <a:avLst>
              <a:gd name="adj" fmla="val 7273"/>
            </a:avLst>
          </a:prstGeom>
          <a:solidFill>
            <a:srgbClr val="F0F4F8"/>
          </a:solidFill>
          <a:ln>
            <a:noFill/>
          </a:ln>
        </p:spPr>
      </p:sp>
      <p:sp>
        <p:nvSpPr>
          <p:cNvPr id="21" name="Ellipse 21"/>
          <p:cNvSpPr/>
          <p:nvPr/>
        </p:nvSpPr>
        <p:spPr>
          <a:xfrm>
            <a:off x="4867275" y="1228725"/>
            <a:ext cx="304800" cy="304800"/>
          </a:xfrm>
          <a:prstGeom prst="ellipse">
            <a:avLst/>
          </a:prstGeom>
          <a:solidFill>
            <a:srgbClr val="2B7BD6"/>
          </a:solidFill>
          <a:ln>
            <a:noFill/>
          </a:ln>
        </p:spPr>
      </p:sp>
      <p:sp>
        <p:nvSpPr>
          <p:cNvPr id="22" name="TextBox 22"/>
          <p:cNvSpPr txBox="1"/>
          <p:nvPr/>
        </p:nvSpPr>
        <p:spPr>
          <a:xfrm>
            <a:off x="4957944" y="1316831"/>
            <a:ext cx="12346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3</a:t>
            </a:r>
          </a:p>
        </p:txBody>
      </p:sp>
      <p:sp>
        <p:nvSpPr>
          <p:cNvPr id="23" name="TextBox 23"/>
          <p:cNvSpPr txBox="1"/>
          <p:nvPr/>
        </p:nvSpPr>
        <p:spPr>
          <a:xfrm>
            <a:off x="4631968" y="1648778"/>
            <a:ext cx="775414" cy="213360"/>
          </a:xfrm>
          <a:prstGeom prst="rect">
            <a:avLst/>
          </a:prstGeom>
          <a:noFill/>
          <a:ln>
            <a:noFill/>
          </a:ln>
        </p:spPr>
        <p:txBody>
          <a:bodyPr wrap="none" lIns="0" tIns="0" rIns="0" bIns="0" anchor="t" anchorCtr="0">
            <a:spAutoFit/>
          </a:bodyPr>
          <a:lstStyle/>
          <a:p>
            <a:pPr algn="ctr"/>
            <a:r>
              <a:rPr lang="zh-CN" sz="1050" b="1" dirty="0">
                <a:solidFill>
                  <a:srgbClr val="2B7BD6"/>
                </a:solidFill>
                <a:latin typeface="Segoe UI"/>
                <a:ea typeface="Microsoft YaHei"/>
                <a:cs typeface="Segoe UI"/>
              </a:rPr>
              <a:t>BGE向量化</a:t>
            </a:r>
          </a:p>
        </p:txBody>
      </p:sp>
      <p:sp>
        <p:nvSpPr>
          <p:cNvPr id="24" name="TextBox 24"/>
          <p:cNvSpPr txBox="1"/>
          <p:nvPr/>
        </p:nvSpPr>
        <p:spPr>
          <a:xfrm>
            <a:off x="4831473" y="1911191"/>
            <a:ext cx="376404"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Segoe UI"/>
                <a:ea typeface="Microsoft YaHei"/>
                <a:cs typeface="Segoe UI"/>
              </a:rPr>
              <a:t>→512维</a:t>
            </a:r>
          </a:p>
        </p:txBody>
      </p:sp>
      <p:sp>
        <p:nvSpPr>
          <p:cNvPr id="25" name="Line 25"/>
          <p:cNvSpPr/>
          <p:nvPr/>
        </p:nvSpPr>
        <p:spPr>
          <a:xfrm>
            <a:off x="5762625" y="1666875"/>
            <a:ext cx="333375" cy="9525"/>
          </a:xfrm>
          <a:custGeom>
            <a:avLst/>
            <a:gdLst/>
            <a:ahLst/>
            <a:cxnLst/>
            <a:rect l="l" t="t" r="r" b="b"/>
            <a:pathLst>
              <a:path w="333375" h="9525">
                <a:moveTo>
                  <a:pt x="0" y="0"/>
                </a:moveTo>
                <a:lnTo>
                  <a:pt x="333375" y="0"/>
                </a:lnTo>
              </a:path>
            </a:pathLst>
          </a:custGeom>
          <a:noFill/>
          <a:ln w="19050">
            <a:solidFill>
              <a:srgbClr val="D0D7DE"/>
            </a:solidFill>
          </a:ln>
        </p:spPr>
      </p:sp>
      <p:sp>
        <p:nvSpPr>
          <p:cNvPr id="26" name="Polygon 26"/>
          <p:cNvSpPr/>
          <p:nvPr/>
        </p:nvSpPr>
        <p:spPr>
          <a:xfrm>
            <a:off x="6096000" y="1619250"/>
            <a:ext cx="95250" cy="95250"/>
          </a:xfrm>
          <a:custGeom>
            <a:avLst/>
            <a:gdLst/>
            <a:ahLst/>
            <a:cxnLst/>
            <a:rect l="l" t="t" r="r" b="b"/>
            <a:pathLst>
              <a:path w="95250" h="95250">
                <a:moveTo>
                  <a:pt x="0" y="0"/>
                </a:moveTo>
                <a:lnTo>
                  <a:pt x="95250" y="47625"/>
                </a:lnTo>
                <a:lnTo>
                  <a:pt x="0" y="95250"/>
                </a:lnTo>
                <a:close/>
              </a:path>
            </a:pathLst>
          </a:custGeom>
          <a:solidFill>
            <a:srgbClr val="D0D7DE"/>
          </a:solidFill>
          <a:ln>
            <a:noFill/>
          </a:ln>
        </p:spPr>
      </p:sp>
      <p:sp>
        <p:nvSpPr>
          <p:cNvPr id="27" name="Rectangle 27"/>
          <p:cNvSpPr/>
          <p:nvPr/>
        </p:nvSpPr>
        <p:spPr>
          <a:xfrm>
            <a:off x="6238875" y="1143000"/>
            <a:ext cx="1476375" cy="1047750"/>
          </a:xfrm>
          <a:prstGeom prst="roundRect">
            <a:avLst>
              <a:gd name="adj" fmla="val 7273"/>
            </a:avLst>
          </a:prstGeom>
          <a:solidFill>
            <a:srgbClr val="F0F4F8"/>
          </a:solidFill>
          <a:ln>
            <a:noFill/>
          </a:ln>
        </p:spPr>
      </p:sp>
      <p:sp>
        <p:nvSpPr>
          <p:cNvPr id="28" name="Ellipse 28"/>
          <p:cNvSpPr/>
          <p:nvPr/>
        </p:nvSpPr>
        <p:spPr>
          <a:xfrm>
            <a:off x="6819900" y="1228725"/>
            <a:ext cx="304800" cy="304800"/>
          </a:xfrm>
          <a:prstGeom prst="ellipse">
            <a:avLst/>
          </a:prstGeom>
          <a:solidFill>
            <a:srgbClr val="2B7BD6"/>
          </a:solidFill>
          <a:ln>
            <a:noFill/>
          </a:ln>
        </p:spPr>
      </p:sp>
      <p:sp>
        <p:nvSpPr>
          <p:cNvPr id="29" name="TextBox 29"/>
          <p:cNvSpPr txBox="1"/>
          <p:nvPr/>
        </p:nvSpPr>
        <p:spPr>
          <a:xfrm>
            <a:off x="6910569" y="1316831"/>
            <a:ext cx="12346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4</a:t>
            </a:r>
          </a:p>
        </p:txBody>
      </p:sp>
      <p:sp>
        <p:nvSpPr>
          <p:cNvPr id="30" name="TextBox 30"/>
          <p:cNvSpPr txBox="1"/>
          <p:nvPr/>
        </p:nvSpPr>
        <p:spPr>
          <a:xfrm>
            <a:off x="6427599" y="1648778"/>
            <a:ext cx="1089403" cy="213360"/>
          </a:xfrm>
          <a:prstGeom prst="rect">
            <a:avLst/>
          </a:prstGeom>
          <a:noFill/>
          <a:ln>
            <a:noFill/>
          </a:ln>
        </p:spPr>
        <p:txBody>
          <a:bodyPr wrap="none" lIns="0" tIns="0" rIns="0" bIns="0" anchor="t" anchorCtr="0">
            <a:spAutoFit/>
          </a:bodyPr>
          <a:lstStyle/>
          <a:p>
            <a:pPr algn="ctr"/>
            <a:r>
              <a:rPr lang="zh-CN" sz="1050" b="1" dirty="0">
                <a:solidFill>
                  <a:srgbClr val="2B7BD6"/>
                </a:solidFill>
                <a:latin typeface="Segoe UI"/>
                <a:ea typeface="Microsoft YaHei"/>
                <a:cs typeface="Segoe UI"/>
              </a:rPr>
              <a:t>存入ChromaDB</a:t>
            </a:r>
          </a:p>
        </p:txBody>
      </p:sp>
      <p:sp>
        <p:nvSpPr>
          <p:cNvPr id="31" name="TextBox 31"/>
          <p:cNvSpPr txBox="1"/>
          <p:nvPr/>
        </p:nvSpPr>
        <p:spPr>
          <a:xfrm>
            <a:off x="6660594" y="1911191"/>
            <a:ext cx="623411"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Segoe UI"/>
                <a:ea typeface="Microsoft YaHei"/>
                <a:cs typeface="Segoe UI"/>
              </a:rPr>
              <a:t>持久化存储</a:t>
            </a:r>
          </a:p>
        </p:txBody>
      </p:sp>
      <p:sp>
        <p:nvSpPr>
          <p:cNvPr id="32" name="Line 32"/>
          <p:cNvSpPr/>
          <p:nvPr/>
        </p:nvSpPr>
        <p:spPr>
          <a:xfrm>
            <a:off x="7715250" y="1666875"/>
            <a:ext cx="333375" cy="9525"/>
          </a:xfrm>
          <a:custGeom>
            <a:avLst/>
            <a:gdLst/>
            <a:ahLst/>
            <a:cxnLst/>
            <a:rect l="l" t="t" r="r" b="b"/>
            <a:pathLst>
              <a:path w="333375" h="9525">
                <a:moveTo>
                  <a:pt x="0" y="0"/>
                </a:moveTo>
                <a:lnTo>
                  <a:pt x="333375" y="0"/>
                </a:lnTo>
              </a:path>
            </a:pathLst>
          </a:custGeom>
          <a:noFill/>
          <a:ln w="19050">
            <a:solidFill>
              <a:srgbClr val="D0D7DE"/>
            </a:solidFill>
          </a:ln>
        </p:spPr>
      </p:sp>
      <p:sp>
        <p:nvSpPr>
          <p:cNvPr id="33" name="Polygon 33"/>
          <p:cNvSpPr/>
          <p:nvPr/>
        </p:nvSpPr>
        <p:spPr>
          <a:xfrm>
            <a:off x="8048625" y="1619250"/>
            <a:ext cx="95250" cy="95250"/>
          </a:xfrm>
          <a:custGeom>
            <a:avLst/>
            <a:gdLst/>
            <a:ahLst/>
            <a:cxnLst/>
            <a:rect l="l" t="t" r="r" b="b"/>
            <a:pathLst>
              <a:path w="95250" h="95250">
                <a:moveTo>
                  <a:pt x="0" y="0"/>
                </a:moveTo>
                <a:lnTo>
                  <a:pt x="95250" y="47625"/>
                </a:lnTo>
                <a:lnTo>
                  <a:pt x="0" y="95250"/>
                </a:lnTo>
                <a:close/>
              </a:path>
            </a:pathLst>
          </a:custGeom>
          <a:solidFill>
            <a:srgbClr val="D0D7DE"/>
          </a:solidFill>
          <a:ln>
            <a:noFill/>
          </a:ln>
        </p:spPr>
      </p:sp>
      <p:sp>
        <p:nvSpPr>
          <p:cNvPr id="34" name="Rectangle 34"/>
          <p:cNvSpPr/>
          <p:nvPr/>
        </p:nvSpPr>
        <p:spPr>
          <a:xfrm>
            <a:off x="8191500" y="1143000"/>
            <a:ext cx="1619250" cy="1047750"/>
          </a:xfrm>
          <a:prstGeom prst="roundRect">
            <a:avLst>
              <a:gd name="adj" fmla="val 7273"/>
            </a:avLst>
          </a:prstGeom>
          <a:solidFill>
            <a:srgbClr val="F0F4F8"/>
          </a:solidFill>
          <a:ln>
            <a:noFill/>
          </a:ln>
        </p:spPr>
      </p:sp>
      <p:sp>
        <p:nvSpPr>
          <p:cNvPr id="35" name="Ellipse 35"/>
          <p:cNvSpPr/>
          <p:nvPr/>
        </p:nvSpPr>
        <p:spPr>
          <a:xfrm>
            <a:off x="8848725" y="1228725"/>
            <a:ext cx="304800" cy="304800"/>
          </a:xfrm>
          <a:prstGeom prst="ellipse">
            <a:avLst/>
          </a:prstGeom>
          <a:solidFill>
            <a:srgbClr val="E53935"/>
          </a:solidFill>
          <a:ln>
            <a:noFill/>
          </a:ln>
        </p:spPr>
      </p:sp>
      <p:sp>
        <p:nvSpPr>
          <p:cNvPr id="36" name="TextBox 36"/>
          <p:cNvSpPr txBox="1"/>
          <p:nvPr/>
        </p:nvSpPr>
        <p:spPr>
          <a:xfrm>
            <a:off x="8939394" y="1316831"/>
            <a:ext cx="12346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5</a:t>
            </a:r>
          </a:p>
        </p:txBody>
      </p:sp>
      <p:sp>
        <p:nvSpPr>
          <p:cNvPr id="37" name="TextBox 37"/>
          <p:cNvSpPr txBox="1"/>
          <p:nvPr/>
        </p:nvSpPr>
        <p:spPr>
          <a:xfrm>
            <a:off x="8665750" y="1648778"/>
            <a:ext cx="670750" cy="213360"/>
          </a:xfrm>
          <a:prstGeom prst="rect">
            <a:avLst/>
          </a:prstGeom>
          <a:noFill/>
          <a:ln>
            <a:noFill/>
          </a:ln>
        </p:spPr>
        <p:txBody>
          <a:bodyPr wrap="none" lIns="0" tIns="0" rIns="0" bIns="0" anchor="t" anchorCtr="0">
            <a:spAutoFit/>
          </a:bodyPr>
          <a:lstStyle/>
          <a:p>
            <a:pPr algn="ctr"/>
            <a:r>
              <a:rPr lang="zh-CN" sz="1050" b="1" dirty="0">
                <a:solidFill>
                  <a:srgbClr val="E53935"/>
                </a:solidFill>
                <a:latin typeface="Segoe UI"/>
                <a:ea typeface="Microsoft YaHei"/>
                <a:cs typeface="Segoe UI"/>
              </a:rPr>
              <a:t>混合检索</a:t>
            </a:r>
          </a:p>
        </p:txBody>
      </p:sp>
      <p:sp>
        <p:nvSpPr>
          <p:cNvPr id="38" name="TextBox 38"/>
          <p:cNvSpPr txBox="1"/>
          <p:nvPr/>
        </p:nvSpPr>
        <p:spPr>
          <a:xfrm>
            <a:off x="8692432" y="1911191"/>
            <a:ext cx="617387"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Segoe UI"/>
                <a:ea typeface="Microsoft YaHei"/>
                <a:cs typeface="Segoe UI"/>
              </a:rPr>
              <a:t>BM25+向量</a:t>
            </a:r>
          </a:p>
        </p:txBody>
      </p:sp>
      <p:sp>
        <p:nvSpPr>
          <p:cNvPr id="39" name="Line 39"/>
          <p:cNvSpPr/>
          <p:nvPr/>
        </p:nvSpPr>
        <p:spPr>
          <a:xfrm>
            <a:off x="9810750" y="1666875"/>
            <a:ext cx="333375" cy="9525"/>
          </a:xfrm>
          <a:custGeom>
            <a:avLst/>
            <a:gdLst/>
            <a:ahLst/>
            <a:cxnLst/>
            <a:rect l="l" t="t" r="r" b="b"/>
            <a:pathLst>
              <a:path w="333375" h="9525">
                <a:moveTo>
                  <a:pt x="0" y="0"/>
                </a:moveTo>
                <a:lnTo>
                  <a:pt x="333375" y="0"/>
                </a:lnTo>
              </a:path>
            </a:pathLst>
          </a:custGeom>
          <a:noFill/>
          <a:ln w="19050">
            <a:solidFill>
              <a:srgbClr val="D0D7DE"/>
            </a:solidFill>
          </a:ln>
        </p:spPr>
      </p:sp>
      <p:sp>
        <p:nvSpPr>
          <p:cNvPr id="40" name="Polygon 40"/>
          <p:cNvSpPr/>
          <p:nvPr/>
        </p:nvSpPr>
        <p:spPr>
          <a:xfrm>
            <a:off x="10144125" y="1619250"/>
            <a:ext cx="95250" cy="95250"/>
          </a:xfrm>
          <a:custGeom>
            <a:avLst/>
            <a:gdLst/>
            <a:ahLst/>
            <a:cxnLst/>
            <a:rect l="l" t="t" r="r" b="b"/>
            <a:pathLst>
              <a:path w="95250" h="95250">
                <a:moveTo>
                  <a:pt x="0" y="0"/>
                </a:moveTo>
                <a:lnTo>
                  <a:pt x="95250" y="47625"/>
                </a:lnTo>
                <a:lnTo>
                  <a:pt x="0" y="95250"/>
                </a:lnTo>
                <a:close/>
              </a:path>
            </a:pathLst>
          </a:custGeom>
          <a:solidFill>
            <a:srgbClr val="D0D7DE"/>
          </a:solidFill>
          <a:ln>
            <a:noFill/>
          </a:ln>
        </p:spPr>
      </p:sp>
      <p:sp>
        <p:nvSpPr>
          <p:cNvPr id="41" name="Rectangle 41"/>
          <p:cNvSpPr/>
          <p:nvPr/>
        </p:nvSpPr>
        <p:spPr>
          <a:xfrm>
            <a:off x="10287000" y="1143000"/>
            <a:ext cx="1524000" cy="1047750"/>
          </a:xfrm>
          <a:prstGeom prst="roundRect">
            <a:avLst>
              <a:gd name="adj" fmla="val 7273"/>
            </a:avLst>
          </a:prstGeom>
          <a:solidFill>
            <a:srgbClr val="F0F4F8"/>
          </a:solidFill>
          <a:ln>
            <a:noFill/>
          </a:ln>
        </p:spPr>
      </p:sp>
      <p:sp>
        <p:nvSpPr>
          <p:cNvPr id="42" name="Ellipse 42"/>
          <p:cNvSpPr/>
          <p:nvPr/>
        </p:nvSpPr>
        <p:spPr>
          <a:xfrm>
            <a:off x="10896600" y="1228725"/>
            <a:ext cx="304800" cy="304800"/>
          </a:xfrm>
          <a:prstGeom prst="ellipse">
            <a:avLst/>
          </a:prstGeom>
          <a:solidFill>
            <a:srgbClr val="E53935"/>
          </a:solidFill>
          <a:ln>
            <a:noFill/>
          </a:ln>
        </p:spPr>
      </p:sp>
      <p:sp>
        <p:nvSpPr>
          <p:cNvPr id="43" name="TextBox 43"/>
          <p:cNvSpPr txBox="1"/>
          <p:nvPr/>
        </p:nvSpPr>
        <p:spPr>
          <a:xfrm>
            <a:off x="10987269" y="1316831"/>
            <a:ext cx="12346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6</a:t>
            </a:r>
          </a:p>
        </p:txBody>
      </p:sp>
      <p:sp>
        <p:nvSpPr>
          <p:cNvPr id="44" name="TextBox 44"/>
          <p:cNvSpPr txBox="1"/>
          <p:nvPr/>
        </p:nvSpPr>
        <p:spPr>
          <a:xfrm>
            <a:off x="10741803" y="1648778"/>
            <a:ext cx="614393" cy="213360"/>
          </a:xfrm>
          <a:prstGeom prst="rect">
            <a:avLst/>
          </a:prstGeom>
          <a:noFill/>
          <a:ln>
            <a:noFill/>
          </a:ln>
        </p:spPr>
        <p:txBody>
          <a:bodyPr wrap="none" lIns="0" tIns="0" rIns="0" bIns="0" anchor="t" anchorCtr="0">
            <a:spAutoFit/>
          </a:bodyPr>
          <a:lstStyle/>
          <a:p>
            <a:pPr algn="ctr"/>
            <a:r>
              <a:rPr lang="zh-CN" sz="1050" b="1" dirty="0">
                <a:solidFill>
                  <a:srgbClr val="E53935"/>
                </a:solidFill>
                <a:latin typeface="Segoe UI"/>
                <a:ea typeface="Microsoft YaHei"/>
                <a:cs typeface="Segoe UI"/>
              </a:rPr>
              <a:t>RRF融合</a:t>
            </a:r>
          </a:p>
        </p:txBody>
      </p:sp>
      <p:sp>
        <p:nvSpPr>
          <p:cNvPr id="45" name="TextBox 45"/>
          <p:cNvSpPr txBox="1"/>
          <p:nvPr/>
        </p:nvSpPr>
        <p:spPr>
          <a:xfrm>
            <a:off x="10872847" y="1911191"/>
            <a:ext cx="352306"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Segoe UI"/>
                <a:ea typeface="Microsoft YaHei"/>
                <a:cs typeface="Segoe UI"/>
              </a:rPr>
              <a:t>Top-3</a:t>
            </a:r>
          </a:p>
        </p:txBody>
      </p:sp>
      <p:sp>
        <p:nvSpPr>
          <p:cNvPr id="46" name="Freeform 46"/>
          <p:cNvSpPr/>
          <p:nvPr/>
        </p:nvSpPr>
        <p:spPr>
          <a:xfrm>
            <a:off x="6096000" y="2190750"/>
            <a:ext cx="4953000" cy="1095375"/>
          </a:xfrm>
          <a:custGeom>
            <a:avLst/>
            <a:gdLst/>
            <a:ahLst/>
            <a:cxnLst/>
            <a:rect l="l" t="t" r="r" b="b"/>
            <a:pathLst>
              <a:path w="4953000" h="1095375">
                <a:moveTo>
                  <a:pt x="4953000" y="0"/>
                </a:moveTo>
                <a:lnTo>
                  <a:pt x="4953000" y="762000"/>
                </a:lnTo>
                <a:lnTo>
                  <a:pt x="0" y="762000"/>
                </a:lnTo>
                <a:lnTo>
                  <a:pt x="0" y="1095375"/>
                </a:lnTo>
              </a:path>
            </a:pathLst>
          </a:custGeom>
          <a:noFill/>
          <a:ln w="19050">
            <a:solidFill>
              <a:srgbClr val="D0D7DE"/>
            </a:solidFill>
          </a:ln>
        </p:spPr>
      </p:sp>
      <p:sp>
        <p:nvSpPr>
          <p:cNvPr id="47" name="Rectangle 47"/>
          <p:cNvSpPr/>
          <p:nvPr/>
        </p:nvSpPr>
        <p:spPr>
          <a:xfrm>
            <a:off x="4762500" y="3333750"/>
            <a:ext cx="2667000" cy="1047750"/>
          </a:xfrm>
          <a:prstGeom prst="roundRect">
            <a:avLst>
              <a:gd name="adj" fmla="val 7273"/>
            </a:avLst>
          </a:prstGeom>
          <a:solidFill>
            <a:srgbClr val="F0F4F8"/>
          </a:solidFill>
          <a:ln>
            <a:noFill/>
          </a:ln>
        </p:spPr>
      </p:sp>
      <p:sp>
        <p:nvSpPr>
          <p:cNvPr id="48" name="Ellipse 48"/>
          <p:cNvSpPr/>
          <p:nvPr/>
        </p:nvSpPr>
        <p:spPr>
          <a:xfrm>
            <a:off x="5943600" y="3419475"/>
            <a:ext cx="304800" cy="304800"/>
          </a:xfrm>
          <a:prstGeom prst="ellipse">
            <a:avLst/>
          </a:prstGeom>
          <a:solidFill>
            <a:srgbClr val="2E7D32"/>
          </a:solidFill>
          <a:ln>
            <a:noFill/>
          </a:ln>
        </p:spPr>
      </p:sp>
      <p:sp>
        <p:nvSpPr>
          <p:cNvPr id="49" name="TextBox 49"/>
          <p:cNvSpPr txBox="1"/>
          <p:nvPr/>
        </p:nvSpPr>
        <p:spPr>
          <a:xfrm>
            <a:off x="6034269" y="3507581"/>
            <a:ext cx="12346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7</a:t>
            </a:r>
          </a:p>
        </p:txBody>
      </p:sp>
      <p:sp>
        <p:nvSpPr>
          <p:cNvPr id="50" name="TextBox 50"/>
          <p:cNvSpPr txBox="1"/>
          <p:nvPr/>
        </p:nvSpPr>
        <p:spPr>
          <a:xfrm>
            <a:off x="5245360" y="3839528"/>
            <a:ext cx="1701279"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Segoe UI"/>
                <a:ea typeface="Microsoft YaHei"/>
                <a:cs typeface="Segoe UI"/>
              </a:rPr>
              <a:t>DeepSeek模型生成回答</a:t>
            </a:r>
          </a:p>
        </p:txBody>
      </p:sp>
      <p:sp>
        <p:nvSpPr>
          <p:cNvPr id="51" name="TextBox 51"/>
          <p:cNvSpPr txBox="1"/>
          <p:nvPr/>
        </p:nvSpPr>
        <p:spPr>
          <a:xfrm>
            <a:off x="5284256" y="4101941"/>
            <a:ext cx="1623489"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Segoe UI"/>
                <a:ea typeface="Microsoft YaHei"/>
                <a:cs typeface="Segoe UI"/>
              </a:rPr>
              <a:t>构建提示词 → 生成 → 返回结果</a:t>
            </a:r>
          </a:p>
        </p:txBody>
      </p:sp>
      <p:sp>
        <p:nvSpPr>
          <p:cNvPr id="52" name="Rectangle 52"/>
          <p:cNvSpPr/>
          <p:nvPr/>
        </p:nvSpPr>
        <p:spPr>
          <a:xfrm>
            <a:off x="571500" y="4953000"/>
            <a:ext cx="11049000" cy="1619250"/>
          </a:xfrm>
          <a:prstGeom prst="roundRect">
            <a:avLst>
              <a:gd name="adj" fmla="val 5882"/>
            </a:avLst>
          </a:prstGeom>
          <a:solidFill>
            <a:srgbClr val="F0F4F8"/>
          </a:solidFill>
          <a:ln>
            <a:noFill/>
          </a:ln>
        </p:spPr>
      </p:sp>
      <p:sp>
        <p:nvSpPr>
          <p:cNvPr id="53" name="TextBox 53"/>
          <p:cNvSpPr txBox="1"/>
          <p:nvPr/>
        </p:nvSpPr>
        <p:spPr>
          <a:xfrm>
            <a:off x="4593444" y="5093018"/>
            <a:ext cx="3005111" cy="274320"/>
          </a:xfrm>
          <a:prstGeom prst="rect">
            <a:avLst/>
          </a:prstGeom>
          <a:noFill/>
          <a:ln>
            <a:noFill/>
          </a:ln>
        </p:spPr>
        <p:txBody>
          <a:bodyPr wrap="none" lIns="0" tIns="0" rIns="0" bIns="0" anchor="t" anchorCtr="0">
            <a:spAutoFit/>
          </a:bodyPr>
          <a:lstStyle/>
          <a:p>
            <a:pPr algn="ctr"/>
            <a:r>
              <a:rPr lang="zh-CN" sz="1350" b="1" dirty="0">
                <a:solidFill>
                  <a:srgbClr val="1A3A5C"/>
                </a:solidFill>
                <a:latin typeface="Segoe UI"/>
                <a:ea typeface="Microsoft YaHei"/>
                <a:cs typeface="Segoe UI"/>
              </a:rPr>
              <a:t>QLoRA微调流程 (并行优化路径)</a:t>
            </a:r>
          </a:p>
        </p:txBody>
      </p:sp>
      <p:sp>
        <p:nvSpPr>
          <p:cNvPr id="54" name="Rectangle 54"/>
          <p:cNvSpPr/>
          <p:nvPr/>
        </p:nvSpPr>
        <p:spPr>
          <a:xfrm>
            <a:off x="952500" y="5429250"/>
            <a:ext cx="1714500" cy="476250"/>
          </a:xfrm>
          <a:prstGeom prst="roundRect">
            <a:avLst>
              <a:gd name="adj" fmla="val 16000"/>
            </a:avLst>
          </a:prstGeom>
          <a:solidFill>
            <a:srgbClr val="FFFFFF"/>
          </a:solidFill>
          <a:ln>
            <a:noFill/>
          </a:ln>
        </p:spPr>
      </p:sp>
      <p:sp>
        <p:nvSpPr>
          <p:cNvPr id="55" name="TextBox 55"/>
          <p:cNvSpPr txBox="1"/>
          <p:nvPr/>
        </p:nvSpPr>
        <p:spPr>
          <a:xfrm>
            <a:off x="1236678" y="5601652"/>
            <a:ext cx="1146143" cy="213360"/>
          </a:xfrm>
          <a:prstGeom prst="rect">
            <a:avLst/>
          </a:prstGeom>
          <a:noFill/>
          <a:ln>
            <a:noFill/>
          </a:ln>
        </p:spPr>
        <p:txBody>
          <a:bodyPr wrap="none" lIns="0" tIns="0" rIns="0" bIns="0" anchor="t" anchorCtr="0">
            <a:spAutoFit/>
          </a:bodyPr>
          <a:lstStyle/>
          <a:p>
            <a:pPr algn="ctr"/>
            <a:r>
              <a:rPr lang="zh-CN" sz="1050" dirty="0">
                <a:solidFill>
                  <a:srgbClr val="1A3A5C"/>
                </a:solidFill>
                <a:latin typeface="Segoe UI"/>
                <a:ea typeface="Microsoft YaHei"/>
                <a:cs typeface="Segoe UI"/>
              </a:rPr>
              <a:t>劳动法QA数据集</a:t>
            </a:r>
          </a:p>
        </p:txBody>
      </p:sp>
      <p:sp>
        <p:nvSpPr>
          <p:cNvPr id="56" name="TextBox 56"/>
          <p:cNvSpPr txBox="1"/>
          <p:nvPr/>
        </p:nvSpPr>
        <p:spPr>
          <a:xfrm>
            <a:off x="2770275" y="5536882"/>
            <a:ext cx="174450" cy="335280"/>
          </a:xfrm>
          <a:prstGeom prst="rect">
            <a:avLst/>
          </a:prstGeom>
          <a:noFill/>
          <a:ln>
            <a:noFill/>
          </a:ln>
        </p:spPr>
        <p:txBody>
          <a:bodyPr wrap="none" lIns="0" tIns="0" rIns="0" bIns="0" anchor="t" anchorCtr="0">
            <a:spAutoFit/>
          </a:bodyPr>
          <a:lstStyle/>
          <a:p>
            <a:pPr algn="ctr"/>
            <a:r>
              <a:rPr lang="zh-CN" sz="1650" dirty="0">
                <a:solidFill>
                  <a:srgbClr val="2B7BD6"/>
                </a:solidFill>
                <a:latin typeface="Arial"/>
                <a:ea typeface="Microsoft YaHei"/>
                <a:cs typeface="Arial"/>
              </a:rPr>
              <a:t>→</a:t>
            </a:r>
          </a:p>
        </p:txBody>
      </p:sp>
      <p:sp>
        <p:nvSpPr>
          <p:cNvPr id="57" name="Rectangle 57"/>
          <p:cNvSpPr/>
          <p:nvPr/>
        </p:nvSpPr>
        <p:spPr>
          <a:xfrm>
            <a:off x="3143250" y="5429250"/>
            <a:ext cx="1714500" cy="476250"/>
          </a:xfrm>
          <a:prstGeom prst="roundRect">
            <a:avLst>
              <a:gd name="adj" fmla="val 16000"/>
            </a:avLst>
          </a:prstGeom>
          <a:solidFill>
            <a:srgbClr val="FFFFFF"/>
          </a:solidFill>
          <a:ln>
            <a:noFill/>
          </a:ln>
        </p:spPr>
      </p:sp>
      <p:sp>
        <p:nvSpPr>
          <p:cNvPr id="58" name="TextBox 58"/>
          <p:cNvSpPr txBox="1"/>
          <p:nvPr/>
        </p:nvSpPr>
        <p:spPr>
          <a:xfrm>
            <a:off x="3381423" y="5601652"/>
            <a:ext cx="1238155" cy="213360"/>
          </a:xfrm>
          <a:prstGeom prst="rect">
            <a:avLst/>
          </a:prstGeom>
          <a:noFill/>
          <a:ln>
            <a:noFill/>
          </a:ln>
        </p:spPr>
        <p:txBody>
          <a:bodyPr wrap="none" lIns="0" tIns="0" rIns="0" bIns="0" anchor="t" anchorCtr="0">
            <a:spAutoFit/>
          </a:bodyPr>
          <a:lstStyle/>
          <a:p>
            <a:pPr algn="ctr"/>
            <a:r>
              <a:rPr lang="zh-CN" sz="1050" dirty="0">
                <a:solidFill>
                  <a:srgbClr val="1A3A5C"/>
                </a:solidFill>
                <a:latin typeface="Segoe UI"/>
                <a:ea typeface="Microsoft YaHei"/>
                <a:cs typeface="Segoe UI"/>
              </a:rPr>
              <a:t>4bit NF4量化加载</a:t>
            </a:r>
          </a:p>
        </p:txBody>
      </p:sp>
      <p:sp>
        <p:nvSpPr>
          <p:cNvPr id="59" name="TextBox 59"/>
          <p:cNvSpPr txBox="1"/>
          <p:nvPr/>
        </p:nvSpPr>
        <p:spPr>
          <a:xfrm>
            <a:off x="4961025" y="5536882"/>
            <a:ext cx="174450" cy="335280"/>
          </a:xfrm>
          <a:prstGeom prst="rect">
            <a:avLst/>
          </a:prstGeom>
          <a:noFill/>
          <a:ln>
            <a:noFill/>
          </a:ln>
        </p:spPr>
        <p:txBody>
          <a:bodyPr wrap="none" lIns="0" tIns="0" rIns="0" bIns="0" anchor="t" anchorCtr="0">
            <a:spAutoFit/>
          </a:bodyPr>
          <a:lstStyle/>
          <a:p>
            <a:pPr algn="ctr"/>
            <a:r>
              <a:rPr lang="zh-CN" sz="1650" dirty="0">
                <a:solidFill>
                  <a:srgbClr val="2B7BD6"/>
                </a:solidFill>
                <a:latin typeface="Arial"/>
                <a:ea typeface="Microsoft YaHei"/>
                <a:cs typeface="Arial"/>
              </a:rPr>
              <a:t>→</a:t>
            </a:r>
          </a:p>
        </p:txBody>
      </p:sp>
      <p:sp>
        <p:nvSpPr>
          <p:cNvPr id="60" name="Rectangle 60"/>
          <p:cNvSpPr/>
          <p:nvPr/>
        </p:nvSpPr>
        <p:spPr>
          <a:xfrm>
            <a:off x="5334000" y="5429250"/>
            <a:ext cx="1714500" cy="476250"/>
          </a:xfrm>
          <a:prstGeom prst="roundRect">
            <a:avLst>
              <a:gd name="adj" fmla="val 16000"/>
            </a:avLst>
          </a:prstGeom>
          <a:solidFill>
            <a:srgbClr val="FFFFFF"/>
          </a:solidFill>
          <a:ln>
            <a:noFill/>
          </a:ln>
        </p:spPr>
      </p:sp>
      <p:sp>
        <p:nvSpPr>
          <p:cNvPr id="61" name="TextBox 61"/>
          <p:cNvSpPr txBox="1"/>
          <p:nvPr/>
        </p:nvSpPr>
        <p:spPr>
          <a:xfrm>
            <a:off x="5549170" y="5601652"/>
            <a:ext cx="1284161" cy="213360"/>
          </a:xfrm>
          <a:prstGeom prst="rect">
            <a:avLst/>
          </a:prstGeom>
          <a:noFill/>
          <a:ln>
            <a:noFill/>
          </a:ln>
        </p:spPr>
        <p:txBody>
          <a:bodyPr wrap="none" lIns="0" tIns="0" rIns="0" bIns="0" anchor="t" anchorCtr="0">
            <a:spAutoFit/>
          </a:bodyPr>
          <a:lstStyle/>
          <a:p>
            <a:pPr algn="ctr"/>
            <a:r>
              <a:rPr lang="zh-CN" sz="1050" dirty="0">
                <a:solidFill>
                  <a:srgbClr val="1A3A5C"/>
                </a:solidFill>
                <a:latin typeface="Segoe UI"/>
                <a:ea typeface="Microsoft YaHei"/>
                <a:cs typeface="Segoe UI"/>
              </a:rPr>
              <a:t>LoRA低秩适配训练</a:t>
            </a:r>
          </a:p>
        </p:txBody>
      </p:sp>
      <p:sp>
        <p:nvSpPr>
          <p:cNvPr id="62" name="TextBox 62"/>
          <p:cNvSpPr txBox="1"/>
          <p:nvPr/>
        </p:nvSpPr>
        <p:spPr>
          <a:xfrm>
            <a:off x="7151775" y="5536882"/>
            <a:ext cx="174450" cy="335280"/>
          </a:xfrm>
          <a:prstGeom prst="rect">
            <a:avLst/>
          </a:prstGeom>
          <a:noFill/>
          <a:ln>
            <a:noFill/>
          </a:ln>
        </p:spPr>
        <p:txBody>
          <a:bodyPr wrap="none" lIns="0" tIns="0" rIns="0" bIns="0" anchor="t" anchorCtr="0">
            <a:spAutoFit/>
          </a:bodyPr>
          <a:lstStyle/>
          <a:p>
            <a:pPr algn="ctr"/>
            <a:r>
              <a:rPr lang="zh-CN" sz="1650" dirty="0">
                <a:solidFill>
                  <a:srgbClr val="2B7BD6"/>
                </a:solidFill>
                <a:latin typeface="Arial"/>
                <a:ea typeface="Microsoft YaHei"/>
                <a:cs typeface="Arial"/>
              </a:rPr>
              <a:t>→</a:t>
            </a:r>
          </a:p>
        </p:txBody>
      </p:sp>
      <p:sp>
        <p:nvSpPr>
          <p:cNvPr id="63" name="Rectangle 63"/>
          <p:cNvSpPr/>
          <p:nvPr/>
        </p:nvSpPr>
        <p:spPr>
          <a:xfrm>
            <a:off x="7524750" y="5429250"/>
            <a:ext cx="1714500" cy="476250"/>
          </a:xfrm>
          <a:prstGeom prst="roundRect">
            <a:avLst>
              <a:gd name="adj" fmla="val 16000"/>
            </a:avLst>
          </a:prstGeom>
          <a:solidFill>
            <a:srgbClr val="FFFFFF"/>
          </a:solidFill>
          <a:ln>
            <a:noFill/>
          </a:ln>
        </p:spPr>
      </p:sp>
      <p:sp>
        <p:nvSpPr>
          <p:cNvPr id="64" name="TextBox 64"/>
          <p:cNvSpPr txBox="1"/>
          <p:nvPr/>
        </p:nvSpPr>
        <p:spPr>
          <a:xfrm>
            <a:off x="7728418" y="5601652"/>
            <a:ext cx="1307163" cy="213360"/>
          </a:xfrm>
          <a:prstGeom prst="rect">
            <a:avLst/>
          </a:prstGeom>
          <a:noFill/>
          <a:ln>
            <a:noFill/>
          </a:ln>
        </p:spPr>
        <p:txBody>
          <a:bodyPr wrap="none" lIns="0" tIns="0" rIns="0" bIns="0" anchor="t" anchorCtr="0">
            <a:spAutoFit/>
          </a:bodyPr>
          <a:lstStyle/>
          <a:p>
            <a:pPr algn="ctr"/>
            <a:r>
              <a:rPr lang="zh-CN" sz="1050" dirty="0">
                <a:solidFill>
                  <a:srgbClr val="1A3A5C"/>
                </a:solidFill>
                <a:latin typeface="Segoe UI"/>
                <a:ea typeface="Microsoft YaHei"/>
                <a:cs typeface="Segoe UI"/>
              </a:rPr>
              <a:t>保存LoRA Adapter</a:t>
            </a:r>
          </a:p>
        </p:txBody>
      </p:sp>
      <p:sp>
        <p:nvSpPr>
          <p:cNvPr id="65" name="TextBox 65"/>
          <p:cNvSpPr txBox="1"/>
          <p:nvPr/>
        </p:nvSpPr>
        <p:spPr>
          <a:xfrm>
            <a:off x="9342525" y="5536882"/>
            <a:ext cx="174450" cy="335280"/>
          </a:xfrm>
          <a:prstGeom prst="rect">
            <a:avLst/>
          </a:prstGeom>
          <a:noFill/>
          <a:ln>
            <a:noFill/>
          </a:ln>
        </p:spPr>
        <p:txBody>
          <a:bodyPr wrap="none" lIns="0" tIns="0" rIns="0" bIns="0" anchor="t" anchorCtr="0">
            <a:spAutoFit/>
          </a:bodyPr>
          <a:lstStyle/>
          <a:p>
            <a:pPr algn="ctr"/>
            <a:r>
              <a:rPr lang="zh-CN" sz="1650" dirty="0">
                <a:solidFill>
                  <a:srgbClr val="2B7BD6"/>
                </a:solidFill>
                <a:latin typeface="Arial"/>
                <a:ea typeface="Microsoft YaHei"/>
                <a:cs typeface="Arial"/>
              </a:rPr>
              <a:t>→</a:t>
            </a:r>
          </a:p>
        </p:txBody>
      </p:sp>
      <p:sp>
        <p:nvSpPr>
          <p:cNvPr id="66" name="Rectangle 66"/>
          <p:cNvSpPr/>
          <p:nvPr/>
        </p:nvSpPr>
        <p:spPr>
          <a:xfrm>
            <a:off x="9715500" y="5429250"/>
            <a:ext cx="1524000" cy="476250"/>
          </a:xfrm>
          <a:prstGeom prst="roundRect">
            <a:avLst>
              <a:gd name="adj" fmla="val 16000"/>
            </a:avLst>
          </a:prstGeom>
          <a:solidFill>
            <a:srgbClr val="FFFFFF"/>
          </a:solidFill>
          <a:ln>
            <a:noFill/>
          </a:ln>
        </p:spPr>
      </p:sp>
      <p:sp>
        <p:nvSpPr>
          <p:cNvPr id="67" name="TextBox 67"/>
          <p:cNvSpPr txBox="1"/>
          <p:nvPr/>
        </p:nvSpPr>
        <p:spPr>
          <a:xfrm>
            <a:off x="9981105" y="5601652"/>
            <a:ext cx="992791"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Segoe UI"/>
                <a:ea typeface="Microsoft YaHei"/>
                <a:cs typeface="Segoe UI"/>
              </a:rPr>
              <a:t>合并完整模型</a:t>
            </a:r>
          </a:p>
        </p:txBody>
      </p:sp>
      <p:sp>
        <p:nvSpPr>
          <p:cNvPr id="68" name="TextBox 68"/>
          <p:cNvSpPr txBox="1"/>
          <p:nvPr/>
        </p:nvSpPr>
        <p:spPr>
          <a:xfrm>
            <a:off x="3100364" y="6181249"/>
            <a:ext cx="5991273" cy="198120"/>
          </a:xfrm>
          <a:prstGeom prst="rect">
            <a:avLst/>
          </a:prstGeom>
          <a:noFill/>
          <a:ln>
            <a:noFill/>
          </a:ln>
        </p:spPr>
        <p:txBody>
          <a:bodyPr wrap="none" lIns="0" tIns="0" rIns="0" bIns="0" anchor="t" anchorCtr="0">
            <a:spAutoFit/>
          </a:bodyPr>
          <a:lstStyle/>
          <a:p>
            <a:pPr algn="ctr"/>
            <a:r>
              <a:rPr lang="zh-CN" sz="975" dirty="0">
                <a:solidFill>
                  <a:srgbClr val="888888"/>
                </a:solidFill>
                <a:latin typeface="Segoe UI"/>
                <a:ea typeface="Microsoft YaHei"/>
                <a:cs typeface="Segoe UI"/>
              </a:rPr>
              <a:t>微调参数: r=16, alpha=32, lr=2e-5, epochs=3, batch=2×4acc, 目标模块: q_proj + v_proj</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0"/>
          </a:xfrm>
          <a:prstGeom prst="rect">
            <a:avLst/>
          </a:prstGeom>
          <a:solidFill>
            <a:srgbClr val="1A3A5C"/>
          </a:solidFill>
          <a:ln>
            <a:noFill/>
          </a:ln>
        </p:spPr>
      </p:sp>
      <p:sp>
        <p:nvSpPr>
          <p:cNvPr id="4" name="TextBox 4"/>
          <p:cNvSpPr txBox="1"/>
          <p:nvPr/>
        </p:nvSpPr>
        <p:spPr>
          <a:xfrm>
            <a:off x="548640" y="300990"/>
            <a:ext cx="5055746"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三、系统设计与结果分析 — 系统架构设计</a:t>
            </a:r>
          </a:p>
        </p:txBody>
      </p:sp>
      <p:sp>
        <p:nvSpPr>
          <p:cNvPr id="5" name="TextBox 5"/>
          <p:cNvSpPr txBox="1"/>
          <p:nvPr/>
        </p:nvSpPr>
        <p:spPr>
          <a:xfrm>
            <a:off x="11508867" y="365760"/>
            <a:ext cx="126873" cy="243840"/>
          </a:xfrm>
          <a:prstGeom prst="rect">
            <a:avLst/>
          </a:prstGeom>
          <a:noFill/>
          <a:ln>
            <a:noFill/>
          </a:ln>
        </p:spPr>
        <p:txBody>
          <a:bodyPr wrap="none" lIns="0" tIns="0" rIns="0" bIns="0" anchor="t" anchorCtr="0">
            <a:spAutoFit/>
          </a:bodyPr>
          <a:lstStyle/>
          <a:p>
            <a:pPr algn="r"/>
            <a:r>
              <a:rPr lang="zh-CN" sz="1200" dirty="0">
                <a:solidFill>
                  <a:srgbClr val="99B3CC">
                    <a:alphaMod val="80000"/>
                  </a:srgbClr>
                </a:solidFill>
                <a:latin typeface="Arial"/>
                <a:ea typeface="Microsoft YaHei"/>
                <a:cs typeface="Arial"/>
              </a:rPr>
              <a:t>7</a:t>
            </a:r>
          </a:p>
        </p:txBody>
      </p:sp>
      <p:sp>
        <p:nvSpPr>
          <p:cNvPr id="6" name="Rectangle 6"/>
          <p:cNvSpPr/>
          <p:nvPr/>
        </p:nvSpPr>
        <p:spPr>
          <a:xfrm>
            <a:off x="952500" y="1047750"/>
            <a:ext cx="10287000" cy="762000"/>
          </a:xfrm>
          <a:prstGeom prst="roundRect">
            <a:avLst>
              <a:gd name="adj" fmla="val 10000"/>
            </a:avLst>
          </a:prstGeom>
          <a:solidFill>
            <a:srgbClr val="2B7BD6"/>
          </a:solidFill>
          <a:ln>
            <a:noFill/>
          </a:ln>
        </p:spPr>
      </p:sp>
      <p:sp>
        <p:nvSpPr>
          <p:cNvPr id="7" name="TextBox 7"/>
          <p:cNvSpPr txBox="1"/>
          <p:nvPr/>
        </p:nvSpPr>
        <p:spPr>
          <a:xfrm>
            <a:off x="1127760" y="1251585"/>
            <a:ext cx="582549"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Segoe UI"/>
                <a:ea typeface="Microsoft YaHei"/>
                <a:cs typeface="Segoe UI"/>
              </a:rPr>
              <a:t>展示层</a:t>
            </a:r>
          </a:p>
        </p:txBody>
      </p:sp>
      <p:sp>
        <p:nvSpPr>
          <p:cNvPr id="8" name="TextBox 8"/>
          <p:cNvSpPr txBox="1"/>
          <p:nvPr/>
        </p:nvSpPr>
        <p:spPr>
          <a:xfrm>
            <a:off x="1129665" y="1505902"/>
            <a:ext cx="6390799" cy="213360"/>
          </a:xfrm>
          <a:prstGeom prst="rect">
            <a:avLst/>
          </a:prstGeom>
          <a:noFill/>
          <a:ln>
            <a:noFill/>
          </a:ln>
        </p:spPr>
        <p:txBody>
          <a:bodyPr wrap="none" lIns="0" tIns="0" rIns="0" bIns="0" anchor="t" anchorCtr="0">
            <a:spAutoFit/>
          </a:bodyPr>
          <a:lstStyle/>
          <a:p>
            <a:pPr algn="l"/>
            <a:r>
              <a:rPr lang="zh-CN" sz="1050" dirty="0">
                <a:solidFill>
                  <a:srgbClr val="CCDDEE"/>
                </a:solidFill>
                <a:latin typeface="Segoe UI"/>
                <a:ea typeface="Microsoft YaHei"/>
                <a:cs typeface="Segoe UI"/>
              </a:rPr>
              <a:t>Gradio Web界面：多轮对话区 ｜ 检索来源可视化 ｜ 模型切换（基座/微调/API） ｜ 文档上传</a:t>
            </a:r>
          </a:p>
        </p:txBody>
      </p:sp>
      <p:sp>
        <p:nvSpPr>
          <p:cNvPr id="9" name="Rectangle 9"/>
          <p:cNvSpPr/>
          <p:nvPr/>
        </p:nvSpPr>
        <p:spPr>
          <a:xfrm>
            <a:off x="952500" y="1952625"/>
            <a:ext cx="10287000" cy="762000"/>
          </a:xfrm>
          <a:prstGeom prst="roundRect">
            <a:avLst>
              <a:gd name="adj" fmla="val 10000"/>
            </a:avLst>
          </a:prstGeom>
          <a:solidFill>
            <a:srgbClr val="1A3A5C"/>
          </a:solidFill>
          <a:ln>
            <a:noFill/>
          </a:ln>
        </p:spPr>
      </p:sp>
      <p:sp>
        <p:nvSpPr>
          <p:cNvPr id="10" name="TextBox 10"/>
          <p:cNvSpPr txBox="1"/>
          <p:nvPr/>
        </p:nvSpPr>
        <p:spPr>
          <a:xfrm>
            <a:off x="1127760" y="2156460"/>
            <a:ext cx="582549"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Segoe UI"/>
                <a:ea typeface="Microsoft YaHei"/>
                <a:cs typeface="Segoe UI"/>
              </a:rPr>
              <a:t>生成层</a:t>
            </a:r>
          </a:p>
        </p:txBody>
      </p:sp>
      <p:sp>
        <p:nvSpPr>
          <p:cNvPr id="11" name="TextBox 11"/>
          <p:cNvSpPr txBox="1"/>
          <p:nvPr/>
        </p:nvSpPr>
        <p:spPr>
          <a:xfrm>
            <a:off x="1129665" y="2410778"/>
            <a:ext cx="5823394" cy="213360"/>
          </a:xfrm>
          <a:prstGeom prst="rect">
            <a:avLst/>
          </a:prstGeom>
          <a:noFill/>
          <a:ln>
            <a:noFill/>
          </a:ln>
        </p:spPr>
        <p:txBody>
          <a:bodyPr wrap="none" lIns="0" tIns="0" rIns="0" bIns="0" anchor="t" anchorCtr="0">
            <a:spAutoFit/>
          </a:bodyPr>
          <a:lstStyle/>
          <a:p>
            <a:pPr algn="l"/>
            <a:r>
              <a:rPr lang="zh-CN" sz="1050" dirty="0">
                <a:solidFill>
                  <a:srgbClr val="CCDDEE"/>
                </a:solidFill>
                <a:latin typeface="Segoe UI"/>
                <a:ea typeface="Microsoft YaHei"/>
                <a:cs typeface="Segoe UI"/>
              </a:rPr>
              <a:t>基座模型 (DeepSeek-1.5B) ｜ LoRA微调模型 ｜ DeepSeek API (备选) ｜ 提示词构建</a:t>
            </a:r>
          </a:p>
        </p:txBody>
      </p:sp>
      <p:sp>
        <p:nvSpPr>
          <p:cNvPr id="12" name="Rectangle 12"/>
          <p:cNvSpPr/>
          <p:nvPr/>
        </p:nvSpPr>
        <p:spPr>
          <a:xfrm>
            <a:off x="952500" y="2857500"/>
            <a:ext cx="10287000" cy="857250"/>
          </a:xfrm>
          <a:prstGeom prst="roundRect">
            <a:avLst>
              <a:gd name="adj" fmla="val 8889"/>
            </a:avLst>
          </a:prstGeom>
          <a:solidFill>
            <a:srgbClr val="F0F4F8"/>
          </a:solidFill>
          <a:ln>
            <a:noFill/>
          </a:ln>
        </p:spPr>
      </p:sp>
      <p:sp>
        <p:nvSpPr>
          <p:cNvPr id="13" name="Rectangle 13"/>
          <p:cNvSpPr/>
          <p:nvPr/>
        </p:nvSpPr>
        <p:spPr>
          <a:xfrm>
            <a:off x="1143000" y="3000375"/>
            <a:ext cx="2952750" cy="523875"/>
          </a:xfrm>
          <a:prstGeom prst="roundRect">
            <a:avLst>
              <a:gd name="adj" fmla="val 10909"/>
            </a:avLst>
          </a:prstGeom>
          <a:solidFill>
            <a:srgbClr val="FFFFFF"/>
          </a:solidFill>
          <a:ln>
            <a:noFill/>
          </a:ln>
        </p:spPr>
      </p:sp>
      <p:sp>
        <p:nvSpPr>
          <p:cNvPr id="14" name="TextBox 14"/>
          <p:cNvSpPr txBox="1"/>
          <p:nvPr/>
        </p:nvSpPr>
        <p:spPr>
          <a:xfrm>
            <a:off x="2203490" y="3125152"/>
            <a:ext cx="831771" cy="213360"/>
          </a:xfrm>
          <a:prstGeom prst="rect">
            <a:avLst/>
          </a:prstGeom>
          <a:noFill/>
          <a:ln>
            <a:noFill/>
          </a:ln>
        </p:spPr>
        <p:txBody>
          <a:bodyPr wrap="none" lIns="0" tIns="0" rIns="0" bIns="0" anchor="t" anchorCtr="0">
            <a:spAutoFit/>
          </a:bodyPr>
          <a:lstStyle/>
          <a:p>
            <a:pPr algn="ctr"/>
            <a:r>
              <a:rPr lang="zh-CN" sz="1050" b="1" dirty="0">
                <a:solidFill>
                  <a:srgbClr val="1A3A5C"/>
                </a:solidFill>
                <a:latin typeface="Segoe UI"/>
                <a:ea typeface="Microsoft YaHei"/>
                <a:cs typeface="Segoe UI"/>
              </a:rPr>
              <a:t>关键词检索</a:t>
            </a:r>
          </a:p>
        </p:txBody>
      </p:sp>
      <p:sp>
        <p:nvSpPr>
          <p:cNvPr id="15" name="TextBox 15"/>
          <p:cNvSpPr txBox="1"/>
          <p:nvPr/>
        </p:nvSpPr>
        <p:spPr>
          <a:xfrm>
            <a:off x="1885950" y="3339941"/>
            <a:ext cx="1466850"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Segoe UI"/>
                <a:ea typeface="Microsoft YaHei"/>
                <a:cs typeface="Segoe UI"/>
              </a:rPr>
              <a:t>jieba分词 + BM25 → Top-10</a:t>
            </a:r>
          </a:p>
        </p:txBody>
      </p:sp>
      <p:sp>
        <p:nvSpPr>
          <p:cNvPr id="16" name="Rectangle 16"/>
          <p:cNvSpPr/>
          <p:nvPr/>
        </p:nvSpPr>
        <p:spPr>
          <a:xfrm>
            <a:off x="4381500" y="3000375"/>
            <a:ext cx="3429000" cy="523875"/>
          </a:xfrm>
          <a:prstGeom prst="roundRect">
            <a:avLst>
              <a:gd name="adj" fmla="val 10909"/>
            </a:avLst>
          </a:prstGeom>
          <a:solidFill>
            <a:srgbClr val="FFFFFF"/>
          </a:solidFill>
          <a:ln>
            <a:noFill/>
          </a:ln>
        </p:spPr>
      </p:sp>
      <p:sp>
        <p:nvSpPr>
          <p:cNvPr id="17" name="TextBox 17"/>
          <p:cNvSpPr txBox="1"/>
          <p:nvPr/>
        </p:nvSpPr>
        <p:spPr>
          <a:xfrm>
            <a:off x="5337947" y="3125152"/>
            <a:ext cx="1516106" cy="213360"/>
          </a:xfrm>
          <a:prstGeom prst="rect">
            <a:avLst/>
          </a:prstGeom>
          <a:noFill/>
          <a:ln>
            <a:noFill/>
          </a:ln>
        </p:spPr>
        <p:txBody>
          <a:bodyPr wrap="none" lIns="0" tIns="0" rIns="0" bIns="0" anchor="t" anchorCtr="0">
            <a:spAutoFit/>
          </a:bodyPr>
          <a:lstStyle/>
          <a:p>
            <a:pPr algn="ctr"/>
            <a:r>
              <a:rPr lang="zh-CN" sz="1050" b="1" dirty="0">
                <a:solidFill>
                  <a:srgbClr val="E53935"/>
                </a:solidFill>
                <a:latin typeface="Segoe UI"/>
                <a:ea typeface="Microsoft YaHei"/>
                <a:cs typeface="Segoe UI"/>
              </a:rPr>
              <a:t>RRF融合排序 (K=60)</a:t>
            </a:r>
          </a:p>
        </p:txBody>
      </p:sp>
      <p:sp>
        <p:nvSpPr>
          <p:cNvPr id="18" name="TextBox 18"/>
          <p:cNvSpPr txBox="1"/>
          <p:nvPr/>
        </p:nvSpPr>
        <p:spPr>
          <a:xfrm>
            <a:off x="4868561" y="3339941"/>
            <a:ext cx="2454878"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Segoe UI"/>
                <a:ea typeface="Microsoft YaHei"/>
                <a:cs typeface="Segoe UI"/>
              </a:rPr>
              <a:t>score = 1/(K+r_kw) + 1/(K+r_vec) → Top-3</a:t>
            </a:r>
          </a:p>
        </p:txBody>
      </p:sp>
      <p:sp>
        <p:nvSpPr>
          <p:cNvPr id="19" name="Rectangle 19"/>
          <p:cNvSpPr/>
          <p:nvPr/>
        </p:nvSpPr>
        <p:spPr>
          <a:xfrm>
            <a:off x="8096250" y="3000375"/>
            <a:ext cx="2952750" cy="523875"/>
          </a:xfrm>
          <a:prstGeom prst="roundRect">
            <a:avLst>
              <a:gd name="adj" fmla="val 10909"/>
            </a:avLst>
          </a:prstGeom>
          <a:solidFill>
            <a:srgbClr val="FFFFFF"/>
          </a:solidFill>
          <a:ln>
            <a:noFill/>
          </a:ln>
        </p:spPr>
      </p:sp>
      <p:sp>
        <p:nvSpPr>
          <p:cNvPr id="20" name="TextBox 20"/>
          <p:cNvSpPr txBox="1"/>
          <p:nvPr/>
        </p:nvSpPr>
        <p:spPr>
          <a:xfrm>
            <a:off x="9237250" y="3125152"/>
            <a:ext cx="670750" cy="213360"/>
          </a:xfrm>
          <a:prstGeom prst="rect">
            <a:avLst/>
          </a:prstGeom>
          <a:noFill/>
          <a:ln>
            <a:noFill/>
          </a:ln>
        </p:spPr>
        <p:txBody>
          <a:bodyPr wrap="none" lIns="0" tIns="0" rIns="0" bIns="0" anchor="t" anchorCtr="0">
            <a:spAutoFit/>
          </a:bodyPr>
          <a:lstStyle/>
          <a:p>
            <a:pPr algn="ctr"/>
            <a:r>
              <a:rPr lang="zh-CN" sz="1050" b="1" dirty="0">
                <a:solidFill>
                  <a:srgbClr val="1A3A5C"/>
                </a:solidFill>
                <a:latin typeface="Segoe UI"/>
                <a:ea typeface="Microsoft YaHei"/>
                <a:cs typeface="Segoe UI"/>
              </a:rPr>
              <a:t>向量检索</a:t>
            </a:r>
          </a:p>
        </p:txBody>
      </p:sp>
      <p:sp>
        <p:nvSpPr>
          <p:cNvPr id="21" name="TextBox 21"/>
          <p:cNvSpPr txBox="1"/>
          <p:nvPr/>
        </p:nvSpPr>
        <p:spPr>
          <a:xfrm>
            <a:off x="8742807" y="3339941"/>
            <a:ext cx="1659636"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Segoe UI"/>
                <a:ea typeface="Microsoft YaHei"/>
                <a:cs typeface="Segoe UI"/>
              </a:rPr>
              <a:t>BGE嵌入 + ChromaDB → Top-10</a:t>
            </a:r>
          </a:p>
        </p:txBody>
      </p:sp>
      <p:sp>
        <p:nvSpPr>
          <p:cNvPr id="22" name="Rectangle 22"/>
          <p:cNvSpPr/>
          <p:nvPr/>
        </p:nvSpPr>
        <p:spPr>
          <a:xfrm>
            <a:off x="952500" y="3857625"/>
            <a:ext cx="10287000" cy="762000"/>
          </a:xfrm>
          <a:prstGeom prst="roundRect">
            <a:avLst>
              <a:gd name="adj" fmla="val 10000"/>
            </a:avLst>
          </a:prstGeom>
          <a:solidFill>
            <a:srgbClr val="F0F4F8"/>
          </a:solidFill>
          <a:ln>
            <a:noFill/>
          </a:ln>
        </p:spPr>
      </p:sp>
      <p:sp>
        <p:nvSpPr>
          <p:cNvPr id="23" name="TextBox 23"/>
          <p:cNvSpPr txBox="1"/>
          <p:nvPr/>
        </p:nvSpPr>
        <p:spPr>
          <a:xfrm>
            <a:off x="1127760" y="4061460"/>
            <a:ext cx="582549"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Segoe UI"/>
                <a:ea typeface="Microsoft YaHei"/>
                <a:cs typeface="Segoe UI"/>
              </a:rPr>
              <a:t>数据层</a:t>
            </a:r>
          </a:p>
        </p:txBody>
      </p:sp>
      <p:sp>
        <p:nvSpPr>
          <p:cNvPr id="24" name="TextBox 24"/>
          <p:cNvSpPr txBox="1"/>
          <p:nvPr/>
        </p:nvSpPr>
        <p:spPr>
          <a:xfrm>
            <a:off x="1129665" y="4315778"/>
            <a:ext cx="8269367"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文档预处理 (TXT/PDF) → 文本分块 (512/128) → BGE向量化 → ChromaDB持久化存储 ｜ 微调数据: train.json + eval.json</a:t>
            </a:r>
          </a:p>
        </p:txBody>
      </p:sp>
      <p:sp>
        <p:nvSpPr>
          <p:cNvPr id="25" name="Line 25"/>
          <p:cNvSpPr/>
          <p:nvPr/>
        </p:nvSpPr>
        <p:spPr>
          <a:xfrm>
            <a:off x="6096000" y="1809750"/>
            <a:ext cx="9525" cy="142875"/>
          </a:xfrm>
          <a:custGeom>
            <a:avLst/>
            <a:gdLst/>
            <a:ahLst/>
            <a:cxnLst/>
            <a:rect l="l" t="t" r="r" b="b"/>
            <a:pathLst>
              <a:path w="9525" h="142875">
                <a:moveTo>
                  <a:pt x="0" y="0"/>
                </a:moveTo>
                <a:lnTo>
                  <a:pt x="0" y="142875"/>
                </a:lnTo>
              </a:path>
            </a:pathLst>
          </a:custGeom>
          <a:noFill/>
          <a:ln w="19050">
            <a:solidFill>
              <a:srgbClr val="D0D7DE"/>
            </a:solidFill>
            <a:custDash>
              <a:ds d="200000" sp="150000"/>
            </a:custDash>
          </a:ln>
        </p:spPr>
      </p:sp>
      <p:sp>
        <p:nvSpPr>
          <p:cNvPr id="26" name="Line 26"/>
          <p:cNvSpPr/>
          <p:nvPr/>
        </p:nvSpPr>
        <p:spPr>
          <a:xfrm>
            <a:off x="6096000" y="2714625"/>
            <a:ext cx="9525" cy="142875"/>
          </a:xfrm>
          <a:custGeom>
            <a:avLst/>
            <a:gdLst/>
            <a:ahLst/>
            <a:cxnLst/>
            <a:rect l="l" t="t" r="r" b="b"/>
            <a:pathLst>
              <a:path w="9525" h="142875">
                <a:moveTo>
                  <a:pt x="0" y="0"/>
                </a:moveTo>
                <a:lnTo>
                  <a:pt x="0" y="142875"/>
                </a:lnTo>
              </a:path>
            </a:pathLst>
          </a:custGeom>
          <a:noFill/>
          <a:ln w="19050">
            <a:solidFill>
              <a:srgbClr val="D0D7DE"/>
            </a:solidFill>
            <a:custDash>
              <a:ds d="200000" sp="150000"/>
            </a:custDash>
          </a:ln>
        </p:spPr>
      </p:sp>
      <p:sp>
        <p:nvSpPr>
          <p:cNvPr id="27" name="Line 27"/>
          <p:cNvSpPr/>
          <p:nvPr/>
        </p:nvSpPr>
        <p:spPr>
          <a:xfrm>
            <a:off x="6096000" y="3714750"/>
            <a:ext cx="9525" cy="142875"/>
          </a:xfrm>
          <a:custGeom>
            <a:avLst/>
            <a:gdLst/>
            <a:ahLst/>
            <a:cxnLst/>
            <a:rect l="l" t="t" r="r" b="b"/>
            <a:pathLst>
              <a:path w="9525" h="142875">
                <a:moveTo>
                  <a:pt x="0" y="0"/>
                </a:moveTo>
                <a:lnTo>
                  <a:pt x="0" y="142875"/>
                </a:lnTo>
              </a:path>
            </a:pathLst>
          </a:custGeom>
          <a:noFill/>
          <a:ln w="19050">
            <a:solidFill>
              <a:srgbClr val="D0D7DE"/>
            </a:solidFill>
            <a:custDash>
              <a:ds d="200000" sp="150000"/>
            </a:custDash>
          </a:ln>
        </p:spPr>
      </p:sp>
      <p:sp>
        <p:nvSpPr>
          <p:cNvPr id="28" name="Rectangle 28"/>
          <p:cNvSpPr/>
          <p:nvPr/>
        </p:nvSpPr>
        <p:spPr>
          <a:xfrm>
            <a:off x="952500" y="4857750"/>
            <a:ext cx="10287000" cy="666750"/>
          </a:xfrm>
          <a:prstGeom prst="roundRect">
            <a:avLst>
              <a:gd name="adj" fmla="val 11429"/>
            </a:avLst>
          </a:prstGeom>
          <a:solidFill>
            <a:srgbClr val="FFFFFF"/>
          </a:solidFill>
          <a:ln>
            <a:noFill/>
          </a:ln>
        </p:spPr>
      </p:sp>
      <p:sp>
        <p:nvSpPr>
          <p:cNvPr id="29" name="TextBox 29"/>
          <p:cNvSpPr txBox="1"/>
          <p:nvPr/>
        </p:nvSpPr>
        <p:spPr>
          <a:xfrm>
            <a:off x="1127760" y="5013960"/>
            <a:ext cx="2404377"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Segoe UI"/>
                <a:ea typeface="Microsoft YaHei"/>
                <a:cs typeface="Segoe UI"/>
              </a:rPr>
              <a:t>管道编排 (rag_pipeline.py)</a:t>
            </a:r>
          </a:p>
        </p:txBody>
      </p:sp>
      <p:sp>
        <p:nvSpPr>
          <p:cNvPr id="30" name="TextBox 30"/>
          <p:cNvSpPr txBox="1"/>
          <p:nvPr/>
        </p:nvSpPr>
        <p:spPr>
          <a:xfrm>
            <a:off x="1129665" y="5268278"/>
            <a:ext cx="5524357"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接收问题 → 调用混合检索 → 构建提示词 → 调用生成模型 → 返回{答案 + 检索来源}</a:t>
            </a:r>
          </a:p>
        </p:txBody>
      </p:sp>
      <p:sp>
        <p:nvSpPr>
          <p:cNvPr id="31" name="Rectangle 31"/>
          <p:cNvSpPr/>
          <p:nvPr/>
        </p:nvSpPr>
        <p:spPr>
          <a:xfrm>
            <a:off x="952500" y="5715000"/>
            <a:ext cx="1905000" cy="523875"/>
          </a:xfrm>
          <a:prstGeom prst="roundRect">
            <a:avLst>
              <a:gd name="adj" fmla="val 14545"/>
            </a:avLst>
          </a:prstGeom>
          <a:solidFill>
            <a:srgbClr val="1A3A5C"/>
          </a:solidFill>
          <a:ln>
            <a:noFill/>
          </a:ln>
        </p:spPr>
      </p:sp>
      <p:sp>
        <p:nvSpPr>
          <p:cNvPr id="32" name="TextBox 32"/>
          <p:cNvSpPr txBox="1"/>
          <p:nvPr/>
        </p:nvSpPr>
        <p:spPr>
          <a:xfrm>
            <a:off x="1518821" y="5847874"/>
            <a:ext cx="772358"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知识库模块</a:t>
            </a:r>
          </a:p>
        </p:txBody>
      </p:sp>
      <p:sp>
        <p:nvSpPr>
          <p:cNvPr id="33" name="TextBox 33"/>
          <p:cNvSpPr txBox="1"/>
          <p:nvPr/>
        </p:nvSpPr>
        <p:spPr>
          <a:xfrm>
            <a:off x="1421725" y="6062662"/>
            <a:ext cx="966549" cy="152400"/>
          </a:xfrm>
          <a:prstGeom prst="rect">
            <a:avLst/>
          </a:prstGeom>
          <a:noFill/>
          <a:ln>
            <a:noFill/>
          </a:ln>
        </p:spPr>
        <p:txBody>
          <a:bodyPr wrap="none" lIns="0" tIns="0" rIns="0" bIns="0" anchor="t" anchorCtr="0">
            <a:spAutoFit/>
          </a:bodyPr>
          <a:lstStyle/>
          <a:p>
            <a:pPr algn="ctr"/>
            <a:r>
              <a:rPr lang="zh-CN" sz="750" dirty="0">
                <a:solidFill>
                  <a:srgbClr val="CCDDEE"/>
                </a:solidFill>
                <a:latin typeface="Segoe UI"/>
                <a:ea typeface="Microsoft YaHei"/>
                <a:cs typeface="Segoe UI"/>
              </a:rPr>
              <a:t>build_kb / load_kb</a:t>
            </a:r>
          </a:p>
        </p:txBody>
      </p:sp>
      <p:sp>
        <p:nvSpPr>
          <p:cNvPr id="34" name="Rectangle 34"/>
          <p:cNvSpPr/>
          <p:nvPr/>
        </p:nvSpPr>
        <p:spPr>
          <a:xfrm>
            <a:off x="3048000" y="5715000"/>
            <a:ext cx="1905000" cy="523875"/>
          </a:xfrm>
          <a:prstGeom prst="roundRect">
            <a:avLst>
              <a:gd name="adj" fmla="val 14545"/>
            </a:avLst>
          </a:prstGeom>
          <a:solidFill>
            <a:srgbClr val="1A3A5C"/>
          </a:solidFill>
          <a:ln>
            <a:noFill/>
          </a:ln>
        </p:spPr>
      </p:sp>
      <p:sp>
        <p:nvSpPr>
          <p:cNvPr id="35" name="TextBox 35"/>
          <p:cNvSpPr txBox="1"/>
          <p:nvPr/>
        </p:nvSpPr>
        <p:spPr>
          <a:xfrm>
            <a:off x="3689080" y="5847874"/>
            <a:ext cx="62284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检索模块</a:t>
            </a:r>
          </a:p>
        </p:txBody>
      </p:sp>
      <p:sp>
        <p:nvSpPr>
          <p:cNvPr id="36" name="TextBox 36"/>
          <p:cNvSpPr txBox="1"/>
          <p:nvPr/>
        </p:nvSpPr>
        <p:spPr>
          <a:xfrm>
            <a:off x="3295412" y="6062662"/>
            <a:ext cx="1410176" cy="152400"/>
          </a:xfrm>
          <a:prstGeom prst="rect">
            <a:avLst/>
          </a:prstGeom>
          <a:noFill/>
          <a:ln>
            <a:noFill/>
          </a:ln>
        </p:spPr>
        <p:txBody>
          <a:bodyPr wrap="none" lIns="0" tIns="0" rIns="0" bIns="0" anchor="t" anchorCtr="0">
            <a:spAutoFit/>
          </a:bodyPr>
          <a:lstStyle/>
          <a:p>
            <a:pPr algn="ctr"/>
            <a:r>
              <a:rPr lang="zh-CN" sz="750" dirty="0">
                <a:solidFill>
                  <a:srgbClr val="CCDDEE"/>
                </a:solidFill>
                <a:latin typeface="Segoe UI"/>
                <a:ea typeface="Microsoft YaHei"/>
                <a:cs typeface="Segoe UI"/>
              </a:rPr>
              <a:t>keyword / vector / hybrid</a:t>
            </a:r>
          </a:p>
        </p:txBody>
      </p:sp>
      <p:sp>
        <p:nvSpPr>
          <p:cNvPr id="37" name="Rectangle 37"/>
          <p:cNvSpPr/>
          <p:nvPr/>
        </p:nvSpPr>
        <p:spPr>
          <a:xfrm>
            <a:off x="5143500" y="5715000"/>
            <a:ext cx="1905000" cy="523875"/>
          </a:xfrm>
          <a:prstGeom prst="roundRect">
            <a:avLst>
              <a:gd name="adj" fmla="val 14545"/>
            </a:avLst>
          </a:prstGeom>
          <a:solidFill>
            <a:srgbClr val="1A3A5C"/>
          </a:solidFill>
          <a:ln>
            <a:noFill/>
          </a:ln>
        </p:spPr>
      </p:sp>
      <p:sp>
        <p:nvSpPr>
          <p:cNvPr id="38" name="TextBox 38"/>
          <p:cNvSpPr txBox="1"/>
          <p:nvPr/>
        </p:nvSpPr>
        <p:spPr>
          <a:xfrm>
            <a:off x="5784580" y="5847874"/>
            <a:ext cx="62284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生成模块</a:t>
            </a:r>
          </a:p>
        </p:txBody>
      </p:sp>
      <p:sp>
        <p:nvSpPr>
          <p:cNvPr id="39" name="TextBox 39"/>
          <p:cNvSpPr txBox="1"/>
          <p:nvPr/>
        </p:nvSpPr>
        <p:spPr>
          <a:xfrm>
            <a:off x="5505926" y="6062662"/>
            <a:ext cx="1180148" cy="152400"/>
          </a:xfrm>
          <a:prstGeom prst="rect">
            <a:avLst/>
          </a:prstGeom>
          <a:noFill/>
          <a:ln>
            <a:noFill/>
          </a:ln>
        </p:spPr>
        <p:txBody>
          <a:bodyPr wrap="none" lIns="0" tIns="0" rIns="0" bIns="0" anchor="t" anchorCtr="0">
            <a:spAutoFit/>
          </a:bodyPr>
          <a:lstStyle/>
          <a:p>
            <a:pPr algn="ctr"/>
            <a:r>
              <a:rPr lang="zh-CN" sz="750" dirty="0">
                <a:solidFill>
                  <a:srgbClr val="CCDDEE"/>
                </a:solidFill>
                <a:latin typeface="Segoe UI"/>
                <a:ea typeface="Microsoft YaHei"/>
                <a:cs typeface="Segoe UI"/>
              </a:rPr>
              <a:t>base / finetuned / api</a:t>
            </a:r>
          </a:p>
        </p:txBody>
      </p:sp>
      <p:sp>
        <p:nvSpPr>
          <p:cNvPr id="40" name="Rectangle 40"/>
          <p:cNvSpPr/>
          <p:nvPr/>
        </p:nvSpPr>
        <p:spPr>
          <a:xfrm>
            <a:off x="7239000" y="5715000"/>
            <a:ext cx="1905000" cy="523875"/>
          </a:xfrm>
          <a:prstGeom prst="roundRect">
            <a:avLst>
              <a:gd name="adj" fmla="val 14545"/>
            </a:avLst>
          </a:prstGeom>
          <a:solidFill>
            <a:srgbClr val="1A3A5C"/>
          </a:solidFill>
          <a:ln>
            <a:noFill/>
          </a:ln>
        </p:spPr>
      </p:sp>
      <p:sp>
        <p:nvSpPr>
          <p:cNvPr id="41" name="TextBox 41"/>
          <p:cNvSpPr txBox="1"/>
          <p:nvPr/>
        </p:nvSpPr>
        <p:spPr>
          <a:xfrm>
            <a:off x="7880080" y="5847874"/>
            <a:ext cx="62284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评估模块</a:t>
            </a:r>
          </a:p>
        </p:txBody>
      </p:sp>
      <p:sp>
        <p:nvSpPr>
          <p:cNvPr id="42" name="TextBox 42"/>
          <p:cNvSpPr txBox="1"/>
          <p:nvPr/>
        </p:nvSpPr>
        <p:spPr>
          <a:xfrm>
            <a:off x="7563088" y="6062662"/>
            <a:ext cx="1256824" cy="152400"/>
          </a:xfrm>
          <a:prstGeom prst="rect">
            <a:avLst/>
          </a:prstGeom>
          <a:noFill/>
          <a:ln>
            <a:noFill/>
          </a:ln>
        </p:spPr>
        <p:txBody>
          <a:bodyPr wrap="none" lIns="0" tIns="0" rIns="0" bIns="0" anchor="t" anchorCtr="0">
            <a:spAutoFit/>
          </a:bodyPr>
          <a:lstStyle/>
          <a:p>
            <a:pPr algn="ctr"/>
            <a:r>
              <a:rPr lang="zh-CN" sz="750" dirty="0">
                <a:solidFill>
                  <a:srgbClr val="CCDDEE"/>
                </a:solidFill>
                <a:latin typeface="Segoe UI"/>
                <a:ea typeface="Microsoft YaHei"/>
                <a:cs typeface="Segoe UI"/>
              </a:rPr>
              <a:t>auto_eval / human_eval</a:t>
            </a:r>
          </a:p>
        </p:txBody>
      </p:sp>
      <p:sp>
        <p:nvSpPr>
          <p:cNvPr id="43" name="Rectangle 43"/>
          <p:cNvSpPr/>
          <p:nvPr/>
        </p:nvSpPr>
        <p:spPr>
          <a:xfrm>
            <a:off x="9334500" y="5715000"/>
            <a:ext cx="1905000" cy="523875"/>
          </a:xfrm>
          <a:prstGeom prst="roundRect">
            <a:avLst>
              <a:gd name="adj" fmla="val 14545"/>
            </a:avLst>
          </a:prstGeom>
          <a:solidFill>
            <a:srgbClr val="1A3A5C"/>
          </a:solidFill>
          <a:ln>
            <a:noFill/>
          </a:ln>
        </p:spPr>
      </p:sp>
      <p:sp>
        <p:nvSpPr>
          <p:cNvPr id="44" name="TextBox 44"/>
          <p:cNvSpPr txBox="1"/>
          <p:nvPr/>
        </p:nvSpPr>
        <p:spPr>
          <a:xfrm>
            <a:off x="10061553" y="5847874"/>
            <a:ext cx="45089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UI模块</a:t>
            </a:r>
          </a:p>
        </p:txBody>
      </p:sp>
      <p:sp>
        <p:nvSpPr>
          <p:cNvPr id="45" name="TextBox 45"/>
          <p:cNvSpPr txBox="1"/>
          <p:nvPr/>
        </p:nvSpPr>
        <p:spPr>
          <a:xfrm>
            <a:off x="9989939" y="6062662"/>
            <a:ext cx="594122" cy="152400"/>
          </a:xfrm>
          <a:prstGeom prst="rect">
            <a:avLst/>
          </a:prstGeom>
          <a:noFill/>
          <a:ln>
            <a:noFill/>
          </a:ln>
        </p:spPr>
        <p:txBody>
          <a:bodyPr wrap="none" lIns="0" tIns="0" rIns="0" bIns="0" anchor="t" anchorCtr="0">
            <a:spAutoFit/>
          </a:bodyPr>
          <a:lstStyle/>
          <a:p>
            <a:pPr algn="ctr"/>
            <a:r>
              <a:rPr lang="zh-CN" sz="750" dirty="0">
                <a:solidFill>
                  <a:srgbClr val="CCDDEE"/>
                </a:solidFill>
                <a:latin typeface="Segoe UI"/>
                <a:ea typeface="Microsoft YaHei"/>
                <a:cs typeface="Segoe UI"/>
              </a:rPr>
              <a:t>gradio_app</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0"/>
          </a:xfrm>
          <a:prstGeom prst="rect">
            <a:avLst/>
          </a:prstGeom>
          <a:solidFill>
            <a:srgbClr val="1A3A5C"/>
          </a:solidFill>
          <a:ln>
            <a:noFill/>
          </a:ln>
        </p:spPr>
      </p:sp>
      <p:sp>
        <p:nvSpPr>
          <p:cNvPr id="4" name="TextBox 4"/>
          <p:cNvSpPr txBox="1"/>
          <p:nvPr/>
        </p:nvSpPr>
        <p:spPr>
          <a:xfrm>
            <a:off x="548640" y="300990"/>
            <a:ext cx="4503677"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三、系统设计与结果分析 — 系统演示</a:t>
            </a:r>
          </a:p>
        </p:txBody>
      </p:sp>
      <p:sp>
        <p:nvSpPr>
          <p:cNvPr id="5" name="TextBox 5"/>
          <p:cNvSpPr txBox="1"/>
          <p:nvPr/>
        </p:nvSpPr>
        <p:spPr>
          <a:xfrm>
            <a:off x="11508867" y="365760"/>
            <a:ext cx="126873" cy="243840"/>
          </a:xfrm>
          <a:prstGeom prst="rect">
            <a:avLst/>
          </a:prstGeom>
          <a:noFill/>
          <a:ln>
            <a:noFill/>
          </a:ln>
        </p:spPr>
        <p:txBody>
          <a:bodyPr wrap="none" lIns="0" tIns="0" rIns="0" bIns="0" anchor="t" anchorCtr="0">
            <a:spAutoFit/>
          </a:bodyPr>
          <a:lstStyle/>
          <a:p>
            <a:pPr algn="r"/>
            <a:r>
              <a:rPr lang="zh-CN" sz="1200" dirty="0">
                <a:solidFill>
                  <a:srgbClr val="99B3CC">
                    <a:alphaMod val="80000"/>
                  </a:srgbClr>
                </a:solidFill>
                <a:latin typeface="Arial"/>
                <a:ea typeface="Microsoft YaHei"/>
                <a:cs typeface="Arial"/>
              </a:rPr>
              <a:t>8</a:t>
            </a:r>
          </a:p>
        </p:txBody>
      </p:sp>
      <p:sp>
        <p:nvSpPr>
          <p:cNvPr id="6" name="Rectangle 6"/>
          <p:cNvSpPr/>
          <p:nvPr/>
        </p:nvSpPr>
        <p:spPr>
          <a:xfrm>
            <a:off x="381000" y="1047750"/>
            <a:ext cx="5334000" cy="1333500"/>
          </a:xfrm>
          <a:prstGeom prst="roundRect">
            <a:avLst>
              <a:gd name="adj" fmla="val 7143"/>
            </a:avLst>
          </a:prstGeom>
          <a:solidFill>
            <a:srgbClr val="F0F4F8"/>
          </a:solidFill>
          <a:ln>
            <a:noFill/>
          </a:ln>
        </p:spPr>
      </p:sp>
      <p:sp>
        <p:nvSpPr>
          <p:cNvPr id="7" name="Rectangle 7"/>
          <p:cNvSpPr/>
          <p:nvPr/>
        </p:nvSpPr>
        <p:spPr>
          <a:xfrm>
            <a:off x="381000" y="1047750"/>
            <a:ext cx="76200" cy="1333500"/>
          </a:xfrm>
          <a:prstGeom prst="roundRect">
            <a:avLst>
              <a:gd name="adj" fmla="val 50000"/>
            </a:avLst>
          </a:prstGeom>
          <a:solidFill>
            <a:srgbClr val="1A3A5C"/>
          </a:solidFill>
          <a:ln>
            <a:noFill/>
          </a:ln>
        </p:spPr>
      </p:sp>
      <p:sp>
        <p:nvSpPr>
          <p:cNvPr id="8" name="TextBox 8"/>
          <p:cNvSpPr txBox="1"/>
          <p:nvPr/>
        </p:nvSpPr>
        <p:spPr>
          <a:xfrm>
            <a:off x="601980" y="1235392"/>
            <a:ext cx="862393"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a:ea typeface="Microsoft YaHei"/>
                <a:cs typeface="Segoe UI"/>
              </a:rPr>
              <a:t>启动方式</a:t>
            </a:r>
          </a:p>
        </p:txBody>
      </p:sp>
      <p:sp>
        <p:nvSpPr>
          <p:cNvPr id="9" name="TextBox 9"/>
          <p:cNvSpPr txBox="1"/>
          <p:nvPr/>
        </p:nvSpPr>
        <p:spPr>
          <a:xfrm>
            <a:off x="605790" y="1601152"/>
            <a:ext cx="2211943"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Consolas"/>
                <a:ea typeface="Microsoft YaHei"/>
                <a:cs typeface="Consolas"/>
              </a:rPr>
              <a:t>python run.py # 默认基座+RAG</a:t>
            </a:r>
          </a:p>
        </p:txBody>
      </p:sp>
      <p:sp>
        <p:nvSpPr>
          <p:cNvPr id="10" name="TextBox 10"/>
          <p:cNvSpPr txBox="1"/>
          <p:nvPr/>
        </p:nvSpPr>
        <p:spPr>
          <a:xfrm>
            <a:off x="605790" y="1839278"/>
            <a:ext cx="3270075"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Consolas"/>
                <a:ea typeface="Microsoft YaHei"/>
                <a:cs typeface="Consolas"/>
              </a:rPr>
              <a:t>python run.py --model finetuned # 微调模型</a:t>
            </a:r>
          </a:p>
        </p:txBody>
      </p:sp>
      <p:sp>
        <p:nvSpPr>
          <p:cNvPr id="11" name="TextBox 11"/>
          <p:cNvSpPr txBox="1"/>
          <p:nvPr/>
        </p:nvSpPr>
        <p:spPr>
          <a:xfrm>
            <a:off x="605790" y="2077402"/>
            <a:ext cx="2840688"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Consolas"/>
                <a:ea typeface="Microsoft YaHei"/>
                <a:cs typeface="Consolas"/>
              </a:rPr>
              <a:t>python run.py --build-kb # 构建知识库</a:t>
            </a:r>
          </a:p>
        </p:txBody>
      </p:sp>
      <p:sp>
        <p:nvSpPr>
          <p:cNvPr id="12" name="Rectangle 12"/>
          <p:cNvSpPr/>
          <p:nvPr/>
        </p:nvSpPr>
        <p:spPr>
          <a:xfrm>
            <a:off x="6096000" y="1047750"/>
            <a:ext cx="5715000" cy="1333500"/>
          </a:xfrm>
          <a:prstGeom prst="roundRect">
            <a:avLst>
              <a:gd name="adj" fmla="val 7143"/>
            </a:avLst>
          </a:prstGeom>
          <a:solidFill>
            <a:srgbClr val="F0F4F8"/>
          </a:solidFill>
          <a:ln>
            <a:noFill/>
          </a:ln>
        </p:spPr>
      </p:sp>
      <p:sp>
        <p:nvSpPr>
          <p:cNvPr id="13" name="Rectangle 13"/>
          <p:cNvSpPr/>
          <p:nvPr/>
        </p:nvSpPr>
        <p:spPr>
          <a:xfrm>
            <a:off x="6096000" y="1047750"/>
            <a:ext cx="76200" cy="1333500"/>
          </a:xfrm>
          <a:prstGeom prst="roundRect">
            <a:avLst>
              <a:gd name="adj" fmla="val 50000"/>
            </a:avLst>
          </a:prstGeom>
          <a:solidFill>
            <a:srgbClr val="2B7BD6"/>
          </a:solidFill>
          <a:ln>
            <a:noFill/>
          </a:ln>
        </p:spPr>
      </p:sp>
      <p:sp>
        <p:nvSpPr>
          <p:cNvPr id="14" name="TextBox 14"/>
          <p:cNvSpPr txBox="1"/>
          <p:nvPr/>
        </p:nvSpPr>
        <p:spPr>
          <a:xfrm>
            <a:off x="6316980" y="1235392"/>
            <a:ext cx="862393"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a:ea typeface="Microsoft YaHei"/>
                <a:cs typeface="Segoe UI"/>
              </a:rPr>
              <a:t>界面功能</a:t>
            </a:r>
          </a:p>
        </p:txBody>
      </p:sp>
      <p:sp>
        <p:nvSpPr>
          <p:cNvPr id="15" name="TextBox 15"/>
          <p:cNvSpPr txBox="1"/>
          <p:nvPr/>
        </p:nvSpPr>
        <p:spPr>
          <a:xfrm>
            <a:off x="6320790" y="1601152"/>
            <a:ext cx="3254740"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 多轮对话区 (Chatbot) — Markdown渲染支持</a:t>
            </a:r>
          </a:p>
        </p:txBody>
      </p:sp>
      <p:sp>
        <p:nvSpPr>
          <p:cNvPr id="16" name="TextBox 16"/>
          <p:cNvSpPr txBox="1"/>
          <p:nvPr/>
        </p:nvSpPr>
        <p:spPr>
          <a:xfrm>
            <a:off x="6320790" y="1839278"/>
            <a:ext cx="2940368"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 检索来源面板 — 实时展示引用的文档片段</a:t>
            </a:r>
          </a:p>
        </p:txBody>
      </p:sp>
      <p:sp>
        <p:nvSpPr>
          <p:cNvPr id="17" name="TextBox 17"/>
          <p:cNvSpPr txBox="1"/>
          <p:nvPr/>
        </p:nvSpPr>
        <p:spPr>
          <a:xfrm>
            <a:off x="6320790" y="2077402"/>
            <a:ext cx="2633662"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 模型切换 — 基座 / 微调 / API 三选一</a:t>
            </a:r>
          </a:p>
        </p:txBody>
      </p:sp>
      <p:sp>
        <p:nvSpPr>
          <p:cNvPr id="18" name="Rectangle 18"/>
          <p:cNvSpPr/>
          <p:nvPr/>
        </p:nvSpPr>
        <p:spPr>
          <a:xfrm>
            <a:off x="381000" y="2619375"/>
            <a:ext cx="11430000" cy="3714750"/>
          </a:xfrm>
          <a:prstGeom prst="roundRect">
            <a:avLst>
              <a:gd name="adj" fmla="val 2564"/>
            </a:avLst>
          </a:prstGeom>
          <a:solidFill>
            <a:srgbClr val="F0F4F8"/>
          </a:solidFill>
          <a:ln>
            <a:noFill/>
          </a:ln>
        </p:spPr>
      </p:sp>
      <p:sp>
        <p:nvSpPr>
          <p:cNvPr id="19" name="TextBox 19"/>
          <p:cNvSpPr txBox="1"/>
          <p:nvPr/>
        </p:nvSpPr>
        <p:spPr>
          <a:xfrm>
            <a:off x="649605" y="2854642"/>
            <a:ext cx="862393" cy="274320"/>
          </a:xfrm>
          <a:prstGeom prst="rect">
            <a:avLst/>
          </a:prstGeom>
          <a:noFill/>
          <a:ln>
            <a:noFill/>
          </a:ln>
        </p:spPr>
        <p:txBody>
          <a:bodyPr wrap="none" lIns="0" tIns="0" rIns="0" bIns="0" anchor="t" anchorCtr="0">
            <a:spAutoFit/>
          </a:bodyPr>
          <a:lstStyle/>
          <a:p>
            <a:pPr algn="l"/>
            <a:r>
              <a:rPr lang="zh-CN" sz="1350" b="1" dirty="0">
                <a:solidFill>
                  <a:srgbClr val="2B7BD6"/>
                </a:solidFill>
                <a:latin typeface="Segoe UI"/>
                <a:ea typeface="Microsoft YaHei"/>
                <a:cs typeface="Segoe UI"/>
              </a:rPr>
              <a:t>测试示例</a:t>
            </a:r>
          </a:p>
        </p:txBody>
      </p:sp>
      <p:sp>
        <p:nvSpPr>
          <p:cNvPr id="20" name="Rectangle 20"/>
          <p:cNvSpPr/>
          <p:nvPr/>
        </p:nvSpPr>
        <p:spPr>
          <a:xfrm>
            <a:off x="666750" y="3238500"/>
            <a:ext cx="10858500" cy="523875"/>
          </a:xfrm>
          <a:prstGeom prst="roundRect">
            <a:avLst>
              <a:gd name="adj" fmla="val 14545"/>
            </a:avLst>
          </a:prstGeom>
          <a:solidFill>
            <a:srgbClr val="FFFFFF"/>
          </a:solidFill>
          <a:ln>
            <a:noFill/>
          </a:ln>
        </p:spPr>
      </p:sp>
      <p:sp>
        <p:nvSpPr>
          <p:cNvPr id="21" name="Ellipse 21"/>
          <p:cNvSpPr/>
          <p:nvPr/>
        </p:nvSpPr>
        <p:spPr>
          <a:xfrm>
            <a:off x="790575" y="3381375"/>
            <a:ext cx="228600" cy="228600"/>
          </a:xfrm>
          <a:prstGeom prst="ellipse">
            <a:avLst/>
          </a:prstGeom>
          <a:solidFill>
            <a:srgbClr val="2B7BD6"/>
          </a:solidFill>
          <a:ln>
            <a:noFill/>
          </a:ln>
        </p:spPr>
      </p:sp>
      <p:sp>
        <p:nvSpPr>
          <p:cNvPr id="22" name="TextBox 22"/>
          <p:cNvSpPr txBox="1"/>
          <p:nvPr/>
        </p:nvSpPr>
        <p:spPr>
          <a:xfrm>
            <a:off x="841689" y="3446145"/>
            <a:ext cx="12637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Q</a:t>
            </a:r>
          </a:p>
        </p:txBody>
      </p:sp>
      <p:sp>
        <p:nvSpPr>
          <p:cNvPr id="23" name="TextBox 23"/>
          <p:cNvSpPr txBox="1"/>
          <p:nvPr/>
        </p:nvSpPr>
        <p:spPr>
          <a:xfrm>
            <a:off x="1127760" y="3423285"/>
            <a:ext cx="1318641" cy="243840"/>
          </a:xfrm>
          <a:prstGeom prst="rect">
            <a:avLst/>
          </a:prstGeom>
          <a:noFill/>
          <a:ln>
            <a:noFill/>
          </a:ln>
        </p:spPr>
        <p:txBody>
          <a:bodyPr wrap="none" lIns="0" tIns="0" rIns="0" bIns="0" anchor="t" anchorCtr="0">
            <a:spAutoFit/>
          </a:bodyPr>
          <a:lstStyle/>
          <a:p>
            <a:pPr algn="l"/>
            <a:r>
              <a:rPr lang="zh-CN" sz="1200" b="1" dirty="0">
                <a:solidFill>
                  <a:srgbClr val="1A1A1A"/>
                </a:solidFill>
                <a:latin typeface="Segoe UI"/>
                <a:ea typeface="Microsoft YaHei"/>
                <a:cs typeface="Segoe UI"/>
              </a:rPr>
              <a:t>加班费怎么算？</a:t>
            </a:r>
          </a:p>
        </p:txBody>
      </p:sp>
      <p:sp>
        <p:nvSpPr>
          <p:cNvPr id="24" name="Rectangle 24"/>
          <p:cNvSpPr/>
          <p:nvPr/>
        </p:nvSpPr>
        <p:spPr>
          <a:xfrm>
            <a:off x="666750" y="4000500"/>
            <a:ext cx="10858500" cy="904875"/>
          </a:xfrm>
          <a:prstGeom prst="roundRect">
            <a:avLst>
              <a:gd name="adj" fmla="val 8421"/>
            </a:avLst>
          </a:prstGeom>
          <a:solidFill>
            <a:srgbClr val="FFFFFF"/>
          </a:solidFill>
          <a:ln>
            <a:noFill/>
          </a:ln>
        </p:spPr>
      </p:sp>
      <p:sp>
        <p:nvSpPr>
          <p:cNvPr id="25" name="Ellipse 25"/>
          <p:cNvSpPr/>
          <p:nvPr/>
        </p:nvSpPr>
        <p:spPr>
          <a:xfrm>
            <a:off x="790575" y="4143375"/>
            <a:ext cx="228600" cy="228600"/>
          </a:xfrm>
          <a:prstGeom prst="ellipse">
            <a:avLst/>
          </a:prstGeom>
          <a:solidFill>
            <a:srgbClr val="2E7D32"/>
          </a:solidFill>
          <a:ln>
            <a:noFill/>
          </a:ln>
        </p:spPr>
      </p:sp>
      <p:sp>
        <p:nvSpPr>
          <p:cNvPr id="26" name="TextBox 26"/>
          <p:cNvSpPr txBox="1"/>
          <p:nvPr/>
        </p:nvSpPr>
        <p:spPr>
          <a:xfrm>
            <a:off x="855490" y="4208145"/>
            <a:ext cx="987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A</a:t>
            </a:r>
          </a:p>
        </p:txBody>
      </p:sp>
      <p:sp>
        <p:nvSpPr>
          <p:cNvPr id="27" name="TextBox 27"/>
          <p:cNvSpPr txBox="1"/>
          <p:nvPr/>
        </p:nvSpPr>
        <p:spPr>
          <a:xfrm>
            <a:off x="1128712" y="4145756"/>
            <a:ext cx="7586662"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Segoe UI"/>
                <a:ea typeface="Microsoft YaHei"/>
                <a:cs typeface="Segoe UI"/>
              </a:rPr>
              <a:t>根据《劳动法》第四十四条，用人单位应当按照下列标准支付高于劳动者正常工作时间工资的工资报酬：</a:t>
            </a:r>
          </a:p>
        </p:txBody>
      </p:sp>
      <p:sp>
        <p:nvSpPr>
          <p:cNvPr id="28" name="TextBox 28"/>
          <p:cNvSpPr txBox="1"/>
          <p:nvPr/>
        </p:nvSpPr>
        <p:spPr>
          <a:xfrm>
            <a:off x="1128712" y="4374356"/>
            <a:ext cx="3281839"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Segoe UI"/>
                <a:ea typeface="Microsoft YaHei"/>
                <a:cs typeface="Segoe UI"/>
              </a:rPr>
              <a:t>(1) 延长工作时间 — 支付不低于工资的</a:t>
            </a:r>
            <a:r>
              <a:rPr lang="zh-CN" sz="1125" b="1" dirty="0">
                <a:solidFill>
                  <a:srgbClr val="E53935"/>
                </a:solidFill>
                <a:latin typeface="Segoe UI"/>
                <a:ea typeface="Microsoft YaHei"/>
                <a:cs typeface="Segoe UI"/>
              </a:rPr>
              <a:t>150%</a:t>
            </a:r>
            <a:r>
              <a:rPr lang="zh-CN" sz="1125" dirty="0">
                <a:solidFill>
                  <a:srgbClr val="1A1A1A"/>
                </a:solidFill>
                <a:latin typeface="Segoe UI"/>
                <a:ea typeface="Microsoft YaHei"/>
                <a:cs typeface="Segoe UI"/>
              </a:rPr>
              <a:t>；</a:t>
            </a:r>
          </a:p>
        </p:txBody>
      </p:sp>
      <p:sp>
        <p:nvSpPr>
          <p:cNvPr id="29" name="TextBox 29"/>
          <p:cNvSpPr txBox="1"/>
          <p:nvPr/>
        </p:nvSpPr>
        <p:spPr>
          <a:xfrm>
            <a:off x="1128712" y="4602956"/>
            <a:ext cx="7241619" cy="228600"/>
          </a:xfrm>
          <a:prstGeom prst="rect">
            <a:avLst/>
          </a:prstGeom>
          <a:noFill/>
          <a:ln>
            <a:noFill/>
          </a:ln>
        </p:spPr>
        <p:txBody>
          <a:bodyPr wrap="none" lIns="0" tIns="0" rIns="0" bIns="0" anchor="t" anchorCtr="0">
            <a:spAutoFit/>
          </a:bodyPr>
          <a:lstStyle/>
          <a:p>
            <a:pPr algn="l"/>
            <a:r>
              <a:rPr lang="zh-CN" sz="1125" dirty="0">
                <a:solidFill>
                  <a:srgbClr val="1A1A1A"/>
                </a:solidFill>
                <a:latin typeface="Segoe UI"/>
                <a:ea typeface="Microsoft YaHei"/>
                <a:cs typeface="Segoe UI"/>
              </a:rPr>
              <a:t>(2) 休息日工作不补休 — 支付不低于工资的</a:t>
            </a:r>
            <a:r>
              <a:rPr lang="zh-CN" sz="1125" b="1" dirty="0">
                <a:solidFill>
                  <a:srgbClr val="E53935"/>
                </a:solidFill>
                <a:latin typeface="Segoe UI"/>
                <a:ea typeface="Microsoft YaHei"/>
                <a:cs typeface="Segoe UI"/>
              </a:rPr>
              <a:t>200%</a:t>
            </a:r>
            <a:r>
              <a:rPr lang="zh-CN" sz="1125" dirty="0">
                <a:solidFill>
                  <a:srgbClr val="1A1A1A"/>
                </a:solidFill>
                <a:latin typeface="Segoe UI"/>
                <a:ea typeface="Microsoft YaHei"/>
                <a:cs typeface="Segoe UI"/>
              </a:rPr>
              <a:t>； (3) 法定休假日工作 — 支付不低于工资的</a:t>
            </a:r>
            <a:r>
              <a:rPr lang="zh-CN" sz="1125" b="1" dirty="0">
                <a:solidFill>
                  <a:srgbClr val="E53935"/>
                </a:solidFill>
                <a:latin typeface="Segoe UI"/>
                <a:ea typeface="Microsoft YaHei"/>
                <a:cs typeface="Segoe UI"/>
              </a:rPr>
              <a:t>300%</a:t>
            </a:r>
            <a:r>
              <a:rPr lang="zh-CN" sz="1125" dirty="0">
                <a:solidFill>
                  <a:srgbClr val="1A1A1A"/>
                </a:solidFill>
                <a:latin typeface="Segoe UI"/>
                <a:ea typeface="Microsoft YaHei"/>
                <a:cs typeface="Segoe UI"/>
              </a:rPr>
              <a:t>。</a:t>
            </a:r>
          </a:p>
        </p:txBody>
      </p:sp>
      <p:sp>
        <p:nvSpPr>
          <p:cNvPr id="30" name="Rectangle 30"/>
          <p:cNvSpPr/>
          <p:nvPr/>
        </p:nvSpPr>
        <p:spPr>
          <a:xfrm>
            <a:off x="666750" y="5143500"/>
            <a:ext cx="10858500" cy="571500"/>
          </a:xfrm>
          <a:prstGeom prst="roundRect">
            <a:avLst>
              <a:gd name="adj" fmla="val 10000"/>
            </a:avLst>
          </a:prstGeom>
          <a:solidFill>
            <a:srgbClr val="1A3A5C">
              <a:alpha val="6000"/>
            </a:srgbClr>
          </a:solidFill>
          <a:ln>
            <a:noFill/>
          </a:ln>
        </p:spPr>
      </p:sp>
      <p:sp>
        <p:nvSpPr>
          <p:cNvPr id="31" name="TextBox 31"/>
          <p:cNvSpPr txBox="1"/>
          <p:nvPr/>
        </p:nvSpPr>
        <p:spPr>
          <a:xfrm>
            <a:off x="844868" y="5276374"/>
            <a:ext cx="5549836" cy="198120"/>
          </a:xfrm>
          <a:prstGeom prst="rect">
            <a:avLst/>
          </a:prstGeom>
          <a:noFill/>
          <a:ln>
            <a:noFill/>
          </a:ln>
        </p:spPr>
        <p:txBody>
          <a:bodyPr wrap="none" lIns="0" tIns="0" rIns="0" bIns="0" anchor="t" anchorCtr="0">
            <a:spAutoFit/>
          </a:bodyPr>
          <a:lstStyle/>
          <a:p>
            <a:pPr algn="l"/>
            <a:r>
              <a:rPr lang="zh-CN" sz="975" dirty="0">
                <a:solidFill>
                  <a:srgbClr val="888888"/>
                </a:solidFill>
                <a:latin typeface="Segoe UI"/>
                <a:ea typeface="Microsoft YaHei"/>
                <a:cs typeface="Segoe UI"/>
              </a:rPr>
              <a:t>来源：中华人民共和国劳动法.txt | 相关片段：第四十四条全文 | 模型：基座模型 + RAG</a:t>
            </a:r>
          </a:p>
        </p:txBody>
      </p:sp>
      <p:sp>
        <p:nvSpPr>
          <p:cNvPr id="32" name="TextBox 32"/>
          <p:cNvSpPr txBox="1"/>
          <p:nvPr/>
        </p:nvSpPr>
        <p:spPr>
          <a:xfrm>
            <a:off x="3378041" y="5895499"/>
            <a:ext cx="5435917" cy="198120"/>
          </a:xfrm>
          <a:prstGeom prst="rect">
            <a:avLst/>
          </a:prstGeom>
          <a:noFill/>
          <a:ln>
            <a:noFill/>
          </a:ln>
        </p:spPr>
        <p:txBody>
          <a:bodyPr wrap="none" lIns="0" tIns="0" rIns="0" bIns="0" anchor="t" anchorCtr="0">
            <a:spAutoFit/>
          </a:bodyPr>
          <a:lstStyle/>
          <a:p>
            <a:pPr algn="ctr"/>
            <a:r>
              <a:rPr lang="zh-CN" sz="975" dirty="0">
                <a:solidFill>
                  <a:srgbClr val="888888"/>
                </a:solidFill>
                <a:latin typeface="Segoe UI"/>
                <a:ea typeface="Microsoft YaHei"/>
                <a:cs typeface="Segoe UI"/>
              </a:rPr>
              <a:t>系统支持 python run.py --eval 自动评估 | python run.py --eval-all 四组对比实验</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0"/>
          </a:xfrm>
          <a:prstGeom prst="rect">
            <a:avLst/>
          </a:prstGeom>
          <a:solidFill>
            <a:srgbClr val="1A3A5C"/>
          </a:solidFill>
          <a:ln>
            <a:noFill/>
          </a:ln>
        </p:spPr>
      </p:sp>
      <p:sp>
        <p:nvSpPr>
          <p:cNvPr id="4" name="TextBox 4"/>
          <p:cNvSpPr txBox="1"/>
          <p:nvPr/>
        </p:nvSpPr>
        <p:spPr>
          <a:xfrm>
            <a:off x="548640" y="300990"/>
            <a:ext cx="4503677"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三、系统设计与结果分析 — 实验结果</a:t>
            </a:r>
          </a:p>
        </p:txBody>
      </p:sp>
      <p:sp>
        <p:nvSpPr>
          <p:cNvPr id="5" name="TextBox 5"/>
          <p:cNvSpPr txBox="1"/>
          <p:nvPr/>
        </p:nvSpPr>
        <p:spPr>
          <a:xfrm>
            <a:off x="11508867" y="365760"/>
            <a:ext cx="126873" cy="243840"/>
          </a:xfrm>
          <a:prstGeom prst="rect">
            <a:avLst/>
          </a:prstGeom>
          <a:noFill/>
          <a:ln>
            <a:noFill/>
          </a:ln>
        </p:spPr>
        <p:txBody>
          <a:bodyPr wrap="none" lIns="0" tIns="0" rIns="0" bIns="0" anchor="t" anchorCtr="0">
            <a:spAutoFit/>
          </a:bodyPr>
          <a:lstStyle/>
          <a:p>
            <a:pPr algn="r"/>
            <a:r>
              <a:rPr lang="zh-CN" sz="1200" dirty="0">
                <a:solidFill>
                  <a:srgbClr val="99B3CC">
                    <a:alphaMod val="80000"/>
                  </a:srgbClr>
                </a:solidFill>
                <a:latin typeface="Arial"/>
                <a:ea typeface="Microsoft YaHei"/>
                <a:cs typeface="Arial"/>
              </a:rPr>
              <a:t>9</a:t>
            </a:r>
          </a:p>
        </p:txBody>
      </p:sp>
      <p:sp>
        <p:nvSpPr>
          <p:cNvPr id="6" name="Rectangle 6"/>
          <p:cNvSpPr/>
          <p:nvPr/>
        </p:nvSpPr>
        <p:spPr>
          <a:xfrm>
            <a:off x="571500" y="1047750"/>
            <a:ext cx="6667500" cy="4286250"/>
          </a:xfrm>
          <a:prstGeom prst="roundRect">
            <a:avLst>
              <a:gd name="adj" fmla="val 2222"/>
            </a:avLst>
          </a:prstGeom>
          <a:solidFill>
            <a:srgbClr val="F0F4F8"/>
          </a:solidFill>
          <a:ln>
            <a:noFill/>
          </a:ln>
        </p:spPr>
      </p:sp>
      <p:sp>
        <p:nvSpPr>
          <p:cNvPr id="7" name="TextBox 7"/>
          <p:cNvSpPr txBox="1"/>
          <p:nvPr/>
        </p:nvSpPr>
        <p:spPr>
          <a:xfrm>
            <a:off x="796290" y="1220152"/>
            <a:ext cx="279702"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0.8</a:t>
            </a:r>
          </a:p>
        </p:txBody>
      </p:sp>
      <p:sp>
        <p:nvSpPr>
          <p:cNvPr id="8" name="TextBox 8"/>
          <p:cNvSpPr txBox="1"/>
          <p:nvPr/>
        </p:nvSpPr>
        <p:spPr>
          <a:xfrm>
            <a:off x="796290" y="2077402"/>
            <a:ext cx="279702"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0.6</a:t>
            </a:r>
          </a:p>
        </p:txBody>
      </p:sp>
      <p:sp>
        <p:nvSpPr>
          <p:cNvPr id="9" name="TextBox 9"/>
          <p:cNvSpPr txBox="1"/>
          <p:nvPr/>
        </p:nvSpPr>
        <p:spPr>
          <a:xfrm>
            <a:off x="796290" y="2934652"/>
            <a:ext cx="279702"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0.4</a:t>
            </a:r>
          </a:p>
        </p:txBody>
      </p:sp>
      <p:sp>
        <p:nvSpPr>
          <p:cNvPr id="10" name="TextBox 10"/>
          <p:cNvSpPr txBox="1"/>
          <p:nvPr/>
        </p:nvSpPr>
        <p:spPr>
          <a:xfrm>
            <a:off x="796290" y="3791902"/>
            <a:ext cx="279702"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0.2</a:t>
            </a:r>
          </a:p>
        </p:txBody>
      </p:sp>
      <p:sp>
        <p:nvSpPr>
          <p:cNvPr id="11" name="TextBox 11"/>
          <p:cNvSpPr txBox="1"/>
          <p:nvPr/>
        </p:nvSpPr>
        <p:spPr>
          <a:xfrm>
            <a:off x="796290" y="4649152"/>
            <a:ext cx="279702"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0.0</a:t>
            </a:r>
          </a:p>
        </p:txBody>
      </p:sp>
      <p:sp>
        <p:nvSpPr>
          <p:cNvPr id="12" name="Line 12"/>
          <p:cNvSpPr/>
          <p:nvPr/>
        </p:nvSpPr>
        <p:spPr>
          <a:xfrm>
            <a:off x="1047750" y="1333500"/>
            <a:ext cx="6000750" cy="9525"/>
          </a:xfrm>
          <a:custGeom>
            <a:avLst/>
            <a:gdLst/>
            <a:ahLst/>
            <a:cxnLst/>
            <a:rect l="l" t="t" r="r" b="b"/>
            <a:pathLst>
              <a:path w="6000750" h="9525">
                <a:moveTo>
                  <a:pt x="0" y="0"/>
                </a:moveTo>
                <a:lnTo>
                  <a:pt x="6000750" y="0"/>
                </a:lnTo>
              </a:path>
            </a:pathLst>
          </a:custGeom>
          <a:noFill/>
          <a:ln w="9525">
            <a:solidFill>
              <a:srgbClr val="D0D7DE"/>
            </a:solidFill>
          </a:ln>
        </p:spPr>
      </p:sp>
      <p:sp>
        <p:nvSpPr>
          <p:cNvPr id="13" name="Line 13"/>
          <p:cNvSpPr/>
          <p:nvPr/>
        </p:nvSpPr>
        <p:spPr>
          <a:xfrm>
            <a:off x="1047750" y="2190750"/>
            <a:ext cx="6000750" cy="9525"/>
          </a:xfrm>
          <a:custGeom>
            <a:avLst/>
            <a:gdLst/>
            <a:ahLst/>
            <a:cxnLst/>
            <a:rect l="l" t="t" r="r" b="b"/>
            <a:pathLst>
              <a:path w="6000750" h="9525">
                <a:moveTo>
                  <a:pt x="0" y="0"/>
                </a:moveTo>
                <a:lnTo>
                  <a:pt x="6000750" y="0"/>
                </a:lnTo>
              </a:path>
            </a:pathLst>
          </a:custGeom>
          <a:noFill/>
          <a:ln w="9525">
            <a:solidFill>
              <a:srgbClr val="D0D7DE"/>
            </a:solidFill>
          </a:ln>
        </p:spPr>
      </p:sp>
      <p:sp>
        <p:nvSpPr>
          <p:cNvPr id="14" name="Line 14"/>
          <p:cNvSpPr/>
          <p:nvPr/>
        </p:nvSpPr>
        <p:spPr>
          <a:xfrm>
            <a:off x="1047750" y="3048000"/>
            <a:ext cx="6000750" cy="9525"/>
          </a:xfrm>
          <a:custGeom>
            <a:avLst/>
            <a:gdLst/>
            <a:ahLst/>
            <a:cxnLst/>
            <a:rect l="l" t="t" r="r" b="b"/>
            <a:pathLst>
              <a:path w="6000750" h="9525">
                <a:moveTo>
                  <a:pt x="0" y="0"/>
                </a:moveTo>
                <a:lnTo>
                  <a:pt x="6000750" y="0"/>
                </a:lnTo>
              </a:path>
            </a:pathLst>
          </a:custGeom>
          <a:noFill/>
          <a:ln w="9525">
            <a:solidFill>
              <a:srgbClr val="D0D7DE"/>
            </a:solidFill>
          </a:ln>
        </p:spPr>
      </p:sp>
      <p:sp>
        <p:nvSpPr>
          <p:cNvPr id="15" name="Line 15"/>
          <p:cNvSpPr/>
          <p:nvPr/>
        </p:nvSpPr>
        <p:spPr>
          <a:xfrm>
            <a:off x="1047750" y="3905250"/>
            <a:ext cx="6000750" cy="9525"/>
          </a:xfrm>
          <a:custGeom>
            <a:avLst/>
            <a:gdLst/>
            <a:ahLst/>
            <a:cxnLst/>
            <a:rect l="l" t="t" r="r" b="b"/>
            <a:pathLst>
              <a:path w="6000750" h="9525">
                <a:moveTo>
                  <a:pt x="0" y="0"/>
                </a:moveTo>
                <a:lnTo>
                  <a:pt x="6000750" y="0"/>
                </a:lnTo>
              </a:path>
            </a:pathLst>
          </a:custGeom>
          <a:noFill/>
          <a:ln w="9525">
            <a:solidFill>
              <a:srgbClr val="D0D7DE"/>
            </a:solidFill>
          </a:ln>
        </p:spPr>
      </p:sp>
      <p:sp>
        <p:nvSpPr>
          <p:cNvPr id="16" name="Line 16"/>
          <p:cNvSpPr/>
          <p:nvPr/>
        </p:nvSpPr>
        <p:spPr>
          <a:xfrm>
            <a:off x="1047750" y="4762500"/>
            <a:ext cx="6000750" cy="9525"/>
          </a:xfrm>
          <a:custGeom>
            <a:avLst/>
            <a:gdLst/>
            <a:ahLst/>
            <a:cxnLst/>
            <a:rect l="l" t="t" r="r" b="b"/>
            <a:pathLst>
              <a:path w="6000750" h="9525">
                <a:moveTo>
                  <a:pt x="0" y="0"/>
                </a:moveTo>
                <a:lnTo>
                  <a:pt x="6000750" y="0"/>
                </a:lnTo>
              </a:path>
            </a:pathLst>
          </a:custGeom>
          <a:noFill/>
          <a:ln w="9525">
            <a:solidFill>
              <a:srgbClr val="D0D7DE"/>
            </a:solidFill>
          </a:ln>
        </p:spPr>
      </p:sp>
      <p:sp>
        <p:nvSpPr>
          <p:cNvPr id="17" name="Line 17"/>
          <p:cNvSpPr/>
          <p:nvPr/>
        </p:nvSpPr>
        <p:spPr>
          <a:xfrm>
            <a:off x="1047750" y="1047750"/>
            <a:ext cx="9525" cy="3714750"/>
          </a:xfrm>
          <a:custGeom>
            <a:avLst/>
            <a:gdLst/>
            <a:ahLst/>
            <a:cxnLst/>
            <a:rect l="l" t="t" r="r" b="b"/>
            <a:pathLst>
              <a:path w="9525" h="3714750">
                <a:moveTo>
                  <a:pt x="0" y="0"/>
                </a:moveTo>
                <a:lnTo>
                  <a:pt x="0" y="3714750"/>
                </a:lnTo>
              </a:path>
            </a:pathLst>
          </a:custGeom>
          <a:noFill/>
          <a:ln w="14288">
            <a:solidFill>
              <a:srgbClr val="1A1A1A"/>
            </a:solidFill>
          </a:ln>
        </p:spPr>
      </p:sp>
      <p:sp>
        <p:nvSpPr>
          <p:cNvPr id="18" name="TextBox 18"/>
          <p:cNvSpPr txBox="1"/>
          <p:nvPr/>
        </p:nvSpPr>
        <p:spPr>
          <a:xfrm>
            <a:off x="1563017" y="4863941"/>
            <a:ext cx="207716"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Arial"/>
                <a:ea typeface="Microsoft YaHei"/>
                <a:cs typeface="Arial"/>
              </a:rPr>
              <a:t>组A</a:t>
            </a:r>
          </a:p>
        </p:txBody>
      </p:sp>
      <p:sp>
        <p:nvSpPr>
          <p:cNvPr id="19" name="TextBox 19"/>
          <p:cNvSpPr txBox="1"/>
          <p:nvPr/>
        </p:nvSpPr>
        <p:spPr>
          <a:xfrm>
            <a:off x="1408152" y="4995862"/>
            <a:ext cx="517446" cy="152400"/>
          </a:xfrm>
          <a:prstGeom prst="rect">
            <a:avLst/>
          </a:prstGeom>
          <a:noFill/>
          <a:ln>
            <a:noFill/>
          </a:ln>
        </p:spPr>
        <p:txBody>
          <a:bodyPr wrap="none" lIns="0" tIns="0" rIns="0" bIns="0" anchor="t" anchorCtr="0">
            <a:spAutoFit/>
          </a:bodyPr>
          <a:lstStyle/>
          <a:p>
            <a:pPr algn="ctr"/>
            <a:r>
              <a:rPr lang="zh-CN" sz="750" dirty="0">
                <a:solidFill>
                  <a:srgbClr val="888888"/>
                </a:solidFill>
                <a:latin typeface="Segoe UI"/>
                <a:ea typeface="Microsoft YaHei"/>
                <a:cs typeface="Segoe UI"/>
              </a:rPr>
              <a:t>基座+直接</a:t>
            </a:r>
          </a:p>
        </p:txBody>
      </p:sp>
      <p:sp>
        <p:nvSpPr>
          <p:cNvPr id="20" name="Rectangle 20"/>
          <p:cNvSpPr/>
          <p:nvPr/>
        </p:nvSpPr>
        <p:spPr>
          <a:xfrm>
            <a:off x="1476375" y="3314700"/>
            <a:ext cx="266700" cy="1447800"/>
          </a:xfrm>
          <a:prstGeom prst="roundRect">
            <a:avLst>
              <a:gd name="adj" fmla="val 10714"/>
            </a:avLst>
          </a:prstGeom>
          <a:solidFill>
            <a:srgbClr val="5BA0E8"/>
          </a:solidFill>
          <a:ln>
            <a:noFill/>
          </a:ln>
        </p:spPr>
      </p:sp>
      <p:sp>
        <p:nvSpPr>
          <p:cNvPr id="21" name="Rectangle 21"/>
          <p:cNvSpPr/>
          <p:nvPr/>
        </p:nvSpPr>
        <p:spPr>
          <a:xfrm>
            <a:off x="1781175" y="2724150"/>
            <a:ext cx="266700" cy="2038350"/>
          </a:xfrm>
          <a:prstGeom prst="roundRect">
            <a:avLst>
              <a:gd name="adj" fmla="val 10714"/>
            </a:avLst>
          </a:prstGeom>
          <a:solidFill>
            <a:srgbClr val="2B7BD6"/>
          </a:solidFill>
          <a:ln>
            <a:noFill/>
          </a:ln>
        </p:spPr>
      </p:sp>
      <p:sp>
        <p:nvSpPr>
          <p:cNvPr id="22" name="TextBox 22"/>
          <p:cNvSpPr txBox="1"/>
          <p:nvPr/>
        </p:nvSpPr>
        <p:spPr>
          <a:xfrm>
            <a:off x="3087017" y="4863941"/>
            <a:ext cx="207716"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Arial"/>
                <a:ea typeface="Microsoft YaHei"/>
                <a:cs typeface="Arial"/>
              </a:rPr>
              <a:t>组B</a:t>
            </a:r>
          </a:p>
        </p:txBody>
      </p:sp>
      <p:sp>
        <p:nvSpPr>
          <p:cNvPr id="23" name="TextBox 23"/>
          <p:cNvSpPr txBox="1"/>
          <p:nvPr/>
        </p:nvSpPr>
        <p:spPr>
          <a:xfrm>
            <a:off x="2932152" y="4995862"/>
            <a:ext cx="517446" cy="152400"/>
          </a:xfrm>
          <a:prstGeom prst="rect">
            <a:avLst/>
          </a:prstGeom>
          <a:noFill/>
          <a:ln>
            <a:noFill/>
          </a:ln>
        </p:spPr>
        <p:txBody>
          <a:bodyPr wrap="none" lIns="0" tIns="0" rIns="0" bIns="0" anchor="t" anchorCtr="0">
            <a:spAutoFit/>
          </a:bodyPr>
          <a:lstStyle/>
          <a:p>
            <a:pPr algn="ctr"/>
            <a:r>
              <a:rPr lang="zh-CN" sz="750" dirty="0">
                <a:solidFill>
                  <a:srgbClr val="888888"/>
                </a:solidFill>
                <a:latin typeface="Segoe UI"/>
                <a:ea typeface="Microsoft YaHei"/>
                <a:cs typeface="Segoe UI"/>
              </a:rPr>
              <a:t>微调+直接</a:t>
            </a:r>
          </a:p>
        </p:txBody>
      </p:sp>
      <p:sp>
        <p:nvSpPr>
          <p:cNvPr id="24" name="Rectangle 24"/>
          <p:cNvSpPr/>
          <p:nvPr/>
        </p:nvSpPr>
        <p:spPr>
          <a:xfrm>
            <a:off x="3000375" y="3009900"/>
            <a:ext cx="266700" cy="1752600"/>
          </a:xfrm>
          <a:prstGeom prst="roundRect">
            <a:avLst>
              <a:gd name="adj" fmla="val 10714"/>
            </a:avLst>
          </a:prstGeom>
          <a:solidFill>
            <a:srgbClr val="5BA0E8"/>
          </a:solidFill>
          <a:ln>
            <a:noFill/>
          </a:ln>
        </p:spPr>
      </p:sp>
      <p:sp>
        <p:nvSpPr>
          <p:cNvPr id="25" name="Rectangle 25"/>
          <p:cNvSpPr/>
          <p:nvPr/>
        </p:nvSpPr>
        <p:spPr>
          <a:xfrm>
            <a:off x="3305175" y="2438400"/>
            <a:ext cx="266700" cy="2324100"/>
          </a:xfrm>
          <a:prstGeom prst="roundRect">
            <a:avLst>
              <a:gd name="adj" fmla="val 10714"/>
            </a:avLst>
          </a:prstGeom>
          <a:solidFill>
            <a:srgbClr val="2B7BD6"/>
          </a:solidFill>
          <a:ln>
            <a:noFill/>
          </a:ln>
        </p:spPr>
      </p:sp>
      <p:sp>
        <p:nvSpPr>
          <p:cNvPr id="26" name="TextBox 26"/>
          <p:cNvSpPr txBox="1"/>
          <p:nvPr/>
        </p:nvSpPr>
        <p:spPr>
          <a:xfrm>
            <a:off x="4611017" y="4863941"/>
            <a:ext cx="207716"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Arial"/>
                <a:ea typeface="Microsoft YaHei"/>
                <a:cs typeface="Arial"/>
              </a:rPr>
              <a:t>组C</a:t>
            </a:r>
          </a:p>
        </p:txBody>
      </p:sp>
      <p:sp>
        <p:nvSpPr>
          <p:cNvPr id="27" name="TextBox 27"/>
          <p:cNvSpPr txBox="1"/>
          <p:nvPr/>
        </p:nvSpPr>
        <p:spPr>
          <a:xfrm>
            <a:off x="4475321" y="4995862"/>
            <a:ext cx="479108" cy="152400"/>
          </a:xfrm>
          <a:prstGeom prst="rect">
            <a:avLst/>
          </a:prstGeom>
          <a:noFill/>
          <a:ln>
            <a:noFill/>
          </a:ln>
        </p:spPr>
        <p:txBody>
          <a:bodyPr wrap="none" lIns="0" tIns="0" rIns="0" bIns="0" anchor="t" anchorCtr="0">
            <a:spAutoFit/>
          </a:bodyPr>
          <a:lstStyle/>
          <a:p>
            <a:pPr algn="ctr"/>
            <a:r>
              <a:rPr lang="zh-CN" sz="750" dirty="0">
                <a:solidFill>
                  <a:srgbClr val="888888"/>
                </a:solidFill>
                <a:latin typeface="Segoe UI"/>
                <a:ea typeface="Microsoft YaHei"/>
                <a:cs typeface="Segoe UI"/>
              </a:rPr>
              <a:t>基座+RAG</a:t>
            </a:r>
          </a:p>
        </p:txBody>
      </p:sp>
      <p:sp>
        <p:nvSpPr>
          <p:cNvPr id="28" name="Rectangle 28"/>
          <p:cNvSpPr/>
          <p:nvPr/>
        </p:nvSpPr>
        <p:spPr>
          <a:xfrm>
            <a:off x="4524375" y="2819400"/>
            <a:ext cx="266700" cy="1943100"/>
          </a:xfrm>
          <a:prstGeom prst="roundRect">
            <a:avLst>
              <a:gd name="adj" fmla="val 10714"/>
            </a:avLst>
          </a:prstGeom>
          <a:solidFill>
            <a:srgbClr val="5BA0E8"/>
          </a:solidFill>
          <a:ln>
            <a:noFill/>
          </a:ln>
        </p:spPr>
      </p:sp>
      <p:sp>
        <p:nvSpPr>
          <p:cNvPr id="29" name="Rectangle 29"/>
          <p:cNvSpPr/>
          <p:nvPr/>
        </p:nvSpPr>
        <p:spPr>
          <a:xfrm>
            <a:off x="4829175" y="2238375"/>
            <a:ext cx="266700" cy="2524125"/>
          </a:xfrm>
          <a:prstGeom prst="roundRect">
            <a:avLst>
              <a:gd name="adj" fmla="val 10714"/>
            </a:avLst>
          </a:prstGeom>
          <a:solidFill>
            <a:srgbClr val="2B7BD6"/>
          </a:solidFill>
          <a:ln>
            <a:noFill/>
          </a:ln>
        </p:spPr>
      </p:sp>
      <p:sp>
        <p:nvSpPr>
          <p:cNvPr id="30" name="TextBox 30"/>
          <p:cNvSpPr txBox="1"/>
          <p:nvPr/>
        </p:nvSpPr>
        <p:spPr>
          <a:xfrm>
            <a:off x="6135017" y="4863941"/>
            <a:ext cx="207716" cy="167640"/>
          </a:xfrm>
          <a:prstGeom prst="rect">
            <a:avLst/>
          </a:prstGeom>
          <a:noFill/>
          <a:ln>
            <a:noFill/>
          </a:ln>
        </p:spPr>
        <p:txBody>
          <a:bodyPr wrap="none" lIns="0" tIns="0" rIns="0" bIns="0" anchor="t" anchorCtr="0">
            <a:spAutoFit/>
          </a:bodyPr>
          <a:lstStyle/>
          <a:p>
            <a:pPr algn="ctr"/>
            <a:r>
              <a:rPr lang="zh-CN" sz="825" dirty="0">
                <a:solidFill>
                  <a:srgbClr val="555555"/>
                </a:solidFill>
                <a:latin typeface="Arial"/>
                <a:ea typeface="Microsoft YaHei"/>
                <a:cs typeface="Arial"/>
              </a:rPr>
              <a:t>组D</a:t>
            </a:r>
          </a:p>
        </p:txBody>
      </p:sp>
      <p:sp>
        <p:nvSpPr>
          <p:cNvPr id="31" name="TextBox 31"/>
          <p:cNvSpPr txBox="1"/>
          <p:nvPr/>
        </p:nvSpPr>
        <p:spPr>
          <a:xfrm>
            <a:off x="5952768" y="4995862"/>
            <a:ext cx="572214" cy="152400"/>
          </a:xfrm>
          <a:prstGeom prst="rect">
            <a:avLst/>
          </a:prstGeom>
          <a:noFill/>
          <a:ln>
            <a:noFill/>
          </a:ln>
        </p:spPr>
        <p:txBody>
          <a:bodyPr wrap="none" lIns="0" tIns="0" rIns="0" bIns="0" anchor="t" anchorCtr="0">
            <a:spAutoFit/>
          </a:bodyPr>
          <a:lstStyle/>
          <a:p>
            <a:pPr algn="ctr"/>
            <a:r>
              <a:rPr lang="zh-CN" sz="750" dirty="0">
                <a:solidFill>
                  <a:srgbClr val="E53935"/>
                </a:solidFill>
                <a:latin typeface="Segoe UI"/>
                <a:ea typeface="Microsoft YaHei"/>
                <a:cs typeface="Segoe UI"/>
              </a:rPr>
              <a:t>微调+RAG ✓</a:t>
            </a:r>
          </a:p>
        </p:txBody>
      </p:sp>
      <p:sp>
        <p:nvSpPr>
          <p:cNvPr id="32" name="Rectangle 32"/>
          <p:cNvSpPr/>
          <p:nvPr/>
        </p:nvSpPr>
        <p:spPr>
          <a:xfrm>
            <a:off x="6048375" y="2628900"/>
            <a:ext cx="266700" cy="2133600"/>
          </a:xfrm>
          <a:prstGeom prst="roundRect">
            <a:avLst>
              <a:gd name="adj" fmla="val 10714"/>
            </a:avLst>
          </a:prstGeom>
          <a:solidFill>
            <a:srgbClr val="5BA0E8"/>
          </a:solidFill>
          <a:ln>
            <a:noFill/>
          </a:ln>
        </p:spPr>
      </p:sp>
      <p:sp>
        <p:nvSpPr>
          <p:cNvPr id="33" name="Rectangle 33"/>
          <p:cNvSpPr/>
          <p:nvPr/>
        </p:nvSpPr>
        <p:spPr>
          <a:xfrm>
            <a:off x="6353175" y="2066925"/>
            <a:ext cx="266700" cy="2695575"/>
          </a:xfrm>
          <a:prstGeom prst="roundRect">
            <a:avLst>
              <a:gd name="adj" fmla="val 10714"/>
            </a:avLst>
          </a:prstGeom>
          <a:solidFill>
            <a:srgbClr val="2B7BD6"/>
          </a:solidFill>
          <a:ln>
            <a:noFill/>
          </a:ln>
        </p:spPr>
      </p:sp>
      <p:sp>
        <p:nvSpPr>
          <p:cNvPr id="34" name="TextBox 34"/>
          <p:cNvSpPr txBox="1"/>
          <p:nvPr/>
        </p:nvSpPr>
        <p:spPr>
          <a:xfrm>
            <a:off x="6475095" y="1931670"/>
            <a:ext cx="98769" cy="182880"/>
          </a:xfrm>
          <a:prstGeom prst="rect">
            <a:avLst/>
          </a:prstGeom>
          <a:noFill/>
          <a:ln>
            <a:noFill/>
          </a:ln>
        </p:spPr>
        <p:txBody>
          <a:bodyPr wrap="none" lIns="0" tIns="0" rIns="0" bIns="0" anchor="t" anchorCtr="0">
            <a:spAutoFit/>
          </a:bodyPr>
          <a:lstStyle/>
          <a:p>
            <a:pPr algn="l"/>
            <a:r>
              <a:rPr lang="zh-CN" sz="900" b="1" dirty="0">
                <a:solidFill>
                  <a:srgbClr val="E53935"/>
                </a:solidFill>
                <a:latin typeface="Arial"/>
                <a:ea typeface="Microsoft YaHei"/>
                <a:cs typeface="Arial"/>
              </a:rPr>
              <a:t>★</a:t>
            </a:r>
          </a:p>
        </p:txBody>
      </p:sp>
      <p:sp>
        <p:nvSpPr>
          <p:cNvPr id="35" name="Rectangle 35"/>
          <p:cNvSpPr/>
          <p:nvPr/>
        </p:nvSpPr>
        <p:spPr>
          <a:xfrm>
            <a:off x="1905000" y="5191125"/>
            <a:ext cx="171450" cy="171450"/>
          </a:xfrm>
          <a:prstGeom prst="roundRect">
            <a:avLst>
              <a:gd name="adj" fmla="val 16667"/>
            </a:avLst>
          </a:prstGeom>
          <a:solidFill>
            <a:srgbClr val="5BA0E8"/>
          </a:solidFill>
          <a:ln>
            <a:noFill/>
          </a:ln>
        </p:spPr>
      </p:sp>
      <p:sp>
        <p:nvSpPr>
          <p:cNvPr id="36" name="TextBox 36"/>
          <p:cNvSpPr txBox="1"/>
          <p:nvPr/>
        </p:nvSpPr>
        <p:spPr>
          <a:xfrm>
            <a:off x="2130742" y="5228749"/>
            <a:ext cx="494681" cy="198120"/>
          </a:xfrm>
          <a:prstGeom prst="rect">
            <a:avLst/>
          </a:prstGeom>
          <a:noFill/>
          <a:ln>
            <a:noFill/>
          </a:ln>
        </p:spPr>
        <p:txBody>
          <a:bodyPr wrap="none" lIns="0" tIns="0" rIns="0" bIns="0" anchor="t" anchorCtr="0">
            <a:spAutoFit/>
          </a:bodyPr>
          <a:lstStyle/>
          <a:p>
            <a:pPr algn="l"/>
            <a:r>
              <a:rPr lang="zh-CN" sz="975" dirty="0">
                <a:solidFill>
                  <a:srgbClr val="555555"/>
                </a:solidFill>
                <a:latin typeface="Segoe UI"/>
                <a:ea typeface="Microsoft YaHei"/>
                <a:cs typeface="Segoe UI"/>
              </a:rPr>
              <a:t>BLEU-4</a:t>
            </a:r>
          </a:p>
        </p:txBody>
      </p:sp>
      <p:sp>
        <p:nvSpPr>
          <p:cNvPr id="37" name="Rectangle 37"/>
          <p:cNvSpPr/>
          <p:nvPr/>
        </p:nvSpPr>
        <p:spPr>
          <a:xfrm>
            <a:off x="3048000" y="5191125"/>
            <a:ext cx="171450" cy="171450"/>
          </a:xfrm>
          <a:prstGeom prst="roundRect">
            <a:avLst>
              <a:gd name="adj" fmla="val 16667"/>
            </a:avLst>
          </a:prstGeom>
          <a:solidFill>
            <a:srgbClr val="2B7BD6"/>
          </a:solidFill>
          <a:ln>
            <a:noFill/>
          </a:ln>
        </p:spPr>
      </p:sp>
      <p:sp>
        <p:nvSpPr>
          <p:cNvPr id="38" name="TextBox 38"/>
          <p:cNvSpPr txBox="1"/>
          <p:nvPr/>
        </p:nvSpPr>
        <p:spPr>
          <a:xfrm>
            <a:off x="3273742" y="5228749"/>
            <a:ext cx="573000" cy="198120"/>
          </a:xfrm>
          <a:prstGeom prst="rect">
            <a:avLst/>
          </a:prstGeom>
          <a:noFill/>
          <a:ln>
            <a:noFill/>
          </a:ln>
        </p:spPr>
        <p:txBody>
          <a:bodyPr wrap="none" lIns="0" tIns="0" rIns="0" bIns="0" anchor="t" anchorCtr="0">
            <a:spAutoFit/>
          </a:bodyPr>
          <a:lstStyle/>
          <a:p>
            <a:pPr algn="l"/>
            <a:r>
              <a:rPr lang="zh-CN" sz="975" dirty="0">
                <a:solidFill>
                  <a:srgbClr val="555555"/>
                </a:solidFill>
                <a:latin typeface="Segoe UI"/>
                <a:ea typeface="Microsoft YaHei"/>
                <a:cs typeface="Segoe UI"/>
              </a:rPr>
              <a:t>Rouge-L</a:t>
            </a:r>
          </a:p>
        </p:txBody>
      </p:sp>
      <p:sp>
        <p:nvSpPr>
          <p:cNvPr id="39" name="Rectangle 39"/>
          <p:cNvSpPr/>
          <p:nvPr/>
        </p:nvSpPr>
        <p:spPr>
          <a:xfrm>
            <a:off x="7524750" y="1047750"/>
            <a:ext cx="4286250" cy="2571750"/>
          </a:xfrm>
          <a:prstGeom prst="roundRect">
            <a:avLst>
              <a:gd name="adj" fmla="val 3704"/>
            </a:avLst>
          </a:prstGeom>
          <a:solidFill>
            <a:srgbClr val="F0F4F8"/>
          </a:solidFill>
          <a:ln>
            <a:noFill/>
          </a:ln>
        </p:spPr>
      </p:sp>
      <p:sp>
        <p:nvSpPr>
          <p:cNvPr id="40" name="Rectangle 40"/>
          <p:cNvSpPr/>
          <p:nvPr/>
        </p:nvSpPr>
        <p:spPr>
          <a:xfrm>
            <a:off x="7620000" y="1143000"/>
            <a:ext cx="4095750" cy="285750"/>
          </a:xfrm>
          <a:prstGeom prst="roundRect">
            <a:avLst>
              <a:gd name="adj" fmla="val 13333"/>
            </a:avLst>
          </a:prstGeom>
          <a:solidFill>
            <a:srgbClr val="1A3A5C"/>
          </a:solidFill>
          <a:ln>
            <a:noFill/>
          </a:ln>
        </p:spPr>
      </p:sp>
      <p:sp>
        <p:nvSpPr>
          <p:cNvPr id="41" name="TextBox 41"/>
          <p:cNvSpPr txBox="1"/>
          <p:nvPr/>
        </p:nvSpPr>
        <p:spPr>
          <a:xfrm>
            <a:off x="8335839" y="1237774"/>
            <a:ext cx="473321"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实验组</a:t>
            </a:r>
          </a:p>
        </p:txBody>
      </p:sp>
      <p:sp>
        <p:nvSpPr>
          <p:cNvPr id="42" name="TextBox 42"/>
          <p:cNvSpPr txBox="1"/>
          <p:nvPr/>
        </p:nvSpPr>
        <p:spPr>
          <a:xfrm>
            <a:off x="9742162" y="1237774"/>
            <a:ext cx="518177"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BLEU-4</a:t>
            </a:r>
          </a:p>
        </p:txBody>
      </p:sp>
      <p:sp>
        <p:nvSpPr>
          <p:cNvPr id="43" name="TextBox 43"/>
          <p:cNvSpPr txBox="1"/>
          <p:nvPr/>
        </p:nvSpPr>
        <p:spPr>
          <a:xfrm>
            <a:off x="10844044" y="1237774"/>
            <a:ext cx="60041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egoe UI"/>
                <a:ea typeface="Microsoft YaHei"/>
                <a:cs typeface="Segoe UI"/>
              </a:rPr>
              <a:t>Rouge-L</a:t>
            </a:r>
          </a:p>
        </p:txBody>
      </p:sp>
      <p:sp>
        <p:nvSpPr>
          <p:cNvPr id="44" name="Rectangle 44"/>
          <p:cNvSpPr/>
          <p:nvPr/>
        </p:nvSpPr>
        <p:spPr>
          <a:xfrm>
            <a:off x="7620000" y="1476375"/>
            <a:ext cx="4095750" cy="266700"/>
          </a:xfrm>
          <a:prstGeom prst="rect">
            <a:avLst/>
          </a:prstGeom>
          <a:solidFill>
            <a:srgbClr val="FFFFFF"/>
          </a:solidFill>
          <a:ln>
            <a:noFill/>
          </a:ln>
        </p:spPr>
      </p:sp>
      <p:sp>
        <p:nvSpPr>
          <p:cNvPr id="45" name="TextBox 45"/>
          <p:cNvSpPr txBox="1"/>
          <p:nvPr/>
        </p:nvSpPr>
        <p:spPr>
          <a:xfrm>
            <a:off x="7844564" y="1561624"/>
            <a:ext cx="1455872"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Segoe UI"/>
                <a:ea typeface="Microsoft YaHei"/>
                <a:cs typeface="Segoe UI"/>
              </a:rPr>
              <a:t>Group A: 基座+Direct</a:t>
            </a:r>
          </a:p>
        </p:txBody>
      </p:sp>
      <p:sp>
        <p:nvSpPr>
          <p:cNvPr id="46" name="TextBox 46"/>
          <p:cNvSpPr txBox="1"/>
          <p:nvPr/>
        </p:nvSpPr>
        <p:spPr>
          <a:xfrm>
            <a:off x="9766512" y="1553528"/>
            <a:ext cx="469475"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0.423</a:t>
            </a:r>
          </a:p>
        </p:txBody>
      </p:sp>
      <p:sp>
        <p:nvSpPr>
          <p:cNvPr id="47" name="TextBox 47"/>
          <p:cNvSpPr txBox="1"/>
          <p:nvPr/>
        </p:nvSpPr>
        <p:spPr>
          <a:xfrm>
            <a:off x="10909512" y="1553528"/>
            <a:ext cx="469475"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0.594</a:t>
            </a:r>
          </a:p>
        </p:txBody>
      </p:sp>
      <p:sp>
        <p:nvSpPr>
          <p:cNvPr id="48" name="Rectangle 48"/>
          <p:cNvSpPr/>
          <p:nvPr/>
        </p:nvSpPr>
        <p:spPr>
          <a:xfrm>
            <a:off x="7620000" y="1781175"/>
            <a:ext cx="4095750" cy="266700"/>
          </a:xfrm>
          <a:prstGeom prst="rect">
            <a:avLst/>
          </a:prstGeom>
          <a:solidFill>
            <a:srgbClr val="F0F4F8"/>
          </a:solidFill>
          <a:ln>
            <a:noFill/>
          </a:ln>
        </p:spPr>
      </p:sp>
      <p:sp>
        <p:nvSpPr>
          <p:cNvPr id="49" name="TextBox 49"/>
          <p:cNvSpPr txBox="1"/>
          <p:nvPr/>
        </p:nvSpPr>
        <p:spPr>
          <a:xfrm>
            <a:off x="7844564" y="1866424"/>
            <a:ext cx="1455872"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Segoe UI"/>
                <a:ea typeface="Microsoft YaHei"/>
                <a:cs typeface="Segoe UI"/>
              </a:rPr>
              <a:t>Group B: 微调+Direct</a:t>
            </a:r>
          </a:p>
        </p:txBody>
      </p:sp>
      <p:sp>
        <p:nvSpPr>
          <p:cNvPr id="50" name="TextBox 50"/>
          <p:cNvSpPr txBox="1"/>
          <p:nvPr/>
        </p:nvSpPr>
        <p:spPr>
          <a:xfrm>
            <a:off x="9786640" y="1858328"/>
            <a:ext cx="429220"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0.512</a:t>
            </a:r>
          </a:p>
        </p:txBody>
      </p:sp>
      <p:sp>
        <p:nvSpPr>
          <p:cNvPr id="51" name="TextBox 51"/>
          <p:cNvSpPr txBox="1"/>
          <p:nvPr/>
        </p:nvSpPr>
        <p:spPr>
          <a:xfrm>
            <a:off x="10909512" y="1858328"/>
            <a:ext cx="469475"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0.678</a:t>
            </a:r>
          </a:p>
        </p:txBody>
      </p:sp>
      <p:sp>
        <p:nvSpPr>
          <p:cNvPr id="52" name="Rectangle 52"/>
          <p:cNvSpPr/>
          <p:nvPr/>
        </p:nvSpPr>
        <p:spPr>
          <a:xfrm>
            <a:off x="7620000" y="2085975"/>
            <a:ext cx="4095750" cy="266700"/>
          </a:xfrm>
          <a:prstGeom prst="rect">
            <a:avLst/>
          </a:prstGeom>
          <a:solidFill>
            <a:srgbClr val="FFFFFF"/>
          </a:solidFill>
          <a:ln>
            <a:noFill/>
          </a:ln>
        </p:spPr>
      </p:sp>
      <p:sp>
        <p:nvSpPr>
          <p:cNvPr id="53" name="TextBox 53"/>
          <p:cNvSpPr txBox="1"/>
          <p:nvPr/>
        </p:nvSpPr>
        <p:spPr>
          <a:xfrm>
            <a:off x="7944243" y="2171224"/>
            <a:ext cx="1256514"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Segoe UI"/>
                <a:ea typeface="Microsoft YaHei"/>
                <a:cs typeface="Segoe UI"/>
              </a:rPr>
              <a:t>Group C: 基座+RAG</a:t>
            </a:r>
          </a:p>
        </p:txBody>
      </p:sp>
      <p:sp>
        <p:nvSpPr>
          <p:cNvPr id="54" name="TextBox 54"/>
          <p:cNvSpPr txBox="1"/>
          <p:nvPr/>
        </p:nvSpPr>
        <p:spPr>
          <a:xfrm>
            <a:off x="9766512" y="2163128"/>
            <a:ext cx="469475"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0.568</a:t>
            </a:r>
          </a:p>
        </p:txBody>
      </p:sp>
      <p:sp>
        <p:nvSpPr>
          <p:cNvPr id="55" name="TextBox 55"/>
          <p:cNvSpPr txBox="1"/>
          <p:nvPr/>
        </p:nvSpPr>
        <p:spPr>
          <a:xfrm>
            <a:off x="10909512" y="2163128"/>
            <a:ext cx="469475" cy="213360"/>
          </a:xfrm>
          <a:prstGeom prst="rect">
            <a:avLst/>
          </a:prstGeom>
          <a:noFill/>
          <a:ln>
            <a:noFill/>
          </a:ln>
        </p:spPr>
        <p:txBody>
          <a:bodyPr wrap="none" lIns="0" tIns="0" rIns="0" bIns="0" anchor="t" anchorCtr="0">
            <a:spAutoFit/>
          </a:bodyPr>
          <a:lstStyle/>
          <a:p>
            <a:pPr algn="ctr"/>
            <a:r>
              <a:rPr lang="zh-CN" sz="1050" b="1" dirty="0">
                <a:solidFill>
                  <a:srgbClr val="1A1A1A"/>
                </a:solidFill>
                <a:latin typeface="Arial"/>
                <a:ea typeface="Microsoft YaHei"/>
                <a:cs typeface="Arial"/>
              </a:rPr>
              <a:t>0.736</a:t>
            </a:r>
          </a:p>
        </p:txBody>
      </p:sp>
      <p:sp>
        <p:nvSpPr>
          <p:cNvPr id="56" name="Rectangle 56"/>
          <p:cNvSpPr/>
          <p:nvPr/>
        </p:nvSpPr>
        <p:spPr>
          <a:xfrm>
            <a:off x="7620000" y="2390775"/>
            <a:ext cx="4095750" cy="266700"/>
          </a:xfrm>
          <a:prstGeom prst="rect">
            <a:avLst/>
          </a:prstGeom>
          <a:solidFill>
            <a:srgbClr val="F0F4F8"/>
          </a:solidFill>
          <a:ln>
            <a:noFill/>
          </a:ln>
        </p:spPr>
      </p:sp>
      <p:sp>
        <p:nvSpPr>
          <p:cNvPr id="57" name="TextBox 57"/>
          <p:cNvSpPr txBox="1"/>
          <p:nvPr/>
        </p:nvSpPr>
        <p:spPr>
          <a:xfrm>
            <a:off x="7849904" y="2476024"/>
            <a:ext cx="1445193" cy="198120"/>
          </a:xfrm>
          <a:prstGeom prst="rect">
            <a:avLst/>
          </a:prstGeom>
          <a:noFill/>
          <a:ln>
            <a:noFill/>
          </a:ln>
        </p:spPr>
        <p:txBody>
          <a:bodyPr wrap="none" lIns="0" tIns="0" rIns="0" bIns="0" anchor="t" anchorCtr="0">
            <a:spAutoFit/>
          </a:bodyPr>
          <a:lstStyle/>
          <a:p>
            <a:pPr algn="ctr"/>
            <a:r>
              <a:rPr lang="zh-CN" sz="975" b="1" dirty="0">
                <a:solidFill>
                  <a:srgbClr val="E53935"/>
                </a:solidFill>
                <a:latin typeface="Segoe UI"/>
                <a:ea typeface="Microsoft YaHei"/>
                <a:cs typeface="Segoe UI"/>
              </a:rPr>
              <a:t>Group D: 微调+RAG ✓</a:t>
            </a:r>
          </a:p>
        </p:txBody>
      </p:sp>
      <p:sp>
        <p:nvSpPr>
          <p:cNvPr id="58" name="TextBox 58"/>
          <p:cNvSpPr txBox="1"/>
          <p:nvPr/>
        </p:nvSpPr>
        <p:spPr>
          <a:xfrm>
            <a:off x="9766512" y="2467928"/>
            <a:ext cx="469475" cy="213360"/>
          </a:xfrm>
          <a:prstGeom prst="rect">
            <a:avLst/>
          </a:prstGeom>
          <a:noFill/>
          <a:ln>
            <a:noFill/>
          </a:ln>
        </p:spPr>
        <p:txBody>
          <a:bodyPr wrap="none" lIns="0" tIns="0" rIns="0" bIns="0" anchor="t" anchorCtr="0">
            <a:spAutoFit/>
          </a:bodyPr>
          <a:lstStyle/>
          <a:p>
            <a:pPr algn="ctr"/>
            <a:r>
              <a:rPr lang="zh-CN" sz="1050" b="1" dirty="0">
                <a:solidFill>
                  <a:srgbClr val="E53935"/>
                </a:solidFill>
                <a:latin typeface="Arial"/>
                <a:ea typeface="Microsoft YaHei"/>
                <a:cs typeface="Arial"/>
              </a:rPr>
              <a:t>0.623</a:t>
            </a:r>
          </a:p>
        </p:txBody>
      </p:sp>
      <p:sp>
        <p:nvSpPr>
          <p:cNvPr id="59" name="TextBox 59"/>
          <p:cNvSpPr txBox="1"/>
          <p:nvPr/>
        </p:nvSpPr>
        <p:spPr>
          <a:xfrm>
            <a:off x="10909512" y="2467928"/>
            <a:ext cx="469475" cy="213360"/>
          </a:xfrm>
          <a:prstGeom prst="rect">
            <a:avLst/>
          </a:prstGeom>
          <a:noFill/>
          <a:ln>
            <a:noFill/>
          </a:ln>
        </p:spPr>
        <p:txBody>
          <a:bodyPr wrap="none" lIns="0" tIns="0" rIns="0" bIns="0" anchor="t" anchorCtr="0">
            <a:spAutoFit/>
          </a:bodyPr>
          <a:lstStyle/>
          <a:p>
            <a:pPr algn="ctr"/>
            <a:r>
              <a:rPr lang="zh-CN" sz="1050" b="1" dirty="0">
                <a:solidFill>
                  <a:srgbClr val="E53935"/>
                </a:solidFill>
                <a:latin typeface="Arial"/>
                <a:ea typeface="Microsoft YaHei"/>
                <a:cs typeface="Arial"/>
              </a:rPr>
              <a:t>0.785</a:t>
            </a:r>
          </a:p>
        </p:txBody>
      </p:sp>
      <p:sp>
        <p:nvSpPr>
          <p:cNvPr id="60" name="Rectangle 60"/>
          <p:cNvSpPr/>
          <p:nvPr/>
        </p:nvSpPr>
        <p:spPr>
          <a:xfrm>
            <a:off x="7524750" y="3905250"/>
            <a:ext cx="4286250" cy="1619250"/>
          </a:xfrm>
          <a:prstGeom prst="roundRect">
            <a:avLst>
              <a:gd name="adj" fmla="val 5882"/>
            </a:avLst>
          </a:prstGeom>
          <a:solidFill>
            <a:srgbClr val="F0F4F8"/>
          </a:solidFill>
          <a:ln>
            <a:noFill/>
          </a:ln>
        </p:spPr>
      </p:sp>
      <p:sp>
        <p:nvSpPr>
          <p:cNvPr id="61" name="TextBox 61"/>
          <p:cNvSpPr txBox="1"/>
          <p:nvPr/>
        </p:nvSpPr>
        <p:spPr>
          <a:xfrm>
            <a:off x="7700010" y="4061460"/>
            <a:ext cx="1833905"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Segoe UI"/>
                <a:ea typeface="Microsoft YaHei"/>
                <a:cs typeface="Segoe UI"/>
              </a:rPr>
              <a:t>人工评估得分 (1-5分)</a:t>
            </a:r>
          </a:p>
        </p:txBody>
      </p:sp>
      <p:sp>
        <p:nvSpPr>
          <p:cNvPr id="62" name="Rectangle 62"/>
          <p:cNvSpPr/>
          <p:nvPr/>
        </p:nvSpPr>
        <p:spPr>
          <a:xfrm>
            <a:off x="7620000" y="4381500"/>
            <a:ext cx="4095750" cy="266700"/>
          </a:xfrm>
          <a:prstGeom prst="roundRect">
            <a:avLst>
              <a:gd name="adj" fmla="val 14286"/>
            </a:avLst>
          </a:prstGeom>
          <a:solidFill>
            <a:srgbClr val="1A3A5C"/>
          </a:solidFill>
          <a:ln>
            <a:noFill/>
          </a:ln>
        </p:spPr>
      </p:sp>
      <p:sp>
        <p:nvSpPr>
          <p:cNvPr id="63" name="TextBox 63"/>
          <p:cNvSpPr txBox="1"/>
          <p:nvPr/>
        </p:nvSpPr>
        <p:spPr>
          <a:xfrm>
            <a:off x="8554402" y="4465320"/>
            <a:ext cx="417195"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Segoe UI"/>
                <a:ea typeface="Microsoft YaHei"/>
                <a:cs typeface="Segoe UI"/>
              </a:rPr>
              <a:t>实验组</a:t>
            </a:r>
          </a:p>
        </p:txBody>
      </p:sp>
      <p:sp>
        <p:nvSpPr>
          <p:cNvPr id="64" name="TextBox 64"/>
          <p:cNvSpPr txBox="1"/>
          <p:nvPr/>
        </p:nvSpPr>
        <p:spPr>
          <a:xfrm>
            <a:off x="9792652" y="4465320"/>
            <a:ext cx="417195"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Segoe UI"/>
                <a:ea typeface="Microsoft YaHei"/>
                <a:cs typeface="Segoe UI"/>
              </a:rPr>
              <a:t>准确性</a:t>
            </a:r>
          </a:p>
        </p:txBody>
      </p:sp>
      <p:sp>
        <p:nvSpPr>
          <p:cNvPr id="65" name="TextBox 65"/>
          <p:cNvSpPr txBox="1"/>
          <p:nvPr/>
        </p:nvSpPr>
        <p:spPr>
          <a:xfrm>
            <a:off x="10697528" y="4465320"/>
            <a:ext cx="417195"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Segoe UI"/>
                <a:ea typeface="Microsoft YaHei"/>
                <a:cs typeface="Segoe UI"/>
              </a:rPr>
              <a:t>流畅性</a:t>
            </a:r>
          </a:p>
        </p:txBody>
      </p:sp>
      <p:sp>
        <p:nvSpPr>
          <p:cNvPr id="66" name="TextBox 66"/>
          <p:cNvSpPr txBox="1"/>
          <p:nvPr/>
        </p:nvSpPr>
        <p:spPr>
          <a:xfrm>
            <a:off x="11602402" y="4465320"/>
            <a:ext cx="417195"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Segoe UI"/>
                <a:ea typeface="Microsoft YaHei"/>
                <a:cs typeface="Segoe UI"/>
              </a:rPr>
              <a:t>相关性</a:t>
            </a:r>
          </a:p>
        </p:txBody>
      </p:sp>
      <p:sp>
        <p:nvSpPr>
          <p:cNvPr id="67" name="TextBox 67"/>
          <p:cNvSpPr txBox="1"/>
          <p:nvPr/>
        </p:nvSpPr>
        <p:spPr>
          <a:xfrm>
            <a:off x="7608570" y="4712970"/>
            <a:ext cx="890397" cy="182880"/>
          </a:xfrm>
          <a:prstGeom prst="rect">
            <a:avLst/>
          </a:prstGeom>
          <a:noFill/>
          <a:ln>
            <a:noFill/>
          </a:ln>
        </p:spPr>
        <p:txBody>
          <a:bodyPr wrap="none" lIns="0" tIns="0" rIns="0" bIns="0" anchor="t" anchorCtr="0">
            <a:spAutoFit/>
          </a:bodyPr>
          <a:lstStyle/>
          <a:p>
            <a:pPr algn="l"/>
            <a:r>
              <a:rPr lang="zh-CN" sz="900" dirty="0">
                <a:solidFill>
                  <a:srgbClr val="1A1A1A"/>
                </a:solidFill>
                <a:latin typeface="Segoe UI"/>
                <a:ea typeface="Microsoft YaHei"/>
                <a:cs typeface="Segoe UI"/>
              </a:rPr>
              <a:t>组D: 微调+RAG</a:t>
            </a:r>
          </a:p>
        </p:txBody>
      </p:sp>
      <p:sp>
        <p:nvSpPr>
          <p:cNvPr id="68" name="TextBox 68"/>
          <p:cNvSpPr txBox="1"/>
          <p:nvPr/>
        </p:nvSpPr>
        <p:spPr>
          <a:xfrm>
            <a:off x="9843087" y="4704874"/>
            <a:ext cx="316326"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4.71</a:t>
            </a:r>
          </a:p>
        </p:txBody>
      </p:sp>
      <p:sp>
        <p:nvSpPr>
          <p:cNvPr id="69" name="TextBox 69"/>
          <p:cNvSpPr txBox="1"/>
          <p:nvPr/>
        </p:nvSpPr>
        <p:spPr>
          <a:xfrm>
            <a:off x="10729272" y="4704874"/>
            <a:ext cx="353706"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4.58</a:t>
            </a:r>
          </a:p>
        </p:txBody>
      </p:sp>
      <p:sp>
        <p:nvSpPr>
          <p:cNvPr id="70" name="TextBox 70"/>
          <p:cNvSpPr txBox="1"/>
          <p:nvPr/>
        </p:nvSpPr>
        <p:spPr>
          <a:xfrm>
            <a:off x="11634147" y="4704874"/>
            <a:ext cx="353706"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a:ea typeface="Microsoft YaHei"/>
                <a:cs typeface="Arial"/>
              </a:rPr>
              <a:t>4.60</a:t>
            </a:r>
          </a:p>
        </p:txBody>
      </p:sp>
      <p:sp>
        <p:nvSpPr>
          <p:cNvPr id="71" name="TextBox 71"/>
          <p:cNvSpPr txBox="1"/>
          <p:nvPr/>
        </p:nvSpPr>
        <p:spPr>
          <a:xfrm>
            <a:off x="7608570" y="4951095"/>
            <a:ext cx="890397" cy="182880"/>
          </a:xfrm>
          <a:prstGeom prst="rect">
            <a:avLst/>
          </a:prstGeom>
          <a:noFill/>
          <a:ln>
            <a:noFill/>
          </a:ln>
        </p:spPr>
        <p:txBody>
          <a:bodyPr wrap="none" lIns="0" tIns="0" rIns="0" bIns="0" anchor="t" anchorCtr="0">
            <a:spAutoFit/>
          </a:bodyPr>
          <a:lstStyle/>
          <a:p>
            <a:pPr algn="l"/>
            <a:r>
              <a:rPr lang="zh-CN" sz="900" dirty="0">
                <a:solidFill>
                  <a:srgbClr val="1A1A1A"/>
                </a:solidFill>
                <a:latin typeface="Segoe UI"/>
                <a:ea typeface="Microsoft YaHei"/>
                <a:cs typeface="Segoe UI"/>
              </a:rPr>
              <a:t>组C: 基座+RAG</a:t>
            </a:r>
          </a:p>
        </p:txBody>
      </p:sp>
      <p:sp>
        <p:nvSpPr>
          <p:cNvPr id="72" name="TextBox 72"/>
          <p:cNvSpPr txBox="1"/>
          <p:nvPr/>
        </p:nvSpPr>
        <p:spPr>
          <a:xfrm>
            <a:off x="9832229" y="4942999"/>
            <a:ext cx="338042"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Arial"/>
                <a:ea typeface="Microsoft YaHei"/>
                <a:cs typeface="Arial"/>
              </a:rPr>
              <a:t>4.02</a:t>
            </a:r>
          </a:p>
        </p:txBody>
      </p:sp>
      <p:sp>
        <p:nvSpPr>
          <p:cNvPr id="73" name="TextBox 73"/>
          <p:cNvSpPr txBox="1"/>
          <p:nvPr/>
        </p:nvSpPr>
        <p:spPr>
          <a:xfrm>
            <a:off x="10737104" y="4942999"/>
            <a:ext cx="338042"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Arial"/>
                <a:ea typeface="Microsoft YaHei"/>
                <a:cs typeface="Arial"/>
              </a:rPr>
              <a:t>4.23</a:t>
            </a:r>
          </a:p>
        </p:txBody>
      </p:sp>
      <p:sp>
        <p:nvSpPr>
          <p:cNvPr id="74" name="TextBox 74"/>
          <p:cNvSpPr txBox="1"/>
          <p:nvPr/>
        </p:nvSpPr>
        <p:spPr>
          <a:xfrm>
            <a:off x="11641979" y="4942999"/>
            <a:ext cx="338042"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Arial"/>
                <a:ea typeface="Microsoft YaHei"/>
                <a:cs typeface="Arial"/>
              </a:rPr>
              <a:t>4.20</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0"/>
          </a:xfrm>
          <a:prstGeom prst="rect">
            <a:avLst/>
          </a:prstGeom>
          <a:solidFill>
            <a:srgbClr val="1A3A5C"/>
          </a:solidFill>
          <a:ln>
            <a:noFill/>
          </a:ln>
        </p:spPr>
      </p:sp>
      <p:sp>
        <p:nvSpPr>
          <p:cNvPr id="4" name="TextBox 4"/>
          <p:cNvSpPr txBox="1"/>
          <p:nvPr/>
        </p:nvSpPr>
        <p:spPr>
          <a:xfrm>
            <a:off x="548640" y="300990"/>
            <a:ext cx="4503677"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三、系统设计与结果分析 — 实验分析</a:t>
            </a:r>
          </a:p>
        </p:txBody>
      </p:sp>
      <p:sp>
        <p:nvSpPr>
          <p:cNvPr id="5" name="TextBox 5"/>
          <p:cNvSpPr txBox="1"/>
          <p:nvPr/>
        </p:nvSpPr>
        <p:spPr>
          <a:xfrm>
            <a:off x="11456289" y="365760"/>
            <a:ext cx="179451" cy="243840"/>
          </a:xfrm>
          <a:prstGeom prst="rect">
            <a:avLst/>
          </a:prstGeom>
          <a:noFill/>
          <a:ln>
            <a:noFill/>
          </a:ln>
        </p:spPr>
        <p:txBody>
          <a:bodyPr wrap="none" lIns="0" tIns="0" rIns="0" bIns="0" anchor="t" anchorCtr="0">
            <a:spAutoFit/>
          </a:bodyPr>
          <a:lstStyle/>
          <a:p>
            <a:pPr algn="r"/>
            <a:r>
              <a:rPr lang="zh-CN" sz="1200" dirty="0">
                <a:solidFill>
                  <a:srgbClr val="99B3CC">
                    <a:alphaMod val="80000"/>
                  </a:srgbClr>
                </a:solidFill>
                <a:latin typeface="Arial"/>
                <a:ea typeface="Microsoft YaHei"/>
                <a:cs typeface="Arial"/>
              </a:rPr>
              <a:t>10</a:t>
            </a:r>
          </a:p>
        </p:txBody>
      </p:sp>
      <p:sp>
        <p:nvSpPr>
          <p:cNvPr id="6" name="Rectangle 6"/>
          <p:cNvSpPr/>
          <p:nvPr/>
        </p:nvSpPr>
        <p:spPr>
          <a:xfrm>
            <a:off x="571500" y="1047750"/>
            <a:ext cx="5334000" cy="2190750"/>
          </a:xfrm>
          <a:prstGeom prst="roundRect">
            <a:avLst>
              <a:gd name="adj" fmla="val 4348"/>
            </a:avLst>
          </a:prstGeom>
          <a:solidFill>
            <a:srgbClr val="F0F4F8"/>
          </a:solidFill>
          <a:ln>
            <a:noFill/>
          </a:ln>
        </p:spPr>
      </p:sp>
      <p:sp>
        <p:nvSpPr>
          <p:cNvPr id="7" name="Rectangle 7"/>
          <p:cNvSpPr/>
          <p:nvPr/>
        </p:nvSpPr>
        <p:spPr>
          <a:xfrm>
            <a:off x="571500" y="1047750"/>
            <a:ext cx="5334000" cy="38100"/>
          </a:xfrm>
          <a:prstGeom prst="roundRect">
            <a:avLst>
              <a:gd name="adj" fmla="val 50000"/>
            </a:avLst>
          </a:prstGeom>
          <a:solidFill>
            <a:srgbClr val="2B7BD6"/>
          </a:solidFill>
          <a:ln>
            <a:noFill/>
          </a:ln>
        </p:spPr>
      </p:sp>
      <p:sp>
        <p:nvSpPr>
          <p:cNvPr id="8" name="TextBox 8"/>
          <p:cNvSpPr txBox="1"/>
          <p:nvPr/>
        </p:nvSpPr>
        <p:spPr>
          <a:xfrm>
            <a:off x="744855" y="1235392"/>
            <a:ext cx="1555930" cy="274320"/>
          </a:xfrm>
          <a:prstGeom prst="rect">
            <a:avLst/>
          </a:prstGeom>
          <a:noFill/>
          <a:ln>
            <a:noFill/>
          </a:ln>
        </p:spPr>
        <p:txBody>
          <a:bodyPr wrap="none" lIns="0" tIns="0" rIns="0" bIns="0" anchor="t" anchorCtr="0">
            <a:spAutoFit/>
          </a:bodyPr>
          <a:lstStyle/>
          <a:p>
            <a:pPr algn="l"/>
            <a:r>
              <a:rPr lang="zh-CN" sz="1350" b="1" dirty="0">
                <a:solidFill>
                  <a:srgbClr val="2B7BD6"/>
                </a:solidFill>
                <a:latin typeface="Segoe UI"/>
                <a:ea typeface="Microsoft YaHei"/>
                <a:cs typeface="Segoe UI"/>
              </a:rPr>
              <a:t>(1) RAG效果分析</a:t>
            </a:r>
          </a:p>
        </p:txBody>
      </p:sp>
      <p:sp>
        <p:nvSpPr>
          <p:cNvPr id="9" name="TextBox 9"/>
          <p:cNvSpPr txBox="1"/>
          <p:nvPr/>
        </p:nvSpPr>
        <p:spPr>
          <a:xfrm>
            <a:off x="748665" y="1601152"/>
            <a:ext cx="2426637"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使用RAG检索增强</a:t>
            </a:r>
            <a:r>
              <a:rPr lang="zh-CN" sz="1050" b="1" dirty="0">
                <a:solidFill>
                  <a:srgbClr val="2E7D32"/>
                </a:solidFill>
                <a:latin typeface="Segoe UI"/>
                <a:ea typeface="Microsoft YaHei"/>
                <a:cs typeface="Segoe UI"/>
              </a:rPr>
              <a:t>显著提升</a:t>
            </a:r>
            <a:r>
              <a:rPr lang="zh-CN" sz="1050" dirty="0">
                <a:solidFill>
                  <a:srgbClr val="555555"/>
                </a:solidFill>
                <a:latin typeface="Segoe UI"/>
                <a:ea typeface="Microsoft YaHei"/>
                <a:cs typeface="Segoe UI"/>
              </a:rPr>
              <a:t>回答质量</a:t>
            </a:r>
          </a:p>
        </p:txBody>
      </p:sp>
      <p:sp>
        <p:nvSpPr>
          <p:cNvPr id="10" name="TextBox 10"/>
          <p:cNvSpPr txBox="1"/>
          <p:nvPr/>
        </p:nvSpPr>
        <p:spPr>
          <a:xfrm>
            <a:off x="748665" y="1867852"/>
            <a:ext cx="3323749"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Group A (基座+Direct) → Group C (基座+RAG):</a:t>
            </a:r>
          </a:p>
        </p:txBody>
      </p:sp>
      <p:sp>
        <p:nvSpPr>
          <p:cNvPr id="11" name="TextBox 11"/>
          <p:cNvSpPr txBox="1"/>
          <p:nvPr/>
        </p:nvSpPr>
        <p:spPr>
          <a:xfrm>
            <a:off x="748665" y="2105978"/>
            <a:ext cx="2066258"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BLEU: 0.423 → 0.568</a:t>
            </a:r>
            <a:r>
              <a:rPr lang="zh-CN" sz="1050" b="1" dirty="0">
                <a:solidFill>
                  <a:srgbClr val="2B7BD6"/>
                </a:solidFill>
                <a:latin typeface="Segoe UI"/>
                <a:ea typeface="Microsoft YaHei"/>
                <a:cs typeface="Segoe UI"/>
              </a:rPr>
              <a:t> (+34%)</a:t>
            </a:r>
          </a:p>
        </p:txBody>
      </p:sp>
      <p:sp>
        <p:nvSpPr>
          <p:cNvPr id="12" name="TextBox 12"/>
          <p:cNvSpPr txBox="1"/>
          <p:nvPr/>
        </p:nvSpPr>
        <p:spPr>
          <a:xfrm>
            <a:off x="748665" y="2344102"/>
            <a:ext cx="2319290"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Rouge-L: 0.594 → 0.736</a:t>
            </a:r>
            <a:r>
              <a:rPr lang="zh-CN" sz="1050" b="1" dirty="0">
                <a:solidFill>
                  <a:srgbClr val="2B7BD6"/>
                </a:solidFill>
                <a:latin typeface="Segoe UI"/>
                <a:ea typeface="Microsoft YaHei"/>
                <a:cs typeface="Segoe UI"/>
              </a:rPr>
              <a:t> (+24%)</a:t>
            </a:r>
          </a:p>
        </p:txBody>
      </p:sp>
      <p:sp>
        <p:nvSpPr>
          <p:cNvPr id="13" name="TextBox 13"/>
          <p:cNvSpPr txBox="1"/>
          <p:nvPr/>
        </p:nvSpPr>
        <p:spPr>
          <a:xfrm>
            <a:off x="749618" y="2656999"/>
            <a:ext cx="4154329" cy="198120"/>
          </a:xfrm>
          <a:prstGeom prst="rect">
            <a:avLst/>
          </a:prstGeom>
          <a:noFill/>
          <a:ln>
            <a:noFill/>
          </a:ln>
        </p:spPr>
        <p:txBody>
          <a:bodyPr wrap="none" lIns="0" tIns="0" rIns="0" bIns="0" anchor="t" anchorCtr="0">
            <a:spAutoFit/>
          </a:bodyPr>
          <a:lstStyle/>
          <a:p>
            <a:pPr algn="l"/>
            <a:r>
              <a:rPr lang="zh-CN" sz="975" dirty="0">
                <a:solidFill>
                  <a:srgbClr val="888888"/>
                </a:solidFill>
                <a:latin typeface="Segoe UI"/>
                <a:ea typeface="Microsoft YaHei"/>
                <a:cs typeface="Segoe UI"/>
              </a:rPr>
              <a:t>检索到的法律文档为大模型提供了准确的参考信息，有效减少幻觉</a:t>
            </a:r>
          </a:p>
        </p:txBody>
      </p:sp>
      <p:sp>
        <p:nvSpPr>
          <p:cNvPr id="14" name="Rectangle 14"/>
          <p:cNvSpPr/>
          <p:nvPr/>
        </p:nvSpPr>
        <p:spPr>
          <a:xfrm>
            <a:off x="6286500" y="1047750"/>
            <a:ext cx="5334000" cy="2190750"/>
          </a:xfrm>
          <a:prstGeom prst="roundRect">
            <a:avLst>
              <a:gd name="adj" fmla="val 4348"/>
            </a:avLst>
          </a:prstGeom>
          <a:solidFill>
            <a:srgbClr val="F0F4F8"/>
          </a:solidFill>
          <a:ln>
            <a:noFill/>
          </a:ln>
        </p:spPr>
      </p:sp>
      <p:sp>
        <p:nvSpPr>
          <p:cNvPr id="15" name="Rectangle 15"/>
          <p:cNvSpPr/>
          <p:nvPr/>
        </p:nvSpPr>
        <p:spPr>
          <a:xfrm>
            <a:off x="6286500" y="1047750"/>
            <a:ext cx="5334000" cy="38100"/>
          </a:xfrm>
          <a:prstGeom prst="roundRect">
            <a:avLst>
              <a:gd name="adj" fmla="val 50000"/>
            </a:avLst>
          </a:prstGeom>
          <a:solidFill>
            <a:srgbClr val="2E7D32"/>
          </a:solidFill>
          <a:ln>
            <a:noFill/>
          </a:ln>
        </p:spPr>
      </p:sp>
      <p:sp>
        <p:nvSpPr>
          <p:cNvPr id="16" name="TextBox 16"/>
          <p:cNvSpPr txBox="1"/>
          <p:nvPr/>
        </p:nvSpPr>
        <p:spPr>
          <a:xfrm>
            <a:off x="6459855" y="1235392"/>
            <a:ext cx="1680146" cy="274320"/>
          </a:xfrm>
          <a:prstGeom prst="rect">
            <a:avLst/>
          </a:prstGeom>
          <a:noFill/>
          <a:ln>
            <a:noFill/>
          </a:ln>
        </p:spPr>
        <p:txBody>
          <a:bodyPr wrap="none" lIns="0" tIns="0" rIns="0" bIns="0" anchor="t" anchorCtr="0">
            <a:spAutoFit/>
          </a:bodyPr>
          <a:lstStyle/>
          <a:p>
            <a:pPr algn="l"/>
            <a:r>
              <a:rPr lang="zh-CN" sz="1350" b="1" dirty="0">
                <a:solidFill>
                  <a:srgbClr val="2E7D32"/>
                </a:solidFill>
                <a:latin typeface="Segoe UI"/>
                <a:ea typeface="Microsoft YaHei"/>
                <a:cs typeface="Segoe UI"/>
              </a:rPr>
              <a:t>(2) 微调效果分析</a:t>
            </a:r>
          </a:p>
        </p:txBody>
      </p:sp>
      <p:sp>
        <p:nvSpPr>
          <p:cNvPr id="17" name="TextBox 17"/>
          <p:cNvSpPr txBox="1"/>
          <p:nvPr/>
        </p:nvSpPr>
        <p:spPr>
          <a:xfrm>
            <a:off x="6463665" y="1601152"/>
            <a:ext cx="2625995"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QLoRA微调</a:t>
            </a:r>
            <a:r>
              <a:rPr lang="zh-CN" sz="1050" b="1" dirty="0">
                <a:solidFill>
                  <a:srgbClr val="2E7D32"/>
                </a:solidFill>
                <a:latin typeface="Segoe UI"/>
                <a:ea typeface="Microsoft YaHei"/>
                <a:cs typeface="Segoe UI"/>
              </a:rPr>
              <a:t>有效提升</a:t>
            </a:r>
            <a:r>
              <a:rPr lang="zh-CN" sz="1050" dirty="0">
                <a:solidFill>
                  <a:srgbClr val="555555"/>
                </a:solidFill>
                <a:latin typeface="Segoe UI"/>
                <a:ea typeface="Microsoft YaHei"/>
                <a:cs typeface="Segoe UI"/>
              </a:rPr>
              <a:t>模型领域适配能力</a:t>
            </a:r>
          </a:p>
        </p:txBody>
      </p:sp>
      <p:sp>
        <p:nvSpPr>
          <p:cNvPr id="18" name="TextBox 18"/>
          <p:cNvSpPr txBox="1"/>
          <p:nvPr/>
        </p:nvSpPr>
        <p:spPr>
          <a:xfrm>
            <a:off x="6463665" y="1867852"/>
            <a:ext cx="2787015"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Group A (基座) → Group B (微调) 对比:</a:t>
            </a:r>
          </a:p>
        </p:txBody>
      </p:sp>
      <p:sp>
        <p:nvSpPr>
          <p:cNvPr id="19" name="TextBox 19"/>
          <p:cNvSpPr txBox="1"/>
          <p:nvPr/>
        </p:nvSpPr>
        <p:spPr>
          <a:xfrm>
            <a:off x="6463665" y="2105978"/>
            <a:ext cx="1989582"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BLEU: 0.423 → 0.512</a:t>
            </a:r>
            <a:r>
              <a:rPr lang="zh-CN" sz="1050" b="1" dirty="0">
                <a:solidFill>
                  <a:srgbClr val="2E7D32"/>
                </a:solidFill>
                <a:latin typeface="Segoe UI"/>
                <a:ea typeface="Microsoft YaHei"/>
                <a:cs typeface="Segoe UI"/>
              </a:rPr>
              <a:t> (+21%)</a:t>
            </a:r>
          </a:p>
        </p:txBody>
      </p:sp>
      <p:sp>
        <p:nvSpPr>
          <p:cNvPr id="20" name="TextBox 20"/>
          <p:cNvSpPr txBox="1"/>
          <p:nvPr/>
        </p:nvSpPr>
        <p:spPr>
          <a:xfrm>
            <a:off x="6463665" y="2344102"/>
            <a:ext cx="2280952"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Rouge-L: 0.594 → 0.678</a:t>
            </a:r>
            <a:r>
              <a:rPr lang="zh-CN" sz="1050" b="1" dirty="0">
                <a:solidFill>
                  <a:srgbClr val="2E7D32"/>
                </a:solidFill>
                <a:latin typeface="Segoe UI"/>
                <a:ea typeface="Microsoft YaHei"/>
                <a:cs typeface="Segoe UI"/>
              </a:rPr>
              <a:t> (+14%)</a:t>
            </a:r>
          </a:p>
        </p:txBody>
      </p:sp>
      <p:sp>
        <p:nvSpPr>
          <p:cNvPr id="21" name="TextBox 21"/>
          <p:cNvSpPr txBox="1"/>
          <p:nvPr/>
        </p:nvSpPr>
        <p:spPr>
          <a:xfrm>
            <a:off x="6464618" y="2656999"/>
            <a:ext cx="3727132" cy="198120"/>
          </a:xfrm>
          <a:prstGeom prst="rect">
            <a:avLst/>
          </a:prstGeom>
          <a:noFill/>
          <a:ln>
            <a:noFill/>
          </a:ln>
        </p:spPr>
        <p:txBody>
          <a:bodyPr wrap="none" lIns="0" tIns="0" rIns="0" bIns="0" anchor="t" anchorCtr="0">
            <a:spAutoFit/>
          </a:bodyPr>
          <a:lstStyle/>
          <a:p>
            <a:pPr algn="l"/>
            <a:r>
              <a:rPr lang="zh-CN" sz="975" dirty="0">
                <a:solidFill>
                  <a:srgbClr val="888888"/>
                </a:solidFill>
                <a:latin typeface="Segoe UI"/>
                <a:ea typeface="Microsoft YaHei"/>
                <a:cs typeface="Segoe UI"/>
              </a:rPr>
              <a:t>微调使模型更好地学习了劳动法领域的语言模式和知识结构</a:t>
            </a:r>
          </a:p>
        </p:txBody>
      </p:sp>
      <p:sp>
        <p:nvSpPr>
          <p:cNvPr id="22" name="Rectangle 22"/>
          <p:cNvSpPr/>
          <p:nvPr/>
        </p:nvSpPr>
        <p:spPr>
          <a:xfrm>
            <a:off x="571500" y="3476625"/>
            <a:ext cx="5334000" cy="1809750"/>
          </a:xfrm>
          <a:prstGeom prst="roundRect">
            <a:avLst>
              <a:gd name="adj" fmla="val 5263"/>
            </a:avLst>
          </a:prstGeom>
          <a:solidFill>
            <a:srgbClr val="F0F4F8"/>
          </a:solidFill>
          <a:ln>
            <a:noFill/>
          </a:ln>
        </p:spPr>
      </p:sp>
      <p:sp>
        <p:nvSpPr>
          <p:cNvPr id="23" name="Rectangle 23"/>
          <p:cNvSpPr/>
          <p:nvPr/>
        </p:nvSpPr>
        <p:spPr>
          <a:xfrm>
            <a:off x="571500" y="3476625"/>
            <a:ext cx="5334000" cy="38100"/>
          </a:xfrm>
          <a:prstGeom prst="roundRect">
            <a:avLst>
              <a:gd name="adj" fmla="val 50000"/>
            </a:avLst>
          </a:prstGeom>
          <a:solidFill>
            <a:srgbClr val="E53935"/>
          </a:solidFill>
          <a:ln>
            <a:noFill/>
          </a:ln>
        </p:spPr>
      </p:sp>
      <p:sp>
        <p:nvSpPr>
          <p:cNvPr id="24" name="TextBox 24"/>
          <p:cNvSpPr txBox="1"/>
          <p:nvPr/>
        </p:nvSpPr>
        <p:spPr>
          <a:xfrm>
            <a:off x="744855" y="3664268"/>
            <a:ext cx="1680146" cy="274320"/>
          </a:xfrm>
          <a:prstGeom prst="rect">
            <a:avLst/>
          </a:prstGeom>
          <a:noFill/>
          <a:ln>
            <a:noFill/>
          </a:ln>
        </p:spPr>
        <p:txBody>
          <a:bodyPr wrap="none" lIns="0" tIns="0" rIns="0" bIns="0" anchor="t" anchorCtr="0">
            <a:spAutoFit/>
          </a:bodyPr>
          <a:lstStyle/>
          <a:p>
            <a:pPr algn="l"/>
            <a:r>
              <a:rPr lang="zh-CN" sz="1350" b="1" dirty="0">
                <a:solidFill>
                  <a:srgbClr val="E53935"/>
                </a:solidFill>
                <a:latin typeface="Segoe UI"/>
                <a:ea typeface="Microsoft YaHei"/>
                <a:cs typeface="Segoe UI"/>
              </a:rPr>
              <a:t>(3) 组合效果分析</a:t>
            </a:r>
          </a:p>
        </p:txBody>
      </p:sp>
      <p:sp>
        <p:nvSpPr>
          <p:cNvPr id="25" name="TextBox 25"/>
          <p:cNvSpPr txBox="1"/>
          <p:nvPr/>
        </p:nvSpPr>
        <p:spPr>
          <a:xfrm>
            <a:off x="748665" y="4030028"/>
            <a:ext cx="2556986"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Group D (微调+RAG) 达到</a:t>
            </a:r>
            <a:r>
              <a:rPr lang="zh-CN" sz="1050" b="1" dirty="0">
                <a:solidFill>
                  <a:srgbClr val="E53935"/>
                </a:solidFill>
                <a:latin typeface="Segoe UI"/>
                <a:ea typeface="Microsoft YaHei"/>
                <a:cs typeface="Segoe UI"/>
              </a:rPr>
              <a:t>最优效果</a:t>
            </a:r>
            <a:r>
              <a:rPr lang="zh-CN" sz="1050" dirty="0">
                <a:solidFill>
                  <a:srgbClr val="555555"/>
                </a:solidFill>
                <a:latin typeface="Segoe UI"/>
                <a:ea typeface="Microsoft YaHei"/>
                <a:cs typeface="Segoe UI"/>
              </a:rPr>
              <a:t>：</a:t>
            </a:r>
          </a:p>
        </p:txBody>
      </p:sp>
      <p:sp>
        <p:nvSpPr>
          <p:cNvPr id="26" name="TextBox 26"/>
          <p:cNvSpPr txBox="1"/>
          <p:nvPr/>
        </p:nvSpPr>
        <p:spPr>
          <a:xfrm>
            <a:off x="748665" y="4268152"/>
            <a:ext cx="3155061"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BLEU=0.623 (vs基座+Direct的0.423, </a:t>
            </a:r>
            <a:r>
              <a:rPr lang="zh-CN" sz="1050" b="1" dirty="0">
                <a:solidFill>
                  <a:srgbClr val="E53935"/>
                </a:solidFill>
                <a:latin typeface="Segoe UI"/>
                <a:ea typeface="Microsoft YaHei"/>
                <a:cs typeface="Segoe UI"/>
              </a:rPr>
              <a:t>+47%</a:t>
            </a:r>
            <a:r>
              <a:rPr lang="zh-CN" sz="1050" dirty="0">
                <a:solidFill>
                  <a:srgbClr val="555555"/>
                </a:solidFill>
                <a:latin typeface="Segoe UI"/>
                <a:ea typeface="Microsoft YaHei"/>
                <a:cs typeface="Segoe UI"/>
              </a:rPr>
              <a:t>)</a:t>
            </a:r>
          </a:p>
        </p:txBody>
      </p:sp>
      <p:sp>
        <p:nvSpPr>
          <p:cNvPr id="27" name="TextBox 27"/>
          <p:cNvSpPr txBox="1"/>
          <p:nvPr/>
        </p:nvSpPr>
        <p:spPr>
          <a:xfrm>
            <a:off x="748665" y="4506278"/>
            <a:ext cx="3408093"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Rouge-L=0.785 (vs基座+Direct的0.594, </a:t>
            </a:r>
            <a:r>
              <a:rPr lang="zh-CN" sz="1050" b="1" dirty="0">
                <a:solidFill>
                  <a:srgbClr val="E53935"/>
                </a:solidFill>
                <a:latin typeface="Segoe UI"/>
                <a:ea typeface="Microsoft YaHei"/>
                <a:cs typeface="Segoe UI"/>
              </a:rPr>
              <a:t>+32%</a:t>
            </a:r>
            <a:r>
              <a:rPr lang="zh-CN" sz="1050" dirty="0">
                <a:solidFill>
                  <a:srgbClr val="555555"/>
                </a:solidFill>
                <a:latin typeface="Segoe UI"/>
                <a:ea typeface="Microsoft YaHei"/>
                <a:cs typeface="Segoe UI"/>
              </a:rPr>
              <a:t>)</a:t>
            </a:r>
          </a:p>
        </p:txBody>
      </p:sp>
      <p:sp>
        <p:nvSpPr>
          <p:cNvPr id="28" name="TextBox 28"/>
          <p:cNvSpPr txBox="1"/>
          <p:nvPr/>
        </p:nvSpPr>
        <p:spPr>
          <a:xfrm>
            <a:off x="749618" y="4800124"/>
            <a:ext cx="3299936" cy="198120"/>
          </a:xfrm>
          <a:prstGeom prst="rect">
            <a:avLst/>
          </a:prstGeom>
          <a:noFill/>
          <a:ln>
            <a:noFill/>
          </a:ln>
        </p:spPr>
        <p:txBody>
          <a:bodyPr wrap="none" lIns="0" tIns="0" rIns="0" bIns="0" anchor="t" anchorCtr="0">
            <a:spAutoFit/>
          </a:bodyPr>
          <a:lstStyle/>
          <a:p>
            <a:pPr algn="l"/>
            <a:r>
              <a:rPr lang="zh-CN" sz="975" dirty="0">
                <a:solidFill>
                  <a:srgbClr val="888888"/>
                </a:solidFill>
                <a:latin typeface="Segoe UI"/>
                <a:ea typeface="Microsoft YaHei"/>
                <a:cs typeface="Segoe UI"/>
              </a:rPr>
              <a:t>体现了</a:t>
            </a:r>
            <a:r>
              <a:rPr lang="zh-CN" sz="975" b="1" dirty="0">
                <a:solidFill>
                  <a:srgbClr val="888888"/>
                </a:solidFill>
                <a:latin typeface="Segoe UI"/>
                <a:ea typeface="Microsoft YaHei"/>
                <a:cs typeface="Segoe UI"/>
              </a:rPr>
              <a:t>领域适配(微调) + 知识检索(RAG)</a:t>
            </a:r>
            <a:r>
              <a:rPr lang="zh-CN" sz="975" dirty="0">
                <a:solidFill>
                  <a:srgbClr val="888888"/>
                </a:solidFill>
                <a:latin typeface="Segoe UI"/>
                <a:ea typeface="Microsoft YaHei"/>
                <a:cs typeface="Segoe UI"/>
              </a:rPr>
              <a:t>的协同作用</a:t>
            </a:r>
          </a:p>
        </p:txBody>
      </p:sp>
      <p:sp>
        <p:nvSpPr>
          <p:cNvPr id="29" name="Rectangle 29"/>
          <p:cNvSpPr/>
          <p:nvPr/>
        </p:nvSpPr>
        <p:spPr>
          <a:xfrm>
            <a:off x="6286500" y="3476625"/>
            <a:ext cx="5334000" cy="1809750"/>
          </a:xfrm>
          <a:prstGeom prst="roundRect">
            <a:avLst>
              <a:gd name="adj" fmla="val 5263"/>
            </a:avLst>
          </a:prstGeom>
          <a:solidFill>
            <a:srgbClr val="F0F4F8"/>
          </a:solidFill>
          <a:ln>
            <a:noFill/>
          </a:ln>
        </p:spPr>
      </p:sp>
      <p:sp>
        <p:nvSpPr>
          <p:cNvPr id="30" name="Rectangle 30"/>
          <p:cNvSpPr/>
          <p:nvPr/>
        </p:nvSpPr>
        <p:spPr>
          <a:xfrm>
            <a:off x="6286500" y="3476625"/>
            <a:ext cx="5334000" cy="38100"/>
          </a:xfrm>
          <a:prstGeom prst="roundRect">
            <a:avLst>
              <a:gd name="adj" fmla="val 50000"/>
            </a:avLst>
          </a:prstGeom>
          <a:solidFill>
            <a:srgbClr val="1A3A5C"/>
          </a:solidFill>
          <a:ln>
            <a:noFill/>
          </a:ln>
        </p:spPr>
      </p:sp>
      <p:sp>
        <p:nvSpPr>
          <p:cNvPr id="31" name="TextBox 31"/>
          <p:cNvSpPr txBox="1"/>
          <p:nvPr/>
        </p:nvSpPr>
        <p:spPr>
          <a:xfrm>
            <a:off x="6459855" y="3664268"/>
            <a:ext cx="1266094"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Segoe UI"/>
                <a:ea typeface="Microsoft YaHei"/>
                <a:cs typeface="Segoe UI"/>
              </a:rPr>
              <a:t>(4) 误差分析</a:t>
            </a:r>
          </a:p>
        </p:txBody>
      </p:sp>
      <p:sp>
        <p:nvSpPr>
          <p:cNvPr id="32" name="TextBox 32"/>
          <p:cNvSpPr txBox="1"/>
          <p:nvPr/>
        </p:nvSpPr>
        <p:spPr>
          <a:xfrm>
            <a:off x="6463665" y="4030028"/>
            <a:ext cx="2173605"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系统在以下场景可能表现不佳：</a:t>
            </a:r>
          </a:p>
        </p:txBody>
      </p:sp>
      <p:sp>
        <p:nvSpPr>
          <p:cNvPr id="33" name="TextBox 33"/>
          <p:cNvSpPr txBox="1"/>
          <p:nvPr/>
        </p:nvSpPr>
        <p:spPr>
          <a:xfrm>
            <a:off x="6463665" y="4268152"/>
            <a:ext cx="1843897"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 问题超出知识库覆盖范围</a:t>
            </a:r>
          </a:p>
        </p:txBody>
      </p:sp>
      <p:sp>
        <p:nvSpPr>
          <p:cNvPr id="34" name="TextBox 34"/>
          <p:cNvSpPr txBox="1"/>
          <p:nvPr/>
        </p:nvSpPr>
        <p:spPr>
          <a:xfrm>
            <a:off x="6463665" y="4506278"/>
            <a:ext cx="2150602"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 用户使用非法律专业术语提问</a:t>
            </a:r>
          </a:p>
        </p:txBody>
      </p:sp>
      <p:sp>
        <p:nvSpPr>
          <p:cNvPr id="35" name="TextBox 35"/>
          <p:cNvSpPr txBox="1"/>
          <p:nvPr/>
        </p:nvSpPr>
        <p:spPr>
          <a:xfrm>
            <a:off x="6463665" y="4744402"/>
            <a:ext cx="2457307" cy="213360"/>
          </a:xfrm>
          <a:prstGeom prst="rect">
            <a:avLst/>
          </a:prstGeom>
          <a:noFill/>
          <a:ln>
            <a:noFill/>
          </a:ln>
        </p:spPr>
        <p:txBody>
          <a:bodyPr wrap="none" lIns="0" tIns="0" rIns="0" bIns="0" anchor="t" anchorCtr="0">
            <a:spAutoFit/>
          </a:bodyPr>
          <a:lstStyle/>
          <a:p>
            <a:pPr algn="l"/>
            <a:r>
              <a:rPr lang="zh-CN" sz="1050" dirty="0">
                <a:solidFill>
                  <a:srgbClr val="555555"/>
                </a:solidFill>
                <a:latin typeface="Segoe UI"/>
                <a:ea typeface="Microsoft YaHei"/>
                <a:cs typeface="Segoe UI"/>
              </a:rPr>
              <a:t>▸ 检索模块未能召回最相关文档片段</a:t>
            </a:r>
          </a:p>
        </p:txBody>
      </p:sp>
      <p:sp>
        <p:nvSpPr>
          <p:cNvPr id="36" name="Rectangle 36"/>
          <p:cNvSpPr/>
          <p:nvPr/>
        </p:nvSpPr>
        <p:spPr>
          <a:xfrm>
            <a:off x="571500" y="5524500"/>
            <a:ext cx="11049000" cy="619125"/>
          </a:xfrm>
          <a:prstGeom prst="roundRect">
            <a:avLst>
              <a:gd name="adj" fmla="val 12308"/>
            </a:avLst>
          </a:prstGeom>
          <a:solidFill>
            <a:srgbClr val="1A3A5C"/>
          </a:solidFill>
          <a:ln>
            <a:noFill/>
          </a:ln>
        </p:spPr>
      </p:sp>
      <p:sp>
        <p:nvSpPr>
          <p:cNvPr id="37" name="TextBox 37"/>
          <p:cNvSpPr txBox="1"/>
          <p:nvPr/>
        </p:nvSpPr>
        <p:spPr>
          <a:xfrm>
            <a:off x="2823373" y="5712142"/>
            <a:ext cx="65452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a:ea typeface="Microsoft YaHei"/>
                <a:cs typeface="Segoe UI"/>
              </a:rPr>
              <a:t>结论：微调 + RAG 组合方案效果最优，BLEU提升47%，Rouge-L提升32%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0"/>
          </a:xfrm>
          <a:prstGeom prst="rect">
            <a:avLst/>
          </a:prstGeom>
          <a:solidFill>
            <a:srgbClr val="1A3A5C"/>
          </a:solidFill>
          <a:ln>
            <a:noFill/>
          </a:ln>
        </p:spPr>
      </p:sp>
      <p:sp>
        <p:nvSpPr>
          <p:cNvPr id="4" name="TextBox 4"/>
          <p:cNvSpPr txBox="1"/>
          <p:nvPr/>
        </p:nvSpPr>
        <p:spPr>
          <a:xfrm>
            <a:off x="548640" y="300990"/>
            <a:ext cx="2253996"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四、成员分工情况</a:t>
            </a:r>
          </a:p>
        </p:txBody>
      </p:sp>
      <p:sp>
        <p:nvSpPr>
          <p:cNvPr id="5" name="TextBox 5"/>
          <p:cNvSpPr txBox="1"/>
          <p:nvPr/>
        </p:nvSpPr>
        <p:spPr>
          <a:xfrm>
            <a:off x="11500104" y="365760"/>
            <a:ext cx="135636" cy="243840"/>
          </a:xfrm>
          <a:prstGeom prst="rect">
            <a:avLst/>
          </a:prstGeom>
          <a:noFill/>
          <a:ln>
            <a:noFill/>
          </a:ln>
        </p:spPr>
        <p:txBody>
          <a:bodyPr wrap="none" lIns="0" tIns="0" rIns="0" bIns="0" anchor="t" anchorCtr="0">
            <a:spAutoFit/>
          </a:bodyPr>
          <a:lstStyle/>
          <a:p>
            <a:pPr algn="r"/>
            <a:r>
              <a:rPr lang="zh-CN" sz="1200" dirty="0">
                <a:solidFill>
                  <a:srgbClr val="99B3CC">
                    <a:alphaMod val="80000"/>
                  </a:srgbClr>
                </a:solidFill>
                <a:latin typeface="Arial"/>
                <a:ea typeface="Microsoft YaHei"/>
                <a:cs typeface="Arial"/>
              </a:rPr>
              <a:t>11</a:t>
            </a:r>
          </a:p>
        </p:txBody>
      </p:sp>
      <p:sp>
        <p:nvSpPr>
          <p:cNvPr id="6" name="Rectangle 6"/>
          <p:cNvSpPr/>
          <p:nvPr/>
        </p:nvSpPr>
        <p:spPr>
          <a:xfrm>
            <a:off x="381000" y="1047750"/>
            <a:ext cx="2133600" cy="5334000"/>
          </a:xfrm>
          <a:prstGeom prst="roundRect">
            <a:avLst>
              <a:gd name="adj" fmla="val 5357"/>
            </a:avLst>
          </a:prstGeom>
          <a:solidFill>
            <a:srgbClr val="F0F4F8"/>
          </a:solidFill>
          <a:ln>
            <a:noFill/>
          </a:ln>
        </p:spPr>
      </p:sp>
      <p:sp>
        <p:nvSpPr>
          <p:cNvPr id="7" name="Rectangle 7"/>
          <p:cNvSpPr/>
          <p:nvPr/>
        </p:nvSpPr>
        <p:spPr>
          <a:xfrm>
            <a:off x="381000" y="1047750"/>
            <a:ext cx="2133600" cy="952500"/>
          </a:xfrm>
          <a:prstGeom prst="roundRect">
            <a:avLst>
              <a:gd name="adj" fmla="val 12000"/>
            </a:avLst>
          </a:prstGeom>
          <a:solidFill>
            <a:srgbClr val="1A3A5C"/>
          </a:solidFill>
          <a:ln>
            <a:noFill/>
          </a:ln>
        </p:spPr>
      </p:sp>
      <p:sp>
        <p:nvSpPr>
          <p:cNvPr id="8" name="Ellipse 8"/>
          <p:cNvSpPr/>
          <p:nvPr/>
        </p:nvSpPr>
        <p:spPr>
          <a:xfrm>
            <a:off x="1200150" y="1323975"/>
            <a:ext cx="495300" cy="495300"/>
          </a:xfrm>
          <a:prstGeom prst="ellipse">
            <a:avLst/>
          </a:prstGeom>
          <a:solidFill>
            <a:srgbClr val="FFFFFF">
              <a:alpha val="20000"/>
            </a:srgbClr>
          </a:solidFill>
          <a:ln>
            <a:noFill/>
          </a:ln>
        </p:spPr>
      </p:sp>
      <p:sp>
        <p:nvSpPr>
          <p:cNvPr id="9" name="TextBox 9"/>
          <p:cNvSpPr txBox="1"/>
          <p:nvPr/>
        </p:nvSpPr>
        <p:spPr>
          <a:xfrm>
            <a:off x="1388890" y="1469708"/>
            <a:ext cx="117819"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1</a:t>
            </a:r>
          </a:p>
        </p:txBody>
      </p:sp>
      <p:sp>
        <p:nvSpPr>
          <p:cNvPr id="10" name="TextBox 10"/>
          <p:cNvSpPr txBox="1"/>
          <p:nvPr/>
        </p:nvSpPr>
        <p:spPr>
          <a:xfrm>
            <a:off x="1083707" y="2028825"/>
            <a:ext cx="728186" cy="304800"/>
          </a:xfrm>
          <a:prstGeom prst="rect">
            <a:avLst/>
          </a:prstGeom>
          <a:noFill/>
          <a:ln>
            <a:noFill/>
          </a:ln>
        </p:spPr>
        <p:txBody>
          <a:bodyPr wrap="none" lIns="0" tIns="0" rIns="0" bIns="0" anchor="t" anchorCtr="0">
            <a:spAutoFit/>
          </a:bodyPr>
          <a:lstStyle/>
          <a:p>
            <a:pPr algn="ctr"/>
            <a:r>
              <a:rPr lang="zh-CN" sz="1500" b="1" dirty="0">
                <a:solidFill>
                  <a:srgbClr val="1A3A5C"/>
                </a:solidFill>
                <a:latin typeface="Segoe UI"/>
                <a:ea typeface="Microsoft YaHei"/>
                <a:cs typeface="Segoe UI"/>
              </a:rPr>
              <a:t>刘浩哲</a:t>
            </a:r>
          </a:p>
        </p:txBody>
      </p:sp>
      <p:sp>
        <p:nvSpPr>
          <p:cNvPr id="11" name="TextBox 11"/>
          <p:cNvSpPr txBox="1"/>
          <p:nvPr/>
        </p:nvSpPr>
        <p:spPr>
          <a:xfrm>
            <a:off x="1273445" y="2363152"/>
            <a:ext cx="348710" cy="213360"/>
          </a:xfrm>
          <a:prstGeom prst="rect">
            <a:avLst/>
          </a:prstGeom>
          <a:noFill/>
          <a:ln>
            <a:noFill/>
          </a:ln>
        </p:spPr>
        <p:txBody>
          <a:bodyPr wrap="none" lIns="0" tIns="0" rIns="0" bIns="0" anchor="t" anchorCtr="0">
            <a:spAutoFit/>
          </a:bodyPr>
          <a:lstStyle/>
          <a:p>
            <a:pPr algn="ctr"/>
            <a:r>
              <a:rPr lang="zh-CN" sz="1050" b="1" dirty="0">
                <a:solidFill>
                  <a:srgbClr val="E53935"/>
                </a:solidFill>
                <a:latin typeface="Segoe UI"/>
                <a:ea typeface="Microsoft YaHei"/>
                <a:cs typeface="Segoe UI"/>
              </a:rPr>
              <a:t>组长</a:t>
            </a:r>
          </a:p>
        </p:txBody>
      </p:sp>
      <p:sp>
        <p:nvSpPr>
          <p:cNvPr id="12" name="Rectangle 12"/>
          <p:cNvSpPr/>
          <p:nvPr/>
        </p:nvSpPr>
        <p:spPr>
          <a:xfrm>
            <a:off x="571500" y="2714625"/>
            <a:ext cx="1752600" cy="342900"/>
          </a:xfrm>
          <a:prstGeom prst="roundRect">
            <a:avLst>
              <a:gd name="adj" fmla="val 50000"/>
            </a:avLst>
          </a:prstGeom>
          <a:solidFill>
            <a:srgbClr val="2B7BD6"/>
          </a:solidFill>
          <a:ln>
            <a:noFill/>
          </a:ln>
        </p:spPr>
      </p:sp>
      <p:sp>
        <p:nvSpPr>
          <p:cNvPr id="13" name="TextBox 13"/>
          <p:cNvSpPr txBox="1"/>
          <p:nvPr/>
        </p:nvSpPr>
        <p:spPr>
          <a:xfrm>
            <a:off x="1280741" y="2813685"/>
            <a:ext cx="33411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22%</a:t>
            </a:r>
          </a:p>
        </p:txBody>
      </p:sp>
      <p:sp>
        <p:nvSpPr>
          <p:cNvPr id="14" name="TextBox 14"/>
          <p:cNvSpPr txBox="1"/>
          <p:nvPr/>
        </p:nvSpPr>
        <p:spPr>
          <a:xfrm>
            <a:off x="1008221" y="3228499"/>
            <a:ext cx="879157"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Segoe UI"/>
                <a:ea typeface="Microsoft YaHei"/>
                <a:cs typeface="Segoe UI"/>
              </a:rPr>
              <a:t>项目整体规划</a:t>
            </a:r>
          </a:p>
        </p:txBody>
      </p:sp>
      <p:sp>
        <p:nvSpPr>
          <p:cNvPr id="15" name="TextBox 15"/>
          <p:cNvSpPr txBox="1"/>
          <p:nvPr/>
        </p:nvSpPr>
        <p:spPr>
          <a:xfrm>
            <a:off x="1008221" y="3466624"/>
            <a:ext cx="879157"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Segoe UI"/>
                <a:ea typeface="Microsoft YaHei"/>
                <a:cs typeface="Segoe UI"/>
              </a:rPr>
              <a:t>系统架构设计</a:t>
            </a:r>
          </a:p>
        </p:txBody>
      </p:sp>
      <p:sp>
        <p:nvSpPr>
          <p:cNvPr id="16" name="TextBox 16"/>
          <p:cNvSpPr txBox="1"/>
          <p:nvPr/>
        </p:nvSpPr>
        <p:spPr>
          <a:xfrm>
            <a:off x="1008221" y="3704749"/>
            <a:ext cx="879157"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Segoe UI"/>
                <a:ea typeface="Microsoft YaHei"/>
                <a:cs typeface="Segoe UI"/>
              </a:rPr>
              <a:t>管道编排模块</a:t>
            </a:r>
          </a:p>
        </p:txBody>
      </p:sp>
      <p:sp>
        <p:nvSpPr>
          <p:cNvPr id="17" name="TextBox 17"/>
          <p:cNvSpPr txBox="1"/>
          <p:nvPr/>
        </p:nvSpPr>
        <p:spPr>
          <a:xfrm>
            <a:off x="1150620" y="3942874"/>
            <a:ext cx="594360"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Segoe UI"/>
                <a:ea typeface="Microsoft YaHei"/>
                <a:cs typeface="Segoe UI"/>
              </a:rPr>
              <a:t>论文统稿</a:t>
            </a:r>
          </a:p>
        </p:txBody>
      </p:sp>
      <p:sp>
        <p:nvSpPr>
          <p:cNvPr id="18" name="TextBox 18"/>
          <p:cNvSpPr txBox="1"/>
          <p:nvPr/>
        </p:nvSpPr>
        <p:spPr>
          <a:xfrm>
            <a:off x="1249061" y="4474845"/>
            <a:ext cx="397478" cy="182880"/>
          </a:xfrm>
          <a:prstGeom prst="rect">
            <a:avLst/>
          </a:prstGeom>
          <a:noFill/>
          <a:ln>
            <a:noFill/>
          </a:ln>
        </p:spPr>
        <p:txBody>
          <a:bodyPr wrap="none" lIns="0" tIns="0" rIns="0" bIns="0" anchor="t" anchorCtr="0">
            <a:spAutoFit/>
          </a:bodyPr>
          <a:lstStyle/>
          <a:p>
            <a:pPr algn="ctr"/>
            <a:r>
              <a:rPr lang="zh-CN" sz="900" dirty="0">
                <a:solidFill>
                  <a:srgbClr val="2E7D32"/>
                </a:solidFill>
                <a:latin typeface="Segoe UI"/>
                <a:ea typeface="Microsoft YaHei"/>
                <a:cs typeface="Segoe UI"/>
              </a:rPr>
              <a:t>✓ 完成</a:t>
            </a:r>
          </a:p>
        </p:txBody>
      </p:sp>
      <p:sp>
        <p:nvSpPr>
          <p:cNvPr id="19" name="Rectangle 19"/>
          <p:cNvSpPr/>
          <p:nvPr/>
        </p:nvSpPr>
        <p:spPr>
          <a:xfrm>
            <a:off x="2705100" y="1047750"/>
            <a:ext cx="2133600" cy="5334000"/>
          </a:xfrm>
          <a:prstGeom prst="roundRect">
            <a:avLst>
              <a:gd name="adj" fmla="val 5357"/>
            </a:avLst>
          </a:prstGeom>
          <a:solidFill>
            <a:srgbClr val="F0F4F8"/>
          </a:solidFill>
          <a:ln>
            <a:noFill/>
          </a:ln>
        </p:spPr>
      </p:sp>
      <p:sp>
        <p:nvSpPr>
          <p:cNvPr id="20" name="Rectangle 20"/>
          <p:cNvSpPr/>
          <p:nvPr/>
        </p:nvSpPr>
        <p:spPr>
          <a:xfrm>
            <a:off x="2705100" y="1047750"/>
            <a:ext cx="2133600" cy="952500"/>
          </a:xfrm>
          <a:prstGeom prst="roundRect">
            <a:avLst>
              <a:gd name="adj" fmla="val 12000"/>
            </a:avLst>
          </a:prstGeom>
          <a:solidFill>
            <a:srgbClr val="2B7BD6"/>
          </a:solidFill>
          <a:ln>
            <a:noFill/>
          </a:ln>
        </p:spPr>
      </p:sp>
      <p:sp>
        <p:nvSpPr>
          <p:cNvPr id="21" name="TextBox 21"/>
          <p:cNvSpPr txBox="1"/>
          <p:nvPr/>
        </p:nvSpPr>
        <p:spPr>
          <a:xfrm>
            <a:off x="3681361" y="1469708"/>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2</a:t>
            </a:r>
          </a:p>
        </p:txBody>
      </p:sp>
      <p:sp>
        <p:nvSpPr>
          <p:cNvPr id="22" name="TextBox 22"/>
          <p:cNvSpPr txBox="1"/>
          <p:nvPr/>
        </p:nvSpPr>
        <p:spPr>
          <a:xfrm>
            <a:off x="3407807" y="2028825"/>
            <a:ext cx="728186" cy="304800"/>
          </a:xfrm>
          <a:prstGeom prst="rect">
            <a:avLst/>
          </a:prstGeom>
          <a:noFill/>
          <a:ln>
            <a:noFill/>
          </a:ln>
        </p:spPr>
        <p:txBody>
          <a:bodyPr wrap="none" lIns="0" tIns="0" rIns="0" bIns="0" anchor="t" anchorCtr="0">
            <a:spAutoFit/>
          </a:bodyPr>
          <a:lstStyle/>
          <a:p>
            <a:pPr algn="ctr"/>
            <a:r>
              <a:rPr lang="zh-CN" sz="1500" b="1" dirty="0">
                <a:solidFill>
                  <a:srgbClr val="1A3A5C"/>
                </a:solidFill>
                <a:latin typeface="Segoe UI"/>
                <a:ea typeface="Microsoft YaHei"/>
                <a:cs typeface="Segoe UI"/>
              </a:rPr>
              <a:t>乔志恒</a:t>
            </a:r>
          </a:p>
        </p:txBody>
      </p:sp>
      <p:sp>
        <p:nvSpPr>
          <p:cNvPr id="23" name="TextBox 23"/>
          <p:cNvSpPr txBox="1"/>
          <p:nvPr/>
        </p:nvSpPr>
        <p:spPr>
          <a:xfrm>
            <a:off x="3605212" y="2363152"/>
            <a:ext cx="333375" cy="213360"/>
          </a:xfrm>
          <a:prstGeom prst="rect">
            <a:avLst/>
          </a:prstGeom>
          <a:noFill/>
          <a:ln>
            <a:noFill/>
          </a:ln>
        </p:spPr>
        <p:txBody>
          <a:bodyPr wrap="none" lIns="0" tIns="0" rIns="0" bIns="0" anchor="t" anchorCtr="0">
            <a:spAutoFit/>
          </a:bodyPr>
          <a:lstStyle/>
          <a:p>
            <a:pPr algn="ctr"/>
            <a:r>
              <a:rPr lang="zh-CN" sz="1050" dirty="0">
                <a:solidFill>
                  <a:srgbClr val="555555"/>
                </a:solidFill>
                <a:latin typeface="Segoe UI"/>
                <a:ea typeface="Microsoft YaHei"/>
                <a:cs typeface="Segoe UI"/>
              </a:rPr>
              <a:t>组员</a:t>
            </a:r>
          </a:p>
        </p:txBody>
      </p:sp>
      <p:sp>
        <p:nvSpPr>
          <p:cNvPr id="24" name="Rectangle 24"/>
          <p:cNvSpPr/>
          <p:nvPr/>
        </p:nvSpPr>
        <p:spPr>
          <a:xfrm>
            <a:off x="2895600" y="2714625"/>
            <a:ext cx="1752600" cy="342900"/>
          </a:xfrm>
          <a:prstGeom prst="roundRect">
            <a:avLst>
              <a:gd name="adj" fmla="val 50000"/>
            </a:avLst>
          </a:prstGeom>
          <a:solidFill>
            <a:srgbClr val="2B7BD6"/>
          </a:solidFill>
          <a:ln>
            <a:noFill/>
          </a:ln>
        </p:spPr>
      </p:sp>
      <p:sp>
        <p:nvSpPr>
          <p:cNvPr id="25" name="TextBox 25"/>
          <p:cNvSpPr txBox="1"/>
          <p:nvPr/>
        </p:nvSpPr>
        <p:spPr>
          <a:xfrm>
            <a:off x="3604841" y="2813685"/>
            <a:ext cx="33411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20%</a:t>
            </a:r>
          </a:p>
        </p:txBody>
      </p:sp>
      <p:sp>
        <p:nvSpPr>
          <p:cNvPr id="26" name="TextBox 26"/>
          <p:cNvSpPr txBox="1"/>
          <p:nvPr/>
        </p:nvSpPr>
        <p:spPr>
          <a:xfrm>
            <a:off x="3403521" y="3228499"/>
            <a:ext cx="736759"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Segoe UI"/>
                <a:ea typeface="Microsoft YaHei"/>
                <a:cs typeface="Segoe UI"/>
              </a:rPr>
              <a:t>知识库模块</a:t>
            </a:r>
          </a:p>
        </p:txBody>
      </p:sp>
      <p:sp>
        <p:nvSpPr>
          <p:cNvPr id="27" name="TextBox 27"/>
          <p:cNvSpPr txBox="1"/>
          <p:nvPr/>
        </p:nvSpPr>
        <p:spPr>
          <a:xfrm>
            <a:off x="3189922" y="3466624"/>
            <a:ext cx="1163955"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Segoe UI"/>
                <a:ea typeface="Microsoft YaHei"/>
                <a:cs typeface="Segoe UI"/>
              </a:rPr>
              <a:t>文档收集与预处理</a:t>
            </a:r>
          </a:p>
        </p:txBody>
      </p:sp>
      <p:sp>
        <p:nvSpPr>
          <p:cNvPr id="28" name="TextBox 28"/>
          <p:cNvSpPr txBox="1"/>
          <p:nvPr/>
        </p:nvSpPr>
        <p:spPr>
          <a:xfrm>
            <a:off x="3289602" y="3704749"/>
            <a:ext cx="964597"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Segoe UI"/>
                <a:ea typeface="Microsoft YaHei"/>
                <a:cs typeface="Segoe UI"/>
              </a:rPr>
              <a:t>ChromaDB部署</a:t>
            </a:r>
          </a:p>
        </p:txBody>
      </p:sp>
      <p:sp>
        <p:nvSpPr>
          <p:cNvPr id="29" name="TextBox 29"/>
          <p:cNvSpPr txBox="1"/>
          <p:nvPr/>
        </p:nvSpPr>
        <p:spPr>
          <a:xfrm>
            <a:off x="3573161" y="4474845"/>
            <a:ext cx="397478" cy="182880"/>
          </a:xfrm>
          <a:prstGeom prst="rect">
            <a:avLst/>
          </a:prstGeom>
          <a:noFill/>
          <a:ln>
            <a:noFill/>
          </a:ln>
        </p:spPr>
        <p:txBody>
          <a:bodyPr wrap="none" lIns="0" tIns="0" rIns="0" bIns="0" anchor="t" anchorCtr="0">
            <a:spAutoFit/>
          </a:bodyPr>
          <a:lstStyle/>
          <a:p>
            <a:pPr algn="ctr"/>
            <a:r>
              <a:rPr lang="zh-CN" sz="900" dirty="0">
                <a:solidFill>
                  <a:srgbClr val="2E7D32"/>
                </a:solidFill>
                <a:latin typeface="Segoe UI"/>
                <a:ea typeface="Microsoft YaHei"/>
                <a:cs typeface="Segoe UI"/>
              </a:rPr>
              <a:t>✓ 完成</a:t>
            </a:r>
          </a:p>
        </p:txBody>
      </p:sp>
      <p:sp>
        <p:nvSpPr>
          <p:cNvPr id="30" name="Rectangle 30"/>
          <p:cNvSpPr/>
          <p:nvPr/>
        </p:nvSpPr>
        <p:spPr>
          <a:xfrm>
            <a:off x="5029200" y="1047750"/>
            <a:ext cx="2133600" cy="5334000"/>
          </a:xfrm>
          <a:prstGeom prst="roundRect">
            <a:avLst>
              <a:gd name="adj" fmla="val 5357"/>
            </a:avLst>
          </a:prstGeom>
          <a:solidFill>
            <a:srgbClr val="F0F4F8"/>
          </a:solidFill>
          <a:ln>
            <a:noFill/>
          </a:ln>
        </p:spPr>
      </p:sp>
      <p:sp>
        <p:nvSpPr>
          <p:cNvPr id="31" name="Rectangle 31"/>
          <p:cNvSpPr/>
          <p:nvPr/>
        </p:nvSpPr>
        <p:spPr>
          <a:xfrm>
            <a:off x="5029200" y="1047750"/>
            <a:ext cx="2133600" cy="952500"/>
          </a:xfrm>
          <a:prstGeom prst="roundRect">
            <a:avLst>
              <a:gd name="adj" fmla="val 12000"/>
            </a:avLst>
          </a:prstGeom>
          <a:solidFill>
            <a:srgbClr val="1A3A5C"/>
          </a:solidFill>
          <a:ln>
            <a:noFill/>
          </a:ln>
        </p:spPr>
      </p:sp>
      <p:sp>
        <p:nvSpPr>
          <p:cNvPr id="32" name="TextBox 32"/>
          <p:cNvSpPr txBox="1"/>
          <p:nvPr/>
        </p:nvSpPr>
        <p:spPr>
          <a:xfrm>
            <a:off x="6005461" y="1469708"/>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3</a:t>
            </a:r>
          </a:p>
        </p:txBody>
      </p:sp>
      <p:sp>
        <p:nvSpPr>
          <p:cNvPr id="33" name="TextBox 33"/>
          <p:cNvSpPr txBox="1"/>
          <p:nvPr/>
        </p:nvSpPr>
        <p:spPr>
          <a:xfrm>
            <a:off x="5731907" y="2028825"/>
            <a:ext cx="728186" cy="304800"/>
          </a:xfrm>
          <a:prstGeom prst="rect">
            <a:avLst/>
          </a:prstGeom>
          <a:noFill/>
          <a:ln>
            <a:noFill/>
          </a:ln>
        </p:spPr>
        <p:txBody>
          <a:bodyPr wrap="none" lIns="0" tIns="0" rIns="0" bIns="0" anchor="t" anchorCtr="0">
            <a:spAutoFit/>
          </a:bodyPr>
          <a:lstStyle/>
          <a:p>
            <a:pPr algn="ctr"/>
            <a:r>
              <a:rPr lang="zh-CN" sz="1500" b="1" dirty="0">
                <a:solidFill>
                  <a:srgbClr val="1A3A5C"/>
                </a:solidFill>
                <a:latin typeface="Segoe UI"/>
                <a:ea typeface="Microsoft YaHei"/>
                <a:cs typeface="Segoe UI"/>
              </a:rPr>
              <a:t>李禹泽</a:t>
            </a:r>
          </a:p>
        </p:txBody>
      </p:sp>
      <p:sp>
        <p:nvSpPr>
          <p:cNvPr id="34" name="TextBox 34"/>
          <p:cNvSpPr txBox="1"/>
          <p:nvPr/>
        </p:nvSpPr>
        <p:spPr>
          <a:xfrm>
            <a:off x="5929312" y="2363152"/>
            <a:ext cx="333375" cy="213360"/>
          </a:xfrm>
          <a:prstGeom prst="rect">
            <a:avLst/>
          </a:prstGeom>
          <a:noFill/>
          <a:ln>
            <a:noFill/>
          </a:ln>
        </p:spPr>
        <p:txBody>
          <a:bodyPr wrap="none" lIns="0" tIns="0" rIns="0" bIns="0" anchor="t" anchorCtr="0">
            <a:spAutoFit/>
          </a:bodyPr>
          <a:lstStyle/>
          <a:p>
            <a:pPr algn="ctr"/>
            <a:r>
              <a:rPr lang="zh-CN" sz="1050" dirty="0">
                <a:solidFill>
                  <a:srgbClr val="555555"/>
                </a:solidFill>
                <a:latin typeface="Segoe UI"/>
                <a:ea typeface="Microsoft YaHei"/>
                <a:cs typeface="Segoe UI"/>
              </a:rPr>
              <a:t>组员</a:t>
            </a:r>
          </a:p>
        </p:txBody>
      </p:sp>
      <p:sp>
        <p:nvSpPr>
          <p:cNvPr id="35" name="Rectangle 35"/>
          <p:cNvSpPr/>
          <p:nvPr/>
        </p:nvSpPr>
        <p:spPr>
          <a:xfrm>
            <a:off x="5219700" y="2714625"/>
            <a:ext cx="1752600" cy="342900"/>
          </a:xfrm>
          <a:prstGeom prst="roundRect">
            <a:avLst>
              <a:gd name="adj" fmla="val 50000"/>
            </a:avLst>
          </a:prstGeom>
          <a:solidFill>
            <a:srgbClr val="2B7BD6"/>
          </a:solidFill>
          <a:ln>
            <a:noFill/>
          </a:ln>
        </p:spPr>
      </p:sp>
      <p:sp>
        <p:nvSpPr>
          <p:cNvPr id="36" name="TextBox 36"/>
          <p:cNvSpPr txBox="1"/>
          <p:nvPr/>
        </p:nvSpPr>
        <p:spPr>
          <a:xfrm>
            <a:off x="5928941" y="2813685"/>
            <a:ext cx="33411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20%</a:t>
            </a:r>
          </a:p>
        </p:txBody>
      </p:sp>
      <p:sp>
        <p:nvSpPr>
          <p:cNvPr id="37" name="TextBox 37"/>
          <p:cNvSpPr txBox="1"/>
          <p:nvPr/>
        </p:nvSpPr>
        <p:spPr>
          <a:xfrm>
            <a:off x="5798820" y="3228499"/>
            <a:ext cx="594360"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Segoe UI"/>
                <a:ea typeface="Microsoft YaHei"/>
                <a:cs typeface="Segoe UI"/>
              </a:rPr>
              <a:t>检索模块</a:t>
            </a:r>
          </a:p>
        </p:txBody>
      </p:sp>
      <p:sp>
        <p:nvSpPr>
          <p:cNvPr id="38" name="TextBox 38"/>
          <p:cNvSpPr txBox="1"/>
          <p:nvPr/>
        </p:nvSpPr>
        <p:spPr>
          <a:xfrm>
            <a:off x="5514023" y="3466624"/>
            <a:ext cx="1163955"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Segoe UI"/>
                <a:ea typeface="Microsoft YaHei"/>
                <a:cs typeface="Segoe UI"/>
              </a:rPr>
              <a:t>混合检索算法实现</a:t>
            </a:r>
          </a:p>
        </p:txBody>
      </p:sp>
      <p:sp>
        <p:nvSpPr>
          <p:cNvPr id="39" name="TextBox 39"/>
          <p:cNvSpPr txBox="1"/>
          <p:nvPr/>
        </p:nvSpPr>
        <p:spPr>
          <a:xfrm>
            <a:off x="5656421" y="3704749"/>
            <a:ext cx="879157"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Segoe UI"/>
                <a:ea typeface="Microsoft YaHei"/>
                <a:cs typeface="Segoe UI"/>
              </a:rPr>
              <a:t>检索效果优化</a:t>
            </a:r>
          </a:p>
        </p:txBody>
      </p:sp>
      <p:sp>
        <p:nvSpPr>
          <p:cNvPr id="40" name="TextBox 40"/>
          <p:cNvSpPr txBox="1"/>
          <p:nvPr/>
        </p:nvSpPr>
        <p:spPr>
          <a:xfrm>
            <a:off x="5897261" y="4474845"/>
            <a:ext cx="397478" cy="182880"/>
          </a:xfrm>
          <a:prstGeom prst="rect">
            <a:avLst/>
          </a:prstGeom>
          <a:noFill/>
          <a:ln>
            <a:noFill/>
          </a:ln>
        </p:spPr>
        <p:txBody>
          <a:bodyPr wrap="none" lIns="0" tIns="0" rIns="0" bIns="0" anchor="t" anchorCtr="0">
            <a:spAutoFit/>
          </a:bodyPr>
          <a:lstStyle/>
          <a:p>
            <a:pPr algn="ctr"/>
            <a:r>
              <a:rPr lang="zh-CN" sz="900" dirty="0">
                <a:solidFill>
                  <a:srgbClr val="2E7D32"/>
                </a:solidFill>
                <a:latin typeface="Segoe UI"/>
                <a:ea typeface="Microsoft YaHei"/>
                <a:cs typeface="Segoe UI"/>
              </a:rPr>
              <a:t>✓ 完成</a:t>
            </a:r>
          </a:p>
        </p:txBody>
      </p:sp>
      <p:sp>
        <p:nvSpPr>
          <p:cNvPr id="41" name="Rectangle 41"/>
          <p:cNvSpPr/>
          <p:nvPr/>
        </p:nvSpPr>
        <p:spPr>
          <a:xfrm>
            <a:off x="7353300" y="1047750"/>
            <a:ext cx="2133600" cy="5334000"/>
          </a:xfrm>
          <a:prstGeom prst="roundRect">
            <a:avLst>
              <a:gd name="adj" fmla="val 5357"/>
            </a:avLst>
          </a:prstGeom>
          <a:solidFill>
            <a:srgbClr val="F0F4F8"/>
          </a:solidFill>
          <a:ln>
            <a:noFill/>
          </a:ln>
        </p:spPr>
      </p:sp>
      <p:sp>
        <p:nvSpPr>
          <p:cNvPr id="42" name="Rectangle 42"/>
          <p:cNvSpPr/>
          <p:nvPr/>
        </p:nvSpPr>
        <p:spPr>
          <a:xfrm>
            <a:off x="7353300" y="1047750"/>
            <a:ext cx="2133600" cy="952500"/>
          </a:xfrm>
          <a:prstGeom prst="roundRect">
            <a:avLst>
              <a:gd name="adj" fmla="val 12000"/>
            </a:avLst>
          </a:prstGeom>
          <a:solidFill>
            <a:srgbClr val="2B7BD6"/>
          </a:solidFill>
          <a:ln>
            <a:noFill/>
          </a:ln>
        </p:spPr>
      </p:sp>
      <p:sp>
        <p:nvSpPr>
          <p:cNvPr id="43" name="TextBox 43"/>
          <p:cNvSpPr txBox="1"/>
          <p:nvPr/>
        </p:nvSpPr>
        <p:spPr>
          <a:xfrm>
            <a:off x="8329561" y="1469708"/>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4</a:t>
            </a:r>
          </a:p>
        </p:txBody>
      </p:sp>
      <p:sp>
        <p:nvSpPr>
          <p:cNvPr id="44" name="TextBox 44"/>
          <p:cNvSpPr txBox="1"/>
          <p:nvPr/>
        </p:nvSpPr>
        <p:spPr>
          <a:xfrm>
            <a:off x="8056007" y="2028825"/>
            <a:ext cx="728186" cy="304800"/>
          </a:xfrm>
          <a:prstGeom prst="rect">
            <a:avLst/>
          </a:prstGeom>
          <a:noFill/>
          <a:ln>
            <a:noFill/>
          </a:ln>
        </p:spPr>
        <p:txBody>
          <a:bodyPr wrap="none" lIns="0" tIns="0" rIns="0" bIns="0" anchor="t" anchorCtr="0">
            <a:spAutoFit/>
          </a:bodyPr>
          <a:lstStyle/>
          <a:p>
            <a:pPr algn="ctr"/>
            <a:r>
              <a:rPr lang="zh-CN" sz="1500" b="1" dirty="0">
                <a:solidFill>
                  <a:srgbClr val="1A3A5C"/>
                </a:solidFill>
                <a:latin typeface="Segoe UI"/>
                <a:ea typeface="Microsoft YaHei"/>
                <a:cs typeface="Segoe UI"/>
              </a:rPr>
              <a:t>陆亦宸</a:t>
            </a:r>
          </a:p>
        </p:txBody>
      </p:sp>
      <p:sp>
        <p:nvSpPr>
          <p:cNvPr id="45" name="TextBox 45"/>
          <p:cNvSpPr txBox="1"/>
          <p:nvPr/>
        </p:nvSpPr>
        <p:spPr>
          <a:xfrm>
            <a:off x="8253412" y="2363152"/>
            <a:ext cx="333375" cy="213360"/>
          </a:xfrm>
          <a:prstGeom prst="rect">
            <a:avLst/>
          </a:prstGeom>
          <a:noFill/>
          <a:ln>
            <a:noFill/>
          </a:ln>
        </p:spPr>
        <p:txBody>
          <a:bodyPr wrap="none" lIns="0" tIns="0" rIns="0" bIns="0" anchor="t" anchorCtr="0">
            <a:spAutoFit/>
          </a:bodyPr>
          <a:lstStyle/>
          <a:p>
            <a:pPr algn="ctr"/>
            <a:r>
              <a:rPr lang="zh-CN" sz="1050" dirty="0">
                <a:solidFill>
                  <a:srgbClr val="555555"/>
                </a:solidFill>
                <a:latin typeface="Segoe UI"/>
                <a:ea typeface="Microsoft YaHei"/>
                <a:cs typeface="Segoe UI"/>
              </a:rPr>
              <a:t>组员</a:t>
            </a:r>
          </a:p>
        </p:txBody>
      </p:sp>
      <p:sp>
        <p:nvSpPr>
          <p:cNvPr id="46" name="Rectangle 46"/>
          <p:cNvSpPr/>
          <p:nvPr/>
        </p:nvSpPr>
        <p:spPr>
          <a:xfrm>
            <a:off x="7543800" y="2714625"/>
            <a:ext cx="1752600" cy="342900"/>
          </a:xfrm>
          <a:prstGeom prst="roundRect">
            <a:avLst>
              <a:gd name="adj" fmla="val 50000"/>
            </a:avLst>
          </a:prstGeom>
          <a:solidFill>
            <a:srgbClr val="2B7BD6"/>
          </a:solidFill>
          <a:ln>
            <a:noFill/>
          </a:ln>
        </p:spPr>
      </p:sp>
      <p:sp>
        <p:nvSpPr>
          <p:cNvPr id="47" name="TextBox 47"/>
          <p:cNvSpPr txBox="1"/>
          <p:nvPr/>
        </p:nvSpPr>
        <p:spPr>
          <a:xfrm>
            <a:off x="8253041" y="2813685"/>
            <a:ext cx="33411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20%</a:t>
            </a:r>
          </a:p>
        </p:txBody>
      </p:sp>
      <p:sp>
        <p:nvSpPr>
          <p:cNvPr id="48" name="TextBox 48"/>
          <p:cNvSpPr txBox="1"/>
          <p:nvPr/>
        </p:nvSpPr>
        <p:spPr>
          <a:xfrm>
            <a:off x="8122920" y="3228499"/>
            <a:ext cx="594360"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Segoe UI"/>
                <a:ea typeface="Microsoft YaHei"/>
                <a:cs typeface="Segoe UI"/>
              </a:rPr>
              <a:t>生成模块</a:t>
            </a:r>
          </a:p>
        </p:txBody>
      </p:sp>
      <p:sp>
        <p:nvSpPr>
          <p:cNvPr id="49" name="TextBox 49"/>
          <p:cNvSpPr txBox="1"/>
          <p:nvPr/>
        </p:nvSpPr>
        <p:spPr>
          <a:xfrm>
            <a:off x="8055281" y="3466624"/>
            <a:ext cx="729639"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Segoe UI"/>
                <a:ea typeface="Microsoft YaHei"/>
                <a:cs typeface="Segoe UI"/>
              </a:rPr>
              <a:t>QLoRA微调</a:t>
            </a:r>
          </a:p>
        </p:txBody>
      </p:sp>
      <p:sp>
        <p:nvSpPr>
          <p:cNvPr id="50" name="TextBox 50"/>
          <p:cNvSpPr txBox="1"/>
          <p:nvPr/>
        </p:nvSpPr>
        <p:spPr>
          <a:xfrm>
            <a:off x="7980521" y="3704749"/>
            <a:ext cx="879157"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Segoe UI"/>
                <a:ea typeface="Microsoft YaHei"/>
                <a:cs typeface="Segoe UI"/>
              </a:rPr>
              <a:t>模型推理优化</a:t>
            </a:r>
          </a:p>
        </p:txBody>
      </p:sp>
      <p:sp>
        <p:nvSpPr>
          <p:cNvPr id="51" name="TextBox 51"/>
          <p:cNvSpPr txBox="1"/>
          <p:nvPr/>
        </p:nvSpPr>
        <p:spPr>
          <a:xfrm>
            <a:off x="8221361" y="4474845"/>
            <a:ext cx="397478" cy="182880"/>
          </a:xfrm>
          <a:prstGeom prst="rect">
            <a:avLst/>
          </a:prstGeom>
          <a:noFill/>
          <a:ln>
            <a:noFill/>
          </a:ln>
        </p:spPr>
        <p:txBody>
          <a:bodyPr wrap="none" lIns="0" tIns="0" rIns="0" bIns="0" anchor="t" anchorCtr="0">
            <a:spAutoFit/>
          </a:bodyPr>
          <a:lstStyle/>
          <a:p>
            <a:pPr algn="ctr"/>
            <a:r>
              <a:rPr lang="zh-CN" sz="900" dirty="0">
                <a:solidFill>
                  <a:srgbClr val="2E7D32"/>
                </a:solidFill>
                <a:latin typeface="Segoe UI"/>
                <a:ea typeface="Microsoft YaHei"/>
                <a:cs typeface="Segoe UI"/>
              </a:rPr>
              <a:t>✓ 完成</a:t>
            </a:r>
          </a:p>
        </p:txBody>
      </p:sp>
      <p:sp>
        <p:nvSpPr>
          <p:cNvPr id="52" name="Rectangle 52"/>
          <p:cNvSpPr/>
          <p:nvPr/>
        </p:nvSpPr>
        <p:spPr>
          <a:xfrm>
            <a:off x="9677400" y="1047750"/>
            <a:ext cx="2133600" cy="5334000"/>
          </a:xfrm>
          <a:prstGeom prst="roundRect">
            <a:avLst>
              <a:gd name="adj" fmla="val 5357"/>
            </a:avLst>
          </a:prstGeom>
          <a:solidFill>
            <a:srgbClr val="F0F4F8"/>
          </a:solidFill>
          <a:ln>
            <a:noFill/>
          </a:ln>
        </p:spPr>
      </p:sp>
      <p:sp>
        <p:nvSpPr>
          <p:cNvPr id="53" name="Rectangle 53"/>
          <p:cNvSpPr/>
          <p:nvPr/>
        </p:nvSpPr>
        <p:spPr>
          <a:xfrm>
            <a:off x="9677400" y="1047750"/>
            <a:ext cx="2133600" cy="952500"/>
          </a:xfrm>
          <a:prstGeom prst="roundRect">
            <a:avLst>
              <a:gd name="adj" fmla="val 12000"/>
            </a:avLst>
          </a:prstGeom>
          <a:solidFill>
            <a:srgbClr val="1A3A5C"/>
          </a:solidFill>
          <a:ln>
            <a:noFill/>
          </a:ln>
        </p:spPr>
      </p:sp>
      <p:sp>
        <p:nvSpPr>
          <p:cNvPr id="54" name="TextBox 54"/>
          <p:cNvSpPr txBox="1"/>
          <p:nvPr/>
        </p:nvSpPr>
        <p:spPr>
          <a:xfrm>
            <a:off x="10653661" y="1469708"/>
            <a:ext cx="181077"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5</a:t>
            </a:r>
          </a:p>
        </p:txBody>
      </p:sp>
      <p:sp>
        <p:nvSpPr>
          <p:cNvPr id="55" name="TextBox 55"/>
          <p:cNvSpPr txBox="1"/>
          <p:nvPr/>
        </p:nvSpPr>
        <p:spPr>
          <a:xfrm>
            <a:off x="10380107" y="2028825"/>
            <a:ext cx="728186" cy="304800"/>
          </a:xfrm>
          <a:prstGeom prst="rect">
            <a:avLst/>
          </a:prstGeom>
          <a:noFill/>
          <a:ln>
            <a:noFill/>
          </a:ln>
        </p:spPr>
        <p:txBody>
          <a:bodyPr wrap="none" lIns="0" tIns="0" rIns="0" bIns="0" anchor="t" anchorCtr="0">
            <a:spAutoFit/>
          </a:bodyPr>
          <a:lstStyle/>
          <a:p>
            <a:pPr algn="ctr"/>
            <a:r>
              <a:rPr lang="zh-CN" sz="1500" b="1" dirty="0">
                <a:solidFill>
                  <a:srgbClr val="1A3A5C"/>
                </a:solidFill>
                <a:latin typeface="Segoe UI"/>
                <a:ea typeface="Microsoft YaHei"/>
                <a:cs typeface="Segoe UI"/>
              </a:rPr>
              <a:t>平函睿</a:t>
            </a:r>
          </a:p>
        </p:txBody>
      </p:sp>
      <p:sp>
        <p:nvSpPr>
          <p:cNvPr id="56" name="TextBox 56"/>
          <p:cNvSpPr txBox="1"/>
          <p:nvPr/>
        </p:nvSpPr>
        <p:spPr>
          <a:xfrm>
            <a:off x="10577512" y="2363152"/>
            <a:ext cx="333375" cy="213360"/>
          </a:xfrm>
          <a:prstGeom prst="rect">
            <a:avLst/>
          </a:prstGeom>
          <a:noFill/>
          <a:ln>
            <a:noFill/>
          </a:ln>
        </p:spPr>
        <p:txBody>
          <a:bodyPr wrap="none" lIns="0" tIns="0" rIns="0" bIns="0" anchor="t" anchorCtr="0">
            <a:spAutoFit/>
          </a:bodyPr>
          <a:lstStyle/>
          <a:p>
            <a:pPr algn="ctr"/>
            <a:r>
              <a:rPr lang="zh-CN" sz="1050" dirty="0">
                <a:solidFill>
                  <a:srgbClr val="555555"/>
                </a:solidFill>
                <a:latin typeface="Segoe UI"/>
                <a:ea typeface="Microsoft YaHei"/>
                <a:cs typeface="Segoe UI"/>
              </a:rPr>
              <a:t>组员</a:t>
            </a:r>
          </a:p>
        </p:txBody>
      </p:sp>
      <p:sp>
        <p:nvSpPr>
          <p:cNvPr id="57" name="Rectangle 57"/>
          <p:cNvSpPr/>
          <p:nvPr/>
        </p:nvSpPr>
        <p:spPr>
          <a:xfrm>
            <a:off x="9867900" y="2714625"/>
            <a:ext cx="1752600" cy="342900"/>
          </a:xfrm>
          <a:prstGeom prst="roundRect">
            <a:avLst>
              <a:gd name="adj" fmla="val 50000"/>
            </a:avLst>
          </a:prstGeom>
          <a:solidFill>
            <a:srgbClr val="2B7BD6"/>
          </a:solidFill>
          <a:ln>
            <a:noFill/>
          </a:ln>
        </p:spPr>
      </p:sp>
      <p:sp>
        <p:nvSpPr>
          <p:cNvPr id="58" name="TextBox 58"/>
          <p:cNvSpPr txBox="1"/>
          <p:nvPr/>
        </p:nvSpPr>
        <p:spPr>
          <a:xfrm>
            <a:off x="10600144" y="2813685"/>
            <a:ext cx="28811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18%</a:t>
            </a:r>
          </a:p>
        </p:txBody>
      </p:sp>
      <p:sp>
        <p:nvSpPr>
          <p:cNvPr id="59" name="TextBox 59"/>
          <p:cNvSpPr txBox="1"/>
          <p:nvPr/>
        </p:nvSpPr>
        <p:spPr>
          <a:xfrm>
            <a:off x="10447020" y="3228499"/>
            <a:ext cx="594360" cy="198120"/>
          </a:xfrm>
          <a:prstGeom prst="rect">
            <a:avLst/>
          </a:prstGeom>
          <a:noFill/>
          <a:ln>
            <a:noFill/>
          </a:ln>
        </p:spPr>
        <p:txBody>
          <a:bodyPr wrap="none" lIns="0" tIns="0" rIns="0" bIns="0" anchor="t" anchorCtr="0">
            <a:spAutoFit/>
          </a:bodyPr>
          <a:lstStyle/>
          <a:p>
            <a:pPr algn="ctr"/>
            <a:r>
              <a:rPr lang="zh-CN" sz="975" dirty="0">
                <a:solidFill>
                  <a:srgbClr val="1A1A1A"/>
                </a:solidFill>
                <a:latin typeface="Segoe UI"/>
                <a:ea typeface="Microsoft YaHei"/>
                <a:cs typeface="Segoe UI"/>
              </a:rPr>
              <a:t>评估模块</a:t>
            </a:r>
          </a:p>
        </p:txBody>
      </p:sp>
      <p:sp>
        <p:nvSpPr>
          <p:cNvPr id="60" name="TextBox 60"/>
          <p:cNvSpPr txBox="1"/>
          <p:nvPr/>
        </p:nvSpPr>
        <p:spPr>
          <a:xfrm>
            <a:off x="10091023" y="3466624"/>
            <a:ext cx="1306354"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Segoe UI"/>
                <a:ea typeface="Microsoft YaHei"/>
                <a:cs typeface="Segoe UI"/>
              </a:rPr>
              <a:t>对比实验设计与运行</a:t>
            </a:r>
          </a:p>
        </p:txBody>
      </p:sp>
      <p:sp>
        <p:nvSpPr>
          <p:cNvPr id="61" name="TextBox 61"/>
          <p:cNvSpPr txBox="1"/>
          <p:nvPr/>
        </p:nvSpPr>
        <p:spPr>
          <a:xfrm>
            <a:off x="10229862" y="3704749"/>
            <a:ext cx="1028676" cy="198120"/>
          </a:xfrm>
          <a:prstGeom prst="rect">
            <a:avLst/>
          </a:prstGeom>
          <a:noFill/>
          <a:ln>
            <a:noFill/>
          </a:ln>
        </p:spPr>
        <p:txBody>
          <a:bodyPr wrap="none" lIns="0" tIns="0" rIns="0" bIns="0" anchor="t" anchorCtr="0">
            <a:spAutoFit/>
          </a:bodyPr>
          <a:lstStyle/>
          <a:p>
            <a:pPr algn="ctr"/>
            <a:r>
              <a:rPr lang="zh-CN" sz="975" dirty="0">
                <a:solidFill>
                  <a:srgbClr val="555555"/>
                </a:solidFill>
                <a:latin typeface="Segoe UI"/>
                <a:ea typeface="Microsoft YaHei"/>
                <a:cs typeface="Segoe UI"/>
              </a:rPr>
              <a:t>Gradio界面开发</a:t>
            </a:r>
          </a:p>
        </p:txBody>
      </p:sp>
      <p:sp>
        <p:nvSpPr>
          <p:cNvPr id="62" name="TextBox 62"/>
          <p:cNvSpPr txBox="1"/>
          <p:nvPr/>
        </p:nvSpPr>
        <p:spPr>
          <a:xfrm>
            <a:off x="10545461" y="4474845"/>
            <a:ext cx="397478" cy="182880"/>
          </a:xfrm>
          <a:prstGeom prst="rect">
            <a:avLst/>
          </a:prstGeom>
          <a:noFill/>
          <a:ln>
            <a:noFill/>
          </a:ln>
        </p:spPr>
        <p:txBody>
          <a:bodyPr wrap="none" lIns="0" tIns="0" rIns="0" bIns="0" anchor="t" anchorCtr="0">
            <a:spAutoFit/>
          </a:bodyPr>
          <a:lstStyle/>
          <a:p>
            <a:pPr algn="ctr"/>
            <a:r>
              <a:rPr lang="zh-CN" sz="900" dirty="0">
                <a:solidFill>
                  <a:srgbClr val="2E7D32"/>
                </a:solidFill>
                <a:latin typeface="Segoe UI"/>
                <a:ea typeface="Microsoft YaHei"/>
                <a:cs typeface="Segoe UI"/>
              </a:rPr>
              <a:t>✓ 完成</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762000"/>
          </a:xfrm>
          <a:prstGeom prst="rect">
            <a:avLst/>
          </a:prstGeom>
          <a:solidFill>
            <a:srgbClr val="1A3A5C"/>
          </a:solidFill>
          <a:ln>
            <a:noFill/>
          </a:ln>
        </p:spPr>
      </p:sp>
      <p:sp>
        <p:nvSpPr>
          <p:cNvPr id="4" name="TextBox 4"/>
          <p:cNvSpPr txBox="1"/>
          <p:nvPr/>
        </p:nvSpPr>
        <p:spPr>
          <a:xfrm>
            <a:off x="548640" y="300990"/>
            <a:ext cx="2253996"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五、课程设计总结</a:t>
            </a:r>
          </a:p>
        </p:txBody>
      </p:sp>
      <p:sp>
        <p:nvSpPr>
          <p:cNvPr id="5" name="TextBox 5"/>
          <p:cNvSpPr txBox="1"/>
          <p:nvPr/>
        </p:nvSpPr>
        <p:spPr>
          <a:xfrm>
            <a:off x="11456289" y="365760"/>
            <a:ext cx="179451" cy="243840"/>
          </a:xfrm>
          <a:prstGeom prst="rect">
            <a:avLst/>
          </a:prstGeom>
          <a:noFill/>
          <a:ln>
            <a:noFill/>
          </a:ln>
        </p:spPr>
        <p:txBody>
          <a:bodyPr wrap="none" lIns="0" tIns="0" rIns="0" bIns="0" anchor="t" anchorCtr="0">
            <a:spAutoFit/>
          </a:bodyPr>
          <a:lstStyle/>
          <a:p>
            <a:pPr algn="r"/>
            <a:r>
              <a:rPr lang="zh-CN" sz="1200" dirty="0">
                <a:solidFill>
                  <a:srgbClr val="99B3CC">
                    <a:alphaMod val="80000"/>
                  </a:srgbClr>
                </a:solidFill>
                <a:latin typeface="Arial"/>
                <a:ea typeface="Microsoft YaHei"/>
                <a:cs typeface="Arial"/>
              </a:rPr>
              <a:t>12</a:t>
            </a:r>
          </a:p>
        </p:txBody>
      </p:sp>
      <p:sp>
        <p:nvSpPr>
          <p:cNvPr id="6" name="Rectangle 6"/>
          <p:cNvSpPr/>
          <p:nvPr/>
        </p:nvSpPr>
        <p:spPr>
          <a:xfrm>
            <a:off x="381000" y="1047750"/>
            <a:ext cx="5572125" cy="4476750"/>
          </a:xfrm>
          <a:prstGeom prst="roundRect">
            <a:avLst>
              <a:gd name="adj" fmla="val 2128"/>
            </a:avLst>
          </a:prstGeom>
          <a:solidFill>
            <a:srgbClr val="F0F4F8"/>
          </a:solidFill>
          <a:ln>
            <a:noFill/>
          </a:ln>
        </p:spPr>
      </p:sp>
      <p:sp>
        <p:nvSpPr>
          <p:cNvPr id="7" name="Rectangle 7"/>
          <p:cNvSpPr/>
          <p:nvPr/>
        </p:nvSpPr>
        <p:spPr>
          <a:xfrm>
            <a:off x="381000" y="1047750"/>
            <a:ext cx="5572125" cy="428625"/>
          </a:xfrm>
          <a:prstGeom prst="roundRect">
            <a:avLst>
              <a:gd name="adj" fmla="val 22222"/>
            </a:avLst>
          </a:prstGeom>
          <a:solidFill>
            <a:srgbClr val="2E7D32"/>
          </a:solidFill>
          <a:ln>
            <a:noFill/>
          </a:ln>
        </p:spPr>
      </p:sp>
      <p:sp>
        <p:nvSpPr>
          <p:cNvPr id="8" name="TextBox 8"/>
          <p:cNvSpPr txBox="1"/>
          <p:nvPr/>
        </p:nvSpPr>
        <p:spPr>
          <a:xfrm>
            <a:off x="2568178" y="1171575"/>
            <a:ext cx="1188244"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a:ea typeface="Microsoft YaHei"/>
                <a:cs typeface="Segoe UI"/>
              </a:rPr>
              <a:t>收获与成长</a:t>
            </a:r>
          </a:p>
        </p:txBody>
      </p:sp>
      <p:sp>
        <p:nvSpPr>
          <p:cNvPr id="9" name="Rectangle 9"/>
          <p:cNvSpPr/>
          <p:nvPr/>
        </p:nvSpPr>
        <p:spPr>
          <a:xfrm>
            <a:off x="571500" y="1666875"/>
            <a:ext cx="5191125" cy="523875"/>
          </a:xfrm>
          <a:prstGeom prst="roundRect">
            <a:avLst>
              <a:gd name="adj" fmla="val 10909"/>
            </a:avLst>
          </a:prstGeom>
          <a:solidFill>
            <a:srgbClr val="FFFFFF"/>
          </a:solidFill>
          <a:ln>
            <a:noFill/>
          </a:ln>
        </p:spPr>
      </p:sp>
      <p:sp>
        <p:nvSpPr>
          <p:cNvPr id="10" name="TextBox 10"/>
          <p:cNvSpPr txBox="1"/>
          <p:nvPr/>
        </p:nvSpPr>
        <p:spPr>
          <a:xfrm>
            <a:off x="748665" y="1791652"/>
            <a:ext cx="4090511"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Segoe UI"/>
                <a:ea typeface="Microsoft YaHei"/>
                <a:cs typeface="Segoe UI"/>
              </a:rPr>
              <a:t>▸ 深入理解</a:t>
            </a:r>
            <a:r>
              <a:rPr lang="zh-CN" sz="1050" b="1" dirty="0">
                <a:solidFill>
                  <a:srgbClr val="1A1A1A"/>
                </a:solidFill>
                <a:latin typeface="Segoe UI"/>
                <a:ea typeface="Microsoft YaHei"/>
                <a:cs typeface="Segoe UI"/>
              </a:rPr>
              <a:t>RAG技术原理</a:t>
            </a:r>
            <a:r>
              <a:rPr lang="zh-CN" sz="1050" dirty="0">
                <a:solidFill>
                  <a:srgbClr val="1A1A1A"/>
                </a:solidFill>
                <a:latin typeface="Segoe UI"/>
                <a:ea typeface="Microsoft YaHei"/>
                <a:cs typeface="Segoe UI"/>
              </a:rPr>
              <a:t>和完整流程，从文档处理到答案生成</a:t>
            </a:r>
          </a:p>
        </p:txBody>
      </p:sp>
      <p:sp>
        <p:nvSpPr>
          <p:cNvPr id="11" name="TextBox 11"/>
          <p:cNvSpPr txBox="1"/>
          <p:nvPr/>
        </p:nvSpPr>
        <p:spPr>
          <a:xfrm>
            <a:off x="750570" y="1998345"/>
            <a:ext cx="2474309" cy="182880"/>
          </a:xfrm>
          <a:prstGeom prst="rect">
            <a:avLst/>
          </a:prstGeom>
          <a:noFill/>
          <a:ln>
            <a:noFill/>
          </a:ln>
        </p:spPr>
        <p:txBody>
          <a:bodyPr wrap="none" lIns="0" tIns="0" rIns="0" bIns="0" anchor="t" anchorCtr="0">
            <a:spAutoFit/>
          </a:bodyPr>
          <a:lstStyle/>
          <a:p>
            <a:pPr algn="l"/>
            <a:r>
              <a:rPr lang="zh-CN" sz="900" dirty="0">
                <a:solidFill>
                  <a:srgbClr val="888888"/>
                </a:solidFill>
                <a:latin typeface="Segoe UI"/>
                <a:ea typeface="Microsoft YaHei"/>
                <a:cs typeface="Segoe UI"/>
              </a:rPr>
              <a:t>检索增强生成在实际NLP系统中的核心价值</a:t>
            </a:r>
          </a:p>
        </p:txBody>
      </p:sp>
      <p:sp>
        <p:nvSpPr>
          <p:cNvPr id="12" name="Rectangle 12"/>
          <p:cNvSpPr/>
          <p:nvPr/>
        </p:nvSpPr>
        <p:spPr>
          <a:xfrm>
            <a:off x="571500" y="2333625"/>
            <a:ext cx="5191125" cy="523875"/>
          </a:xfrm>
          <a:prstGeom prst="roundRect">
            <a:avLst>
              <a:gd name="adj" fmla="val 10909"/>
            </a:avLst>
          </a:prstGeom>
          <a:solidFill>
            <a:srgbClr val="FFFFFF"/>
          </a:solidFill>
          <a:ln>
            <a:noFill/>
          </a:ln>
        </p:spPr>
      </p:sp>
      <p:sp>
        <p:nvSpPr>
          <p:cNvPr id="13" name="TextBox 13"/>
          <p:cNvSpPr txBox="1"/>
          <p:nvPr/>
        </p:nvSpPr>
        <p:spPr>
          <a:xfrm>
            <a:off x="748665" y="2458402"/>
            <a:ext cx="3791474"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Segoe UI"/>
                <a:ea typeface="Microsoft YaHei"/>
                <a:cs typeface="Segoe UI"/>
              </a:rPr>
              <a:t>▸ 掌握多种</a:t>
            </a:r>
            <a:r>
              <a:rPr lang="zh-CN" sz="1050" b="1" dirty="0">
                <a:solidFill>
                  <a:srgbClr val="1A1A1A"/>
                </a:solidFill>
                <a:latin typeface="Segoe UI"/>
                <a:ea typeface="Microsoft YaHei"/>
                <a:cs typeface="Segoe UI"/>
              </a:rPr>
              <a:t>NLP技术实际应用</a:t>
            </a:r>
            <a:r>
              <a:rPr lang="zh-CN" sz="1050" dirty="0">
                <a:solidFill>
                  <a:srgbClr val="1A1A1A"/>
                </a:solidFill>
                <a:latin typeface="Segoe UI"/>
                <a:ea typeface="Microsoft YaHei"/>
                <a:cs typeface="Segoe UI"/>
              </a:rPr>
              <a:t>：分词、嵌入、BM25、RRF</a:t>
            </a:r>
          </a:p>
        </p:txBody>
      </p:sp>
      <p:sp>
        <p:nvSpPr>
          <p:cNvPr id="14" name="TextBox 14"/>
          <p:cNvSpPr txBox="1"/>
          <p:nvPr/>
        </p:nvSpPr>
        <p:spPr>
          <a:xfrm>
            <a:off x="750570" y="2665095"/>
            <a:ext cx="1731645" cy="182880"/>
          </a:xfrm>
          <a:prstGeom prst="rect">
            <a:avLst/>
          </a:prstGeom>
          <a:noFill/>
          <a:ln>
            <a:noFill/>
          </a:ln>
        </p:spPr>
        <p:txBody>
          <a:bodyPr wrap="none" lIns="0" tIns="0" rIns="0" bIns="0" anchor="t" anchorCtr="0">
            <a:spAutoFit/>
          </a:bodyPr>
          <a:lstStyle/>
          <a:p>
            <a:pPr algn="l"/>
            <a:r>
              <a:rPr lang="zh-CN" sz="900" dirty="0">
                <a:solidFill>
                  <a:srgbClr val="888888"/>
                </a:solidFill>
                <a:latin typeface="Segoe UI"/>
                <a:ea typeface="Microsoft YaHei"/>
                <a:cs typeface="Segoe UI"/>
              </a:rPr>
              <a:t>从理论到工程实践的完整过渡</a:t>
            </a:r>
          </a:p>
        </p:txBody>
      </p:sp>
      <p:sp>
        <p:nvSpPr>
          <p:cNvPr id="15" name="Rectangle 15"/>
          <p:cNvSpPr/>
          <p:nvPr/>
        </p:nvSpPr>
        <p:spPr>
          <a:xfrm>
            <a:off x="571500" y="3000375"/>
            <a:ext cx="5191125" cy="523875"/>
          </a:xfrm>
          <a:prstGeom prst="roundRect">
            <a:avLst>
              <a:gd name="adj" fmla="val 10909"/>
            </a:avLst>
          </a:prstGeom>
          <a:solidFill>
            <a:srgbClr val="FFFFFF"/>
          </a:solidFill>
          <a:ln>
            <a:noFill/>
          </a:ln>
        </p:spPr>
      </p:sp>
      <p:sp>
        <p:nvSpPr>
          <p:cNvPr id="16" name="TextBox 16"/>
          <p:cNvSpPr txBox="1"/>
          <p:nvPr/>
        </p:nvSpPr>
        <p:spPr>
          <a:xfrm>
            <a:off x="748665" y="3125152"/>
            <a:ext cx="3799141"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Segoe UI"/>
                <a:ea typeface="Microsoft YaHei"/>
                <a:cs typeface="Segoe UI"/>
              </a:rPr>
              <a:t>▸ 学会</a:t>
            </a:r>
            <a:r>
              <a:rPr lang="zh-CN" sz="1050" b="1" dirty="0">
                <a:solidFill>
                  <a:srgbClr val="1A1A1A"/>
                </a:solidFill>
                <a:latin typeface="Segoe UI"/>
                <a:ea typeface="Microsoft YaHei"/>
                <a:cs typeface="Segoe UI"/>
              </a:rPr>
              <a:t>HuggingFace生态</a:t>
            </a:r>
            <a:r>
              <a:rPr lang="zh-CN" sz="1050" dirty="0">
                <a:solidFill>
                  <a:srgbClr val="1A1A1A"/>
                </a:solidFill>
                <a:latin typeface="Segoe UI"/>
                <a:ea typeface="Microsoft YaHei"/>
                <a:cs typeface="Segoe UI"/>
              </a:rPr>
              <a:t>：模型加载、推理、QLoRA微调</a:t>
            </a:r>
          </a:p>
        </p:txBody>
      </p:sp>
      <p:sp>
        <p:nvSpPr>
          <p:cNvPr id="17" name="TextBox 17"/>
          <p:cNvSpPr txBox="1"/>
          <p:nvPr/>
        </p:nvSpPr>
        <p:spPr>
          <a:xfrm>
            <a:off x="750570" y="3331845"/>
            <a:ext cx="2829211" cy="182880"/>
          </a:xfrm>
          <a:prstGeom prst="rect">
            <a:avLst/>
          </a:prstGeom>
          <a:noFill/>
          <a:ln>
            <a:noFill/>
          </a:ln>
        </p:spPr>
        <p:txBody>
          <a:bodyPr wrap="none" lIns="0" tIns="0" rIns="0" bIns="0" anchor="t" anchorCtr="0">
            <a:spAutoFit/>
          </a:bodyPr>
          <a:lstStyle/>
          <a:p>
            <a:pPr algn="l"/>
            <a:r>
              <a:rPr lang="zh-CN" sz="900" dirty="0">
                <a:solidFill>
                  <a:srgbClr val="888888"/>
                </a:solidFill>
                <a:latin typeface="Segoe UI"/>
                <a:ea typeface="Microsoft YaHei"/>
                <a:cs typeface="Segoe UI"/>
              </a:rPr>
              <a:t>PEFT、Transformers、BitsAndBytes等工具链</a:t>
            </a:r>
          </a:p>
        </p:txBody>
      </p:sp>
      <p:sp>
        <p:nvSpPr>
          <p:cNvPr id="18" name="Rectangle 18"/>
          <p:cNvSpPr/>
          <p:nvPr/>
        </p:nvSpPr>
        <p:spPr>
          <a:xfrm>
            <a:off x="571500" y="3667125"/>
            <a:ext cx="5191125" cy="523875"/>
          </a:xfrm>
          <a:prstGeom prst="roundRect">
            <a:avLst>
              <a:gd name="adj" fmla="val 10909"/>
            </a:avLst>
          </a:prstGeom>
          <a:solidFill>
            <a:srgbClr val="FFFFFF"/>
          </a:solidFill>
          <a:ln>
            <a:noFill/>
          </a:ln>
        </p:spPr>
      </p:sp>
      <p:sp>
        <p:nvSpPr>
          <p:cNvPr id="19" name="TextBox 19"/>
          <p:cNvSpPr txBox="1"/>
          <p:nvPr/>
        </p:nvSpPr>
        <p:spPr>
          <a:xfrm>
            <a:off x="748665" y="3791902"/>
            <a:ext cx="3730133"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Segoe UI"/>
                <a:ea typeface="Microsoft YaHei"/>
                <a:cs typeface="Segoe UI"/>
              </a:rPr>
              <a:t>▸ 了解</a:t>
            </a:r>
            <a:r>
              <a:rPr lang="zh-CN" sz="1050" b="1" dirty="0">
                <a:solidFill>
                  <a:srgbClr val="1A1A1A"/>
                </a:solidFill>
                <a:latin typeface="Segoe UI"/>
                <a:ea typeface="Microsoft YaHei"/>
                <a:cs typeface="Segoe UI"/>
              </a:rPr>
              <a:t>系统评估方法论</a:t>
            </a:r>
            <a:r>
              <a:rPr lang="zh-CN" sz="1050" dirty="0">
                <a:solidFill>
                  <a:srgbClr val="1A1A1A"/>
                </a:solidFill>
                <a:latin typeface="Segoe UI"/>
                <a:ea typeface="Microsoft YaHei"/>
                <a:cs typeface="Segoe UI"/>
              </a:rPr>
              <a:t>：BLEU-4、Rouge-L + 人工评估</a:t>
            </a:r>
          </a:p>
        </p:txBody>
      </p:sp>
      <p:sp>
        <p:nvSpPr>
          <p:cNvPr id="20" name="TextBox 20"/>
          <p:cNvSpPr txBox="1"/>
          <p:nvPr/>
        </p:nvSpPr>
        <p:spPr>
          <a:xfrm>
            <a:off x="750570" y="3998595"/>
            <a:ext cx="1685639" cy="182880"/>
          </a:xfrm>
          <a:prstGeom prst="rect">
            <a:avLst/>
          </a:prstGeom>
          <a:noFill/>
          <a:ln>
            <a:noFill/>
          </a:ln>
        </p:spPr>
        <p:txBody>
          <a:bodyPr wrap="none" lIns="0" tIns="0" rIns="0" bIns="0" anchor="t" anchorCtr="0">
            <a:spAutoFit/>
          </a:bodyPr>
          <a:lstStyle/>
          <a:p>
            <a:pPr algn="l"/>
            <a:r>
              <a:rPr lang="zh-CN" sz="900" dirty="0">
                <a:solidFill>
                  <a:srgbClr val="888888"/>
                </a:solidFill>
                <a:latin typeface="Segoe UI"/>
                <a:ea typeface="Microsoft YaHei"/>
                <a:cs typeface="Segoe UI"/>
              </a:rPr>
              <a:t>多维度量化评价NLP系统性能</a:t>
            </a:r>
          </a:p>
        </p:txBody>
      </p:sp>
      <p:sp>
        <p:nvSpPr>
          <p:cNvPr id="21" name="Rectangle 21"/>
          <p:cNvSpPr/>
          <p:nvPr/>
        </p:nvSpPr>
        <p:spPr>
          <a:xfrm>
            <a:off x="571500" y="4333875"/>
            <a:ext cx="5191125" cy="523875"/>
          </a:xfrm>
          <a:prstGeom prst="roundRect">
            <a:avLst>
              <a:gd name="adj" fmla="val 10909"/>
            </a:avLst>
          </a:prstGeom>
          <a:solidFill>
            <a:srgbClr val="FFFFFF"/>
          </a:solidFill>
          <a:ln>
            <a:noFill/>
          </a:ln>
        </p:spPr>
      </p:sp>
      <p:sp>
        <p:nvSpPr>
          <p:cNvPr id="22" name="TextBox 22"/>
          <p:cNvSpPr txBox="1"/>
          <p:nvPr/>
        </p:nvSpPr>
        <p:spPr>
          <a:xfrm>
            <a:off x="748665" y="4458652"/>
            <a:ext cx="3684127" cy="213360"/>
          </a:xfrm>
          <a:prstGeom prst="rect">
            <a:avLst/>
          </a:prstGeom>
          <a:noFill/>
          <a:ln>
            <a:noFill/>
          </a:ln>
        </p:spPr>
        <p:txBody>
          <a:bodyPr wrap="none" lIns="0" tIns="0" rIns="0" bIns="0" anchor="t" anchorCtr="0">
            <a:spAutoFit/>
          </a:bodyPr>
          <a:lstStyle/>
          <a:p>
            <a:pPr algn="l"/>
            <a:r>
              <a:rPr lang="zh-CN" sz="1050" dirty="0">
                <a:solidFill>
                  <a:srgbClr val="1A1A1A"/>
                </a:solidFill>
                <a:latin typeface="Segoe UI"/>
                <a:ea typeface="Microsoft YaHei"/>
                <a:cs typeface="Segoe UI"/>
              </a:rPr>
              <a:t>▸ 提升</a:t>
            </a:r>
            <a:r>
              <a:rPr lang="zh-CN" sz="1050" b="1" dirty="0">
                <a:solidFill>
                  <a:srgbClr val="1A1A1A"/>
                </a:solidFill>
                <a:latin typeface="Segoe UI"/>
                <a:ea typeface="Microsoft YaHei"/>
                <a:cs typeface="Segoe UI"/>
              </a:rPr>
              <a:t>团队协作与工程能力</a:t>
            </a:r>
            <a:r>
              <a:rPr lang="zh-CN" sz="1050" dirty="0">
                <a:solidFill>
                  <a:srgbClr val="1A1A1A"/>
                </a:solidFill>
                <a:latin typeface="Segoe UI"/>
                <a:ea typeface="Microsoft YaHei"/>
                <a:cs typeface="Segoe UI"/>
              </a:rPr>
              <a:t>，模块化分工完成完整项目</a:t>
            </a:r>
          </a:p>
        </p:txBody>
      </p:sp>
      <p:sp>
        <p:nvSpPr>
          <p:cNvPr id="23" name="TextBox 23"/>
          <p:cNvSpPr txBox="1"/>
          <p:nvPr/>
        </p:nvSpPr>
        <p:spPr>
          <a:xfrm>
            <a:off x="750570" y="4665345"/>
            <a:ext cx="1731645" cy="182880"/>
          </a:xfrm>
          <a:prstGeom prst="rect">
            <a:avLst/>
          </a:prstGeom>
          <a:noFill/>
          <a:ln>
            <a:noFill/>
          </a:ln>
        </p:spPr>
        <p:txBody>
          <a:bodyPr wrap="none" lIns="0" tIns="0" rIns="0" bIns="0" anchor="t" anchorCtr="0">
            <a:spAutoFit/>
          </a:bodyPr>
          <a:lstStyle/>
          <a:p>
            <a:pPr algn="l"/>
            <a:r>
              <a:rPr lang="zh-CN" sz="900" dirty="0">
                <a:solidFill>
                  <a:srgbClr val="888888"/>
                </a:solidFill>
                <a:latin typeface="Segoe UI"/>
                <a:ea typeface="Microsoft YaHei"/>
                <a:cs typeface="Segoe UI"/>
              </a:rPr>
              <a:t>低耦合高内聚的软件工程实践</a:t>
            </a:r>
          </a:p>
        </p:txBody>
      </p:sp>
      <p:sp>
        <p:nvSpPr>
          <p:cNvPr id="24" name="Rectangle 24"/>
          <p:cNvSpPr/>
          <p:nvPr/>
        </p:nvSpPr>
        <p:spPr>
          <a:xfrm>
            <a:off x="6238875" y="1047750"/>
            <a:ext cx="5572125" cy="4476750"/>
          </a:xfrm>
          <a:prstGeom prst="roundRect">
            <a:avLst>
              <a:gd name="adj" fmla="val 2128"/>
            </a:avLst>
          </a:prstGeom>
          <a:solidFill>
            <a:srgbClr val="F0F4F8"/>
          </a:solidFill>
          <a:ln>
            <a:noFill/>
          </a:ln>
        </p:spPr>
      </p:sp>
      <p:sp>
        <p:nvSpPr>
          <p:cNvPr id="25" name="Rectangle 25"/>
          <p:cNvSpPr/>
          <p:nvPr/>
        </p:nvSpPr>
        <p:spPr>
          <a:xfrm>
            <a:off x="6238875" y="1047750"/>
            <a:ext cx="5572125" cy="428625"/>
          </a:xfrm>
          <a:prstGeom prst="roundRect">
            <a:avLst>
              <a:gd name="adj" fmla="val 22222"/>
            </a:avLst>
          </a:prstGeom>
          <a:solidFill>
            <a:srgbClr val="E53935"/>
          </a:solidFill>
          <a:ln>
            <a:noFill/>
          </a:ln>
        </p:spPr>
      </p:sp>
      <p:sp>
        <p:nvSpPr>
          <p:cNvPr id="26" name="TextBox 26"/>
          <p:cNvSpPr txBox="1"/>
          <p:nvPr/>
        </p:nvSpPr>
        <p:spPr>
          <a:xfrm>
            <a:off x="7850981" y="1171575"/>
            <a:ext cx="2338387" cy="304800"/>
          </a:xfrm>
          <a:prstGeom prst="rect">
            <a:avLst/>
          </a:prstGeom>
          <a:noFill/>
          <a:ln>
            <a:noFill/>
          </a:ln>
        </p:spPr>
        <p:txBody>
          <a:bodyPr wrap="none" lIns="0" tIns="0" rIns="0" bIns="0" anchor="t" anchorCtr="0">
            <a:spAutoFit/>
          </a:bodyPr>
          <a:lstStyle/>
          <a:p>
            <a:pPr algn="ctr"/>
            <a:r>
              <a:rPr lang="zh-CN" sz="1500" b="1" dirty="0">
                <a:solidFill>
                  <a:srgbClr val="FFFFFF"/>
                </a:solidFill>
                <a:latin typeface="Segoe UI"/>
                <a:ea typeface="Microsoft YaHei"/>
                <a:cs typeface="Segoe UI"/>
              </a:rPr>
              <a:t>遇到的问题与解决方案</a:t>
            </a:r>
          </a:p>
        </p:txBody>
      </p:sp>
      <p:sp>
        <p:nvSpPr>
          <p:cNvPr id="27" name="Rectangle 27"/>
          <p:cNvSpPr/>
          <p:nvPr/>
        </p:nvSpPr>
        <p:spPr>
          <a:xfrm>
            <a:off x="6429375" y="1666875"/>
            <a:ext cx="5191125" cy="952500"/>
          </a:xfrm>
          <a:prstGeom prst="roundRect">
            <a:avLst>
              <a:gd name="adj" fmla="val 6000"/>
            </a:avLst>
          </a:prstGeom>
          <a:solidFill>
            <a:srgbClr val="FFFFFF"/>
          </a:solidFill>
          <a:ln>
            <a:noFill/>
          </a:ln>
        </p:spPr>
      </p:sp>
      <p:sp>
        <p:nvSpPr>
          <p:cNvPr id="28" name="Rectangle 28"/>
          <p:cNvSpPr/>
          <p:nvPr/>
        </p:nvSpPr>
        <p:spPr>
          <a:xfrm>
            <a:off x="6429375" y="1666875"/>
            <a:ext cx="47625" cy="952500"/>
          </a:xfrm>
          <a:prstGeom prst="roundRect">
            <a:avLst>
              <a:gd name="adj" fmla="val 50000"/>
            </a:avLst>
          </a:prstGeom>
          <a:solidFill>
            <a:srgbClr val="E53935"/>
          </a:solidFill>
          <a:ln>
            <a:noFill/>
          </a:ln>
        </p:spPr>
      </p:sp>
      <p:sp>
        <p:nvSpPr>
          <p:cNvPr id="29" name="TextBox 29"/>
          <p:cNvSpPr txBox="1"/>
          <p:nvPr/>
        </p:nvSpPr>
        <p:spPr>
          <a:xfrm>
            <a:off x="6606540" y="1791652"/>
            <a:ext cx="1636871"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Segoe UI"/>
                <a:ea typeface="Microsoft YaHei"/>
                <a:cs typeface="Segoe UI"/>
              </a:rPr>
              <a:t>领域数据获取与预处理</a:t>
            </a:r>
          </a:p>
        </p:txBody>
      </p:sp>
      <p:sp>
        <p:nvSpPr>
          <p:cNvPr id="30" name="TextBox 30"/>
          <p:cNvSpPr txBox="1"/>
          <p:nvPr/>
        </p:nvSpPr>
        <p:spPr>
          <a:xfrm>
            <a:off x="6607492" y="2037874"/>
            <a:ext cx="2303145" cy="198120"/>
          </a:xfrm>
          <a:prstGeom prst="rect">
            <a:avLst/>
          </a:prstGeom>
          <a:noFill/>
          <a:ln>
            <a:noFill/>
          </a:ln>
        </p:spPr>
        <p:txBody>
          <a:bodyPr wrap="none" lIns="0" tIns="0" rIns="0" bIns="0" anchor="t" anchorCtr="0">
            <a:spAutoFit/>
          </a:bodyPr>
          <a:lstStyle/>
          <a:p>
            <a:pPr algn="l"/>
            <a:r>
              <a:rPr lang="zh-CN" sz="975" dirty="0">
                <a:solidFill>
                  <a:srgbClr val="555555"/>
                </a:solidFill>
                <a:latin typeface="Segoe UI"/>
                <a:ea typeface="Microsoft YaHei"/>
                <a:cs typeface="Segoe UI"/>
              </a:rPr>
              <a:t>劳动法文档格式多样，需要统一清洗</a:t>
            </a:r>
          </a:p>
        </p:txBody>
      </p:sp>
      <p:sp>
        <p:nvSpPr>
          <p:cNvPr id="31" name="TextBox 31"/>
          <p:cNvSpPr txBox="1"/>
          <p:nvPr/>
        </p:nvSpPr>
        <p:spPr>
          <a:xfrm>
            <a:off x="6607492" y="2256949"/>
            <a:ext cx="3278576" cy="198120"/>
          </a:xfrm>
          <a:prstGeom prst="rect">
            <a:avLst/>
          </a:prstGeom>
          <a:noFill/>
          <a:ln>
            <a:noFill/>
          </a:ln>
        </p:spPr>
        <p:txBody>
          <a:bodyPr wrap="none" lIns="0" tIns="0" rIns="0" bIns="0" anchor="t" anchorCtr="0">
            <a:spAutoFit/>
          </a:bodyPr>
          <a:lstStyle/>
          <a:p>
            <a:pPr algn="l"/>
            <a:r>
              <a:rPr lang="zh-CN" sz="975" dirty="0">
                <a:solidFill>
                  <a:srgbClr val="2B7BD6"/>
                </a:solidFill>
                <a:latin typeface="Segoe UI"/>
                <a:ea typeface="Microsoft YaHei"/>
                <a:cs typeface="Segoe UI"/>
              </a:rPr>
              <a:t>→ 编写数据预处理脚本，统一处理编码、格式和噪声</a:t>
            </a:r>
          </a:p>
        </p:txBody>
      </p:sp>
      <p:sp>
        <p:nvSpPr>
          <p:cNvPr id="32" name="Rectangle 32"/>
          <p:cNvSpPr/>
          <p:nvPr/>
        </p:nvSpPr>
        <p:spPr>
          <a:xfrm>
            <a:off x="6429375" y="2762250"/>
            <a:ext cx="5191125" cy="952500"/>
          </a:xfrm>
          <a:prstGeom prst="roundRect">
            <a:avLst>
              <a:gd name="adj" fmla="val 6000"/>
            </a:avLst>
          </a:prstGeom>
          <a:solidFill>
            <a:srgbClr val="FFFFFF"/>
          </a:solidFill>
          <a:ln>
            <a:noFill/>
          </a:ln>
        </p:spPr>
      </p:sp>
      <p:sp>
        <p:nvSpPr>
          <p:cNvPr id="33" name="Rectangle 33"/>
          <p:cNvSpPr/>
          <p:nvPr/>
        </p:nvSpPr>
        <p:spPr>
          <a:xfrm>
            <a:off x="6429375" y="2762250"/>
            <a:ext cx="47625" cy="952500"/>
          </a:xfrm>
          <a:prstGeom prst="roundRect">
            <a:avLst>
              <a:gd name="adj" fmla="val 50000"/>
            </a:avLst>
          </a:prstGeom>
          <a:solidFill>
            <a:srgbClr val="E53935"/>
          </a:solidFill>
          <a:ln>
            <a:noFill/>
          </a:ln>
        </p:spPr>
      </p:sp>
      <p:sp>
        <p:nvSpPr>
          <p:cNvPr id="34" name="TextBox 34"/>
          <p:cNvSpPr txBox="1"/>
          <p:nvPr/>
        </p:nvSpPr>
        <p:spPr>
          <a:xfrm>
            <a:off x="6606540" y="2887028"/>
            <a:ext cx="1636871"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Segoe UI"/>
                <a:ea typeface="Microsoft YaHei"/>
                <a:cs typeface="Segoe UI"/>
              </a:rPr>
              <a:t>推理速度与准确性平衡</a:t>
            </a:r>
          </a:p>
        </p:txBody>
      </p:sp>
      <p:sp>
        <p:nvSpPr>
          <p:cNvPr id="35" name="TextBox 35"/>
          <p:cNvSpPr txBox="1"/>
          <p:nvPr/>
        </p:nvSpPr>
        <p:spPr>
          <a:xfrm>
            <a:off x="6607492" y="3133249"/>
            <a:ext cx="1391793" cy="198120"/>
          </a:xfrm>
          <a:prstGeom prst="rect">
            <a:avLst/>
          </a:prstGeom>
          <a:noFill/>
          <a:ln>
            <a:noFill/>
          </a:ln>
        </p:spPr>
        <p:txBody>
          <a:bodyPr wrap="none" lIns="0" tIns="0" rIns="0" bIns="0" anchor="t" anchorCtr="0">
            <a:spAutoFit/>
          </a:bodyPr>
          <a:lstStyle/>
          <a:p>
            <a:pPr algn="l"/>
            <a:r>
              <a:rPr lang="zh-CN" sz="975" dirty="0">
                <a:solidFill>
                  <a:srgbClr val="555555"/>
                </a:solidFill>
                <a:latin typeface="Segoe UI"/>
                <a:ea typeface="Microsoft YaHei"/>
                <a:cs typeface="Segoe UI"/>
              </a:rPr>
              <a:t>1.5B模型CPU推理较慢</a:t>
            </a:r>
          </a:p>
        </p:txBody>
      </p:sp>
      <p:sp>
        <p:nvSpPr>
          <p:cNvPr id="36" name="TextBox 36"/>
          <p:cNvSpPr txBox="1"/>
          <p:nvPr/>
        </p:nvSpPr>
        <p:spPr>
          <a:xfrm>
            <a:off x="6607492" y="3352324"/>
            <a:ext cx="2673382" cy="198120"/>
          </a:xfrm>
          <a:prstGeom prst="rect">
            <a:avLst/>
          </a:prstGeom>
          <a:noFill/>
          <a:ln>
            <a:noFill/>
          </a:ln>
        </p:spPr>
        <p:txBody>
          <a:bodyPr wrap="none" lIns="0" tIns="0" rIns="0" bIns="0" anchor="t" anchorCtr="0">
            <a:spAutoFit/>
          </a:bodyPr>
          <a:lstStyle/>
          <a:p>
            <a:pPr algn="l"/>
            <a:r>
              <a:rPr lang="zh-CN" sz="975" dirty="0">
                <a:solidFill>
                  <a:srgbClr val="2B7BD6"/>
                </a:solidFill>
                <a:latin typeface="Segoe UI"/>
                <a:ea typeface="Microsoft YaHei"/>
                <a:cs typeface="Segoe UI"/>
              </a:rPr>
              <a:t>→ 4-bit量化加速 + DeepSeek API备选方案</a:t>
            </a:r>
          </a:p>
        </p:txBody>
      </p:sp>
      <p:sp>
        <p:nvSpPr>
          <p:cNvPr id="37" name="Rectangle 37"/>
          <p:cNvSpPr/>
          <p:nvPr/>
        </p:nvSpPr>
        <p:spPr>
          <a:xfrm>
            <a:off x="6429375" y="3857625"/>
            <a:ext cx="5191125" cy="952500"/>
          </a:xfrm>
          <a:prstGeom prst="roundRect">
            <a:avLst>
              <a:gd name="adj" fmla="val 6000"/>
            </a:avLst>
          </a:prstGeom>
          <a:solidFill>
            <a:srgbClr val="FFFFFF"/>
          </a:solidFill>
          <a:ln>
            <a:noFill/>
          </a:ln>
        </p:spPr>
      </p:sp>
      <p:sp>
        <p:nvSpPr>
          <p:cNvPr id="38" name="Rectangle 38"/>
          <p:cNvSpPr/>
          <p:nvPr/>
        </p:nvSpPr>
        <p:spPr>
          <a:xfrm>
            <a:off x="6429375" y="3857625"/>
            <a:ext cx="47625" cy="952500"/>
          </a:xfrm>
          <a:prstGeom prst="roundRect">
            <a:avLst>
              <a:gd name="adj" fmla="val 50000"/>
            </a:avLst>
          </a:prstGeom>
          <a:solidFill>
            <a:srgbClr val="E53935"/>
          </a:solidFill>
          <a:ln>
            <a:noFill/>
          </a:ln>
        </p:spPr>
      </p:sp>
      <p:sp>
        <p:nvSpPr>
          <p:cNvPr id="39" name="TextBox 39"/>
          <p:cNvSpPr txBox="1"/>
          <p:nvPr/>
        </p:nvSpPr>
        <p:spPr>
          <a:xfrm>
            <a:off x="6606540" y="3982402"/>
            <a:ext cx="1153811" cy="213360"/>
          </a:xfrm>
          <a:prstGeom prst="rect">
            <a:avLst/>
          </a:prstGeom>
          <a:noFill/>
          <a:ln>
            <a:noFill/>
          </a:ln>
        </p:spPr>
        <p:txBody>
          <a:bodyPr wrap="none" lIns="0" tIns="0" rIns="0" bIns="0" anchor="t" anchorCtr="0">
            <a:spAutoFit/>
          </a:bodyPr>
          <a:lstStyle/>
          <a:p>
            <a:pPr algn="l"/>
            <a:r>
              <a:rPr lang="zh-CN" sz="1050" b="1" dirty="0">
                <a:solidFill>
                  <a:srgbClr val="1A1A1A"/>
                </a:solidFill>
                <a:latin typeface="Segoe UI"/>
                <a:ea typeface="Microsoft YaHei"/>
                <a:cs typeface="Segoe UI"/>
              </a:rPr>
              <a:t>检索相关性优化</a:t>
            </a:r>
          </a:p>
        </p:txBody>
      </p:sp>
      <p:sp>
        <p:nvSpPr>
          <p:cNvPr id="40" name="TextBox 40"/>
          <p:cNvSpPr txBox="1"/>
          <p:nvPr/>
        </p:nvSpPr>
        <p:spPr>
          <a:xfrm>
            <a:off x="6607492" y="4228624"/>
            <a:ext cx="1733550" cy="198120"/>
          </a:xfrm>
          <a:prstGeom prst="rect">
            <a:avLst/>
          </a:prstGeom>
          <a:noFill/>
          <a:ln>
            <a:noFill/>
          </a:ln>
        </p:spPr>
        <p:txBody>
          <a:bodyPr wrap="none" lIns="0" tIns="0" rIns="0" bIns="0" anchor="t" anchorCtr="0">
            <a:spAutoFit/>
          </a:bodyPr>
          <a:lstStyle/>
          <a:p>
            <a:pPr algn="l"/>
            <a:r>
              <a:rPr lang="zh-CN" sz="975" dirty="0">
                <a:solidFill>
                  <a:srgbClr val="555555"/>
                </a:solidFill>
                <a:latin typeface="Segoe UI"/>
                <a:ea typeface="Microsoft YaHei"/>
                <a:cs typeface="Segoe UI"/>
              </a:rPr>
              <a:t>单一检索策略召回效果不佳</a:t>
            </a:r>
          </a:p>
        </p:txBody>
      </p:sp>
      <p:sp>
        <p:nvSpPr>
          <p:cNvPr id="41" name="TextBox 41"/>
          <p:cNvSpPr txBox="1"/>
          <p:nvPr/>
        </p:nvSpPr>
        <p:spPr>
          <a:xfrm>
            <a:off x="6607492" y="4447699"/>
            <a:ext cx="2388584" cy="198120"/>
          </a:xfrm>
          <a:prstGeom prst="rect">
            <a:avLst/>
          </a:prstGeom>
          <a:noFill/>
          <a:ln>
            <a:noFill/>
          </a:ln>
        </p:spPr>
        <p:txBody>
          <a:bodyPr wrap="none" lIns="0" tIns="0" rIns="0" bIns="0" anchor="t" anchorCtr="0">
            <a:spAutoFit/>
          </a:bodyPr>
          <a:lstStyle/>
          <a:p>
            <a:pPr algn="l"/>
            <a:r>
              <a:rPr lang="zh-CN" sz="975" dirty="0">
                <a:solidFill>
                  <a:srgbClr val="2B7BD6"/>
                </a:solidFill>
                <a:latin typeface="Segoe UI"/>
                <a:ea typeface="Microsoft YaHei"/>
                <a:cs typeface="Segoe UI"/>
              </a:rPr>
              <a:t>→ 关键词+向量混合检索+RRF融合排序</a:t>
            </a:r>
          </a:p>
        </p:txBody>
      </p:sp>
      <p:sp>
        <p:nvSpPr>
          <p:cNvPr id="42" name="Rectangle 42"/>
          <p:cNvSpPr/>
          <p:nvPr/>
        </p:nvSpPr>
        <p:spPr>
          <a:xfrm>
            <a:off x="381000" y="5810250"/>
            <a:ext cx="11430000" cy="523875"/>
          </a:xfrm>
          <a:prstGeom prst="roundRect">
            <a:avLst>
              <a:gd name="adj" fmla="val 14545"/>
            </a:avLst>
          </a:prstGeom>
          <a:solidFill>
            <a:srgbClr val="1A3A5C">
              <a:alpha val="10000"/>
            </a:srgbClr>
          </a:solidFill>
          <a:ln>
            <a:noFill/>
          </a:ln>
        </p:spPr>
      </p:sp>
      <p:sp>
        <p:nvSpPr>
          <p:cNvPr id="43" name="TextBox 43"/>
          <p:cNvSpPr txBox="1"/>
          <p:nvPr/>
        </p:nvSpPr>
        <p:spPr>
          <a:xfrm>
            <a:off x="2660035" y="6003131"/>
            <a:ext cx="6871930" cy="228600"/>
          </a:xfrm>
          <a:prstGeom prst="rect">
            <a:avLst/>
          </a:prstGeom>
          <a:noFill/>
          <a:ln>
            <a:noFill/>
          </a:ln>
        </p:spPr>
        <p:txBody>
          <a:bodyPr wrap="none" lIns="0" tIns="0" rIns="0" bIns="0" anchor="t" anchorCtr="0">
            <a:spAutoFit/>
          </a:bodyPr>
          <a:lstStyle/>
          <a:p>
            <a:pPr algn="ctr"/>
            <a:r>
              <a:rPr lang="zh-CN" sz="1125" dirty="0">
                <a:solidFill>
                  <a:srgbClr val="1A3A5C"/>
                </a:solidFill>
                <a:latin typeface="Segoe UI"/>
                <a:ea typeface="Microsoft YaHei"/>
                <a:cs typeface="Segoe UI"/>
              </a:rPr>
              <a:t>通过本次课程设计，我们不仅深入学习了NLP前沿技术，更锻炼了从理论到实践的完整工程能力</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A3A5C"/>
              </a:gs>
              <a:gs pos="100000">
                <a:srgbClr val="2B7BD6"/>
              </a:gs>
            </a:gsLst>
            <a:lin ang="2700000" scaled="1"/>
          </a:gradFill>
          <a:ln>
            <a:noFill/>
          </a:ln>
        </p:spPr>
      </p:sp>
      <p:sp>
        <p:nvSpPr>
          <p:cNvPr id="3" name="Ellipse 3"/>
          <p:cNvSpPr/>
          <p:nvPr/>
        </p:nvSpPr>
        <p:spPr>
          <a:xfrm>
            <a:off x="285750" y="285750"/>
            <a:ext cx="2286000" cy="2286000"/>
          </a:xfrm>
          <a:prstGeom prst="ellipse">
            <a:avLst/>
          </a:prstGeom>
          <a:solidFill>
            <a:srgbClr val="2B7BD6">
              <a:alpha val="12000"/>
            </a:srgbClr>
          </a:solidFill>
          <a:ln>
            <a:noFill/>
          </a:ln>
        </p:spPr>
      </p:sp>
      <p:sp>
        <p:nvSpPr>
          <p:cNvPr id="4" name="Ellipse 4"/>
          <p:cNvSpPr/>
          <p:nvPr/>
        </p:nvSpPr>
        <p:spPr>
          <a:xfrm>
            <a:off x="9810750" y="4762500"/>
            <a:ext cx="1905000" cy="1905000"/>
          </a:xfrm>
          <a:prstGeom prst="ellipse">
            <a:avLst/>
          </a:prstGeom>
          <a:solidFill>
            <a:srgbClr val="5BA0E8">
              <a:alpha val="10000"/>
            </a:srgbClr>
          </a:solidFill>
          <a:ln>
            <a:noFill/>
          </a:ln>
        </p:spPr>
      </p:sp>
      <p:sp>
        <p:nvSpPr>
          <p:cNvPr id="5" name="Ellipse 5"/>
          <p:cNvSpPr/>
          <p:nvPr/>
        </p:nvSpPr>
        <p:spPr>
          <a:xfrm>
            <a:off x="4381500" y="3810000"/>
            <a:ext cx="3429000" cy="3429000"/>
          </a:xfrm>
          <a:prstGeom prst="ellipse">
            <a:avLst/>
          </a:prstGeom>
          <a:solidFill>
            <a:srgbClr val="2B7BD6">
              <a:alpha val="6000"/>
            </a:srgbClr>
          </a:solidFill>
          <a:ln>
            <a:noFill/>
          </a:ln>
        </p:spPr>
      </p:sp>
      <p:sp>
        <p:nvSpPr>
          <p:cNvPr id="6" name="Rectangle 6"/>
          <p:cNvSpPr/>
          <p:nvPr/>
        </p:nvSpPr>
        <p:spPr>
          <a:xfrm>
            <a:off x="0" y="0"/>
            <a:ext cx="12192000" cy="28575"/>
          </a:xfrm>
          <a:prstGeom prst="rect">
            <a:avLst/>
          </a:prstGeom>
          <a:solidFill>
            <a:srgbClr val="5BA0E8"/>
          </a:solidFill>
          <a:ln>
            <a:noFill/>
          </a:ln>
        </p:spPr>
      </p:sp>
      <p:sp>
        <p:nvSpPr>
          <p:cNvPr id="7" name="TextBox 7"/>
          <p:cNvSpPr txBox="1"/>
          <p:nvPr/>
        </p:nvSpPr>
        <p:spPr>
          <a:xfrm>
            <a:off x="4785265" y="2084070"/>
            <a:ext cx="2621470" cy="1097280"/>
          </a:xfrm>
          <a:prstGeom prst="rect">
            <a:avLst/>
          </a:prstGeom>
          <a:noFill/>
          <a:ln>
            <a:noFill/>
          </a:ln>
        </p:spPr>
        <p:txBody>
          <a:bodyPr wrap="none" lIns="0" tIns="0" rIns="0" bIns="0" anchor="t" anchorCtr="0">
            <a:spAutoFit/>
          </a:bodyPr>
          <a:lstStyle/>
          <a:p>
            <a:pPr algn="ctr"/>
            <a:r>
              <a:rPr lang="zh-CN" sz="5400" b="1" dirty="0">
                <a:solidFill>
                  <a:srgbClr val="FFFFFF"/>
                </a:solidFill>
                <a:latin typeface="Arial"/>
                <a:ea typeface="Microsoft YaHei"/>
                <a:cs typeface="Arial"/>
              </a:rPr>
              <a:t>谢谢！</a:t>
            </a:r>
          </a:p>
        </p:txBody>
      </p:sp>
      <p:sp>
        <p:nvSpPr>
          <p:cNvPr id="8" name="Rectangle 8"/>
          <p:cNvSpPr/>
          <p:nvPr/>
        </p:nvSpPr>
        <p:spPr>
          <a:xfrm>
            <a:off x="4191000" y="2952750"/>
            <a:ext cx="3810000" cy="19050"/>
          </a:xfrm>
          <a:prstGeom prst="roundRect">
            <a:avLst>
              <a:gd name="adj" fmla="val 50000"/>
            </a:avLst>
          </a:prstGeom>
          <a:solidFill>
            <a:srgbClr val="5BA0E8">
              <a:alpha val="60000"/>
            </a:srgbClr>
          </a:solidFill>
          <a:ln>
            <a:noFill/>
          </a:ln>
        </p:spPr>
      </p:sp>
      <p:sp>
        <p:nvSpPr>
          <p:cNvPr id="9" name="TextBox 9"/>
          <p:cNvSpPr txBox="1"/>
          <p:nvPr/>
        </p:nvSpPr>
        <p:spPr>
          <a:xfrm>
            <a:off x="5153025" y="3425190"/>
            <a:ext cx="1885950" cy="365760"/>
          </a:xfrm>
          <a:prstGeom prst="rect">
            <a:avLst/>
          </a:prstGeom>
          <a:noFill/>
          <a:ln>
            <a:noFill/>
          </a:ln>
        </p:spPr>
        <p:txBody>
          <a:bodyPr wrap="none" lIns="0" tIns="0" rIns="0" bIns="0" anchor="t" anchorCtr="0">
            <a:spAutoFit/>
          </a:bodyPr>
          <a:lstStyle/>
          <a:p>
            <a:pPr algn="ctr"/>
            <a:r>
              <a:rPr lang="zh-CN" sz="1800" dirty="0">
                <a:solidFill>
                  <a:srgbClr val="CCDDE8"/>
                </a:solidFill>
                <a:latin typeface="Segoe UI"/>
                <a:ea typeface="Microsoft YaHei"/>
                <a:cs typeface="Segoe UI"/>
              </a:rPr>
              <a:t>请老师批评指正</a:t>
            </a:r>
          </a:p>
        </p:txBody>
      </p:sp>
      <p:sp>
        <p:nvSpPr>
          <p:cNvPr id="10" name="TextBox 10"/>
          <p:cNvSpPr txBox="1"/>
          <p:nvPr/>
        </p:nvSpPr>
        <p:spPr>
          <a:xfrm>
            <a:off x="4536019" y="4616768"/>
            <a:ext cx="3119961" cy="274320"/>
          </a:xfrm>
          <a:prstGeom prst="rect">
            <a:avLst/>
          </a:prstGeom>
          <a:noFill/>
          <a:ln>
            <a:noFill/>
          </a:ln>
        </p:spPr>
        <p:txBody>
          <a:bodyPr wrap="none" lIns="0" tIns="0" rIns="0" bIns="0" anchor="t" anchorCtr="0">
            <a:spAutoFit/>
          </a:bodyPr>
          <a:lstStyle/>
          <a:p>
            <a:pPr algn="ctr"/>
            <a:r>
              <a:rPr lang="zh-CN" sz="1350" dirty="0">
                <a:solidFill>
                  <a:srgbClr val="8899BB"/>
                </a:solidFill>
                <a:latin typeface="Segoe UI"/>
                <a:ea typeface="Microsoft YaHei"/>
                <a:cs typeface="Segoe UI"/>
              </a:rPr>
              <a:t>基于RAG的劳动法领域智能问答系统</a:t>
            </a:r>
          </a:p>
        </p:txBody>
      </p:sp>
      <p:sp>
        <p:nvSpPr>
          <p:cNvPr id="11" name="TextBox 11"/>
          <p:cNvSpPr txBox="1"/>
          <p:nvPr/>
        </p:nvSpPr>
        <p:spPr>
          <a:xfrm>
            <a:off x="4371975" y="4966335"/>
            <a:ext cx="3448050" cy="243840"/>
          </a:xfrm>
          <a:prstGeom prst="rect">
            <a:avLst/>
          </a:prstGeom>
          <a:noFill/>
          <a:ln>
            <a:noFill/>
          </a:ln>
        </p:spPr>
        <p:txBody>
          <a:bodyPr wrap="none" lIns="0" tIns="0" rIns="0" bIns="0" anchor="t" anchorCtr="0">
            <a:spAutoFit/>
          </a:bodyPr>
          <a:lstStyle/>
          <a:p>
            <a:pPr algn="ctr"/>
            <a:r>
              <a:rPr lang="zh-CN" sz="1200" dirty="0">
                <a:solidFill>
                  <a:srgbClr val="6A7A99"/>
                </a:solidFill>
                <a:latin typeface="Segoe UI"/>
                <a:ea typeface="Microsoft YaHei"/>
                <a:cs typeface="Segoe UI"/>
              </a:rPr>
              <a:t>第3小组 ｜ 指导教师：武绍娟 ｜ 2026年5月</a:t>
            </a:r>
          </a:p>
        </p:txBody>
      </p:sp>
      <p:sp>
        <p:nvSpPr>
          <p:cNvPr id="12" name="TextBox 12"/>
          <p:cNvSpPr txBox="1"/>
          <p:nvPr/>
        </p:nvSpPr>
        <p:spPr>
          <a:xfrm>
            <a:off x="11497342" y="6475095"/>
            <a:ext cx="134588" cy="182880"/>
          </a:xfrm>
          <a:prstGeom prst="rect">
            <a:avLst/>
          </a:prstGeom>
          <a:noFill/>
          <a:ln>
            <a:noFill/>
          </a:ln>
        </p:spPr>
        <p:txBody>
          <a:bodyPr wrap="none" lIns="0" tIns="0" rIns="0" bIns="0" anchor="t" anchorCtr="0">
            <a:spAutoFit/>
          </a:bodyPr>
          <a:lstStyle/>
          <a:p>
            <a:pPr algn="r"/>
            <a:r>
              <a:rPr lang="zh-CN" sz="900" dirty="0">
                <a:solidFill>
                  <a:srgbClr val="5BA0E8">
                    <a:alphaMod val="50000"/>
                  </a:srgbClr>
                </a:solidFill>
                <a:latin typeface="Arial"/>
                <a:ea typeface="Microsoft YaHei"/>
                <a:cs typeface="Arial"/>
              </a:rPr>
              <a:t>13</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1793</Words>
  <Application>Microsoft Office PowerPoint</Application>
  <PresentationFormat>宽屏</PresentationFormat>
  <Paragraphs>312</Paragraphs>
  <Slides>13</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13</vt:i4>
      </vt:variant>
    </vt:vector>
  </HeadingPairs>
  <TitlesOfParts>
    <vt:vector size="18" baseType="lpstr">
      <vt:lpstr>Arial</vt:lpstr>
      <vt:lpstr>Calibri</vt:lpstr>
      <vt:lpstr>Consolas</vt:lpstr>
      <vt:lpstr>Segoe UI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浩哲 刘</cp:lastModifiedBy>
  <cp:revision>2</cp:revision>
  <dcterms:created xsi:type="dcterms:W3CDTF">2013-01-27T09:14:16Z</dcterms:created>
  <dcterms:modified xsi:type="dcterms:W3CDTF">2026-05-22T08:32:14Z</dcterms:modified>
  <cp:category/>
</cp:coreProperties>
</file>