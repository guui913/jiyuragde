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85" r:id="rId3"/>
  </p:sldMasterIdLst>
  <p:notesMasterIdLst>
    <p:notesMasterId r:id="rId16"/>
  </p:notesMasterIdLst>
  <p:sldIdLst>
    <p:sldId id="333" r:id="rId4"/>
    <p:sldId id="410" r:id="rId5"/>
    <p:sldId id="372" r:id="rId6"/>
    <p:sldId id="422" r:id="rId7"/>
    <p:sldId id="421" r:id="rId8"/>
    <p:sldId id="383" r:id="rId9"/>
    <p:sldId id="419" r:id="rId10"/>
    <p:sldId id="423" r:id="rId11"/>
    <p:sldId id="424" r:id="rId12"/>
    <p:sldId id="417" r:id="rId13"/>
    <p:sldId id="415" r:id="rId14"/>
    <p:sldId id="416" r:id="rId15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733" autoAdjust="0"/>
  </p:normalViewPr>
  <p:slideViewPr>
    <p:cSldViewPr>
      <p:cViewPr varScale="1">
        <p:scale>
          <a:sx n="117" d="100"/>
          <a:sy n="117" d="100"/>
        </p:scale>
        <p:origin x="114" y="7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C6984E-930F-425E-9628-286E2DA8E4BA}" type="datetimeFigureOut">
              <a:rPr lang="zh-CN" altLang="en-US" smtClean="0"/>
              <a:pPr/>
              <a:t>2022-05-25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406A36-828E-4F78-9EF3-6AEA119A378D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0029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1141413" y="685800"/>
            <a:ext cx="4573587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汇报</a:t>
            </a:r>
            <a:r>
              <a:rPr lang="en-US" altLang="zh-CN" dirty="0"/>
              <a:t>15</a:t>
            </a:r>
            <a:r>
              <a:rPr lang="zh-CN" altLang="en-US" dirty="0"/>
              <a:t>分钟，提问</a:t>
            </a:r>
            <a:r>
              <a:rPr lang="en-US" altLang="zh-CN" dirty="0"/>
              <a:t>10</a:t>
            </a:r>
            <a:r>
              <a:rPr lang="zh-CN" altLang="en-US"/>
              <a:t>分钟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2479628-7038-46C5-BFDB-B4D01F73F67E}" type="slidenum">
              <a:rPr lang="ja-JP" altLang="en-US" smtClean="0"/>
              <a:pPr/>
              <a:t>1</a:t>
            </a:fld>
            <a:endParaRPr lang="ja-JP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06A36-828E-4F78-9EF3-6AEA119A378D}" type="slidenum">
              <a:rPr lang="zh-CN" altLang="en-US" smtClean="0"/>
              <a:pPr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3602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0406A36-828E-4F78-9EF3-6AEA119A378D}" type="slidenum">
              <a:rPr lang="zh-CN" altLang="en-US" smtClean="0"/>
              <a:pPr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028917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8F319-55E5-4935-B369-969BC690AF52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1B3DB6-6247-41D6-94AD-904173E6D40A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9813E4-AE31-4ADB-8778-19A1AD6308AA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E32C79-6EF8-4681-9A53-9EA22789E4EA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CEB566-194A-4008-AC3E-77201106A8B0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7E7DEB-6669-4825-A243-21D08FB13A9C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B72079-184C-4703-BA13-054BFD5D611B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9DD5B1-64AE-4B69-AF65-2ADDF0AD11CE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CE686-9884-4BE5-A539-C8697B5EE951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005C72-97E9-43D8-BE54-12A33D11851A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3B5070-8C90-48A2-96AB-93E094DECABD}" type="datetime1">
              <a:rPr lang="ja-JP" altLang="en-US" smtClean="0"/>
              <a:pPr/>
              <a:t>2022/5/25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C7DFBDC6-5746-4FAC-8E4F-FFBC5BB95374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12006BB7-318B-484E-A8E8-D8B8A670F341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964875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676DB14-58F1-4A30-A15D-BFDE57F12D08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8F8F10C5-8F32-415A-AF87-A3467E7B82FE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466907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A49E58CA-C1F7-4F2E-BD0A-21B4FBB5DB89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22EFE795-7BB2-429B-AD90-8D77B952860E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952746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AC9AD2A0-39A7-4E52-9E4D-798EE051FCEC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341E7D59-586D-409F-953E-813EFE8AE610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68162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B35A93AB-9D00-4B1D-BA10-145EF3A761B5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25C2690D-DAFE-449B-8E0A-5FBBF5819A95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126556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18BB4974-F6C3-44A6-A950-5A0E748AD6D4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15042658-57B5-48BE-8751-0A4E96F80E3D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5681512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8DFC9593-EA8B-4482-A64F-AF508AF69CDA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pic>
        <p:nvPicPr>
          <p:cNvPr id="5" name="Picture 9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9375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252237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861542D3-0CF3-4C04-B844-4B33F9747CD2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88902B6E-140B-4089-AF68-BA47DFCF4F79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4007410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EE05DBFB-BAE5-48F0-A0DE-D1ED62911A1C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3CC23243-CB43-421F-9670-80435DEF94C5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288576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458C8813-4364-471D-803D-BF3D9D0AA955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7CB7DC17-60B7-48D7-B3D8-07A289757E76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630256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80D52AB6-0536-42F8-9814-DB58FBC12234}" type="datetime1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algn="ctr" rtl="0" fontAlgn="base">
              <a:spcBef>
                <a:spcPct val="0"/>
              </a:spcBef>
              <a:spcAft>
                <a:spcPct val="0"/>
              </a:spcAft>
            </a:pPr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51ACD424-4363-4E9A-B282-7CF330C84834}" type="slidenum">
              <a:rPr lang="ja-JP" altLang="en-US" sz="1200" kern="120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sz="1200" kern="120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5250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altLang="ja-JP"/>
              <a:t>Click to edit Master subtitle style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C7DFBDC6-5746-4FAC-8E4F-FFBC5BB95374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2006BB7-318B-484E-A8E8-D8B8A670F341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59648754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676DB14-58F1-4A30-A15D-BFDE57F12D08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F8F10C5-8F32-415A-AF87-A3467E7B82FE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94669075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49E58CA-C1F7-4F2E-BD0A-21B4FBB5DB89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2EFE795-7BB2-429B-AD90-8D77B952860E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3952746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AC9AD2A0-39A7-4E52-9E4D-798EE051FCEC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41E7D59-586D-409F-953E-813EFE8AE610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63681620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35A93AB-9D00-4B1D-BA10-145EF3A761B5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25C2690D-DAFE-449B-8E0A-5FBBF5819A95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1265566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8BB4974-F6C3-44A6-A950-5A0E748AD6D4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15042658-57B5-48BE-8751-0A4E96F80E3D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4256815129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DFC9593-EA8B-4482-A64F-AF508AF69CDA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dirty="0"/>
          </a:p>
        </p:txBody>
      </p:sp>
      <p:pic>
        <p:nvPicPr>
          <p:cNvPr id="5" name="Picture 9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39375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62522377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61542D3-0CF3-4C04-B844-4B33F9747CD2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8902B6E-140B-4089-AF68-BA47DFCF4F79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14007410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ja-JP" alt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ja-JP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EE05DBFB-BAE5-48F0-A0DE-D1ED62911A1C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3CC23243-CB43-421F-9670-80435DEF94C5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15128857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458C8813-4364-471D-803D-BF3D9D0AA955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CB7DC17-60B7-48D7-B3D8-07A289757E76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3963025663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altLang="ja-JP"/>
              <a:t>Click to edit Master title style</a:t>
            </a:r>
            <a:endParaRPr lang="ja-JP" alt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altLang="ja-JP"/>
              <a:t>Click to edit Master text styles</a:t>
            </a:r>
          </a:p>
          <a:p>
            <a:pPr lvl="1"/>
            <a:r>
              <a:rPr lang="en-US" altLang="ja-JP"/>
              <a:t>Second level</a:t>
            </a:r>
          </a:p>
          <a:p>
            <a:pPr lvl="2"/>
            <a:r>
              <a:rPr lang="en-US" altLang="ja-JP"/>
              <a:t>Third level</a:t>
            </a:r>
          </a:p>
          <a:p>
            <a:pPr lvl="3"/>
            <a:r>
              <a:rPr lang="en-US" altLang="ja-JP"/>
              <a:t>Fourth level</a:t>
            </a:r>
          </a:p>
          <a:p>
            <a:pPr lvl="4"/>
            <a:r>
              <a:rPr lang="en-US" altLang="ja-JP"/>
              <a:t>Fifth level</a:t>
            </a:r>
            <a:endParaRPr lang="ja-JP" alt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80D52AB6-0536-42F8-9814-DB58FBC12234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1ACD424-4363-4E9A-B282-7CF330C84834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  <p:extLst>
      <p:ext uri="{BB962C8B-B14F-4D97-AF65-F5344CB8AC3E}">
        <p14:creationId xmlns:p14="http://schemas.microsoft.com/office/powerpoint/2010/main" val="552502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slideLayout" Target="../slideLayouts/slideLayout24.xml"/><Relationship Id="rId3" Type="http://schemas.openxmlformats.org/officeDocument/2006/relationships/slideLayout" Target="../slideLayouts/slideLayout25.xml"/><Relationship Id="rId4" Type="http://schemas.openxmlformats.org/officeDocument/2006/relationships/slideLayout" Target="../slideLayouts/slideLayout26.xml"/><Relationship Id="rId5" Type="http://schemas.openxmlformats.org/officeDocument/2006/relationships/slideLayout" Target="../slideLayouts/slideLayout27.xml"/><Relationship Id="rId6" Type="http://schemas.openxmlformats.org/officeDocument/2006/relationships/slideLayout" Target="../slideLayouts/slideLayout28.xml"/><Relationship Id="rId7" Type="http://schemas.openxmlformats.org/officeDocument/2006/relationships/slideLayout" Target="../slideLayouts/slideLayout29.xml"/><Relationship Id="rId8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1.xml"/><Relationship Id="rId10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3.xml"/><Relationship Id="rId12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0D245-DA4E-4B2A-84F5-0C494E56B6DD}" type="datetime1">
              <a:rPr lang="ja-JP" altLang="en-US" smtClean="0"/>
              <a:pPr/>
              <a:t>2022/5/25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/>
              <a:t>Click to edit Master text styles</a:t>
            </a:r>
          </a:p>
          <a:p>
            <a:pPr lvl="1"/>
            <a:r>
              <a:rPr lang="ja-JP" altLang="ja-JP"/>
              <a:t>Second level</a:t>
            </a:r>
          </a:p>
          <a:p>
            <a:pPr lvl="2"/>
            <a:r>
              <a:rPr lang="ja-JP" altLang="ja-JP"/>
              <a:t>Third level</a:t>
            </a:r>
          </a:p>
          <a:p>
            <a:pPr lvl="3"/>
            <a:r>
              <a:rPr lang="ja-JP" altLang="ja-JP"/>
              <a:t>Fourth level</a:t>
            </a:r>
          </a:p>
          <a:p>
            <a:pPr lvl="4"/>
            <a:r>
              <a:rPr lang="ja-JP" altLang="ja-JP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 algn="l" rtl="0" fontAlgn="base">
              <a:spcBef>
                <a:spcPct val="0"/>
              </a:spcBef>
              <a:spcAft>
                <a:spcPct val="0"/>
              </a:spcAft>
            </a:pPr>
            <a:fld id="{D117221C-6344-47E5-B636-A29E584AC51F}" type="datetime1">
              <a:rPr lang="ja-JP" altLang="en-US" kern="1200" smtClean="0">
                <a:latin typeface="Calibri" pitchFamily="34" charset="0"/>
                <a:ea typeface="MS PGothic" pitchFamily="34" charset="-128"/>
                <a:cs typeface="+mn-cs"/>
              </a:rPr>
              <a:pPr algn="l" rtl="0"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 kern="1200"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</a:pPr>
            <a:endParaRPr lang="ja-JP" altLang="en-US" kern="1200"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rtl="0" fontAlgn="base">
              <a:spcBef>
                <a:spcPct val="0"/>
              </a:spcBef>
              <a:spcAft>
                <a:spcPct val="0"/>
              </a:spcAft>
            </a:pPr>
            <a:fld id="{721831C1-CC9A-4BD0-9A06-1076E8B91846}" type="slidenum">
              <a:rPr lang="ja-JP" altLang="en-US" kern="1200">
                <a:latin typeface="Calibri" pitchFamily="34" charset="0"/>
                <a:ea typeface="MS PGothic" pitchFamily="34" charset="-128"/>
                <a:cs typeface="+mn-cs"/>
              </a:rPr>
              <a:pPr rtl="0"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 kern="1200">
              <a:latin typeface="Calibri" pitchFamily="34" charset="0"/>
              <a:ea typeface="MS PGothic" pitchFamily="34" charset="-128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/>
              <a:t>Click to edit Master title style</a:t>
            </a:r>
          </a:p>
        </p:txBody>
      </p:sp>
      <p:sp>
        <p:nvSpPr>
          <p:cNvPr id="1027" name="Text Placeholder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/>
              <a:t>Click to edit Master text styles</a:t>
            </a:r>
          </a:p>
          <a:p>
            <a:pPr lvl="1"/>
            <a:r>
              <a:rPr lang="ja-JP" altLang="ja-JP"/>
              <a:t>Second level</a:t>
            </a:r>
          </a:p>
          <a:p>
            <a:pPr lvl="2"/>
            <a:r>
              <a:rPr lang="ja-JP" altLang="ja-JP"/>
              <a:t>Third level</a:t>
            </a:r>
          </a:p>
          <a:p>
            <a:pPr lvl="3"/>
            <a:r>
              <a:rPr lang="ja-JP" altLang="ja-JP"/>
              <a:t>Fourth level</a:t>
            </a:r>
          </a:p>
          <a:p>
            <a:pPr lvl="4"/>
            <a:r>
              <a:rPr lang="ja-JP" altLang="ja-JP"/>
              <a:t>Fifth level</a:t>
            </a:r>
          </a:p>
        </p:txBody>
      </p:sp>
      <p:sp>
        <p:nvSpPr>
          <p:cNvPr id="1028" name="Date Placeholder 3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D117221C-6344-47E5-B636-A29E584AC51F}" type="datetime1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2022/5/25</a:t>
            </a:fld>
            <a:endParaRPr lang="ja-JP" altLang="en-US"/>
          </a:p>
        </p:txBody>
      </p:sp>
      <p:sp>
        <p:nvSpPr>
          <p:cNvPr id="1029" name="Footer Placeholder 4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ja-JP" altLang="en-US"/>
          </a:p>
        </p:txBody>
      </p:sp>
      <p:sp>
        <p:nvSpPr>
          <p:cNvPr id="1030" name="Slide Number Placeholder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721831C1-CC9A-4BD0-9A06-1076E8B91846}" type="slidenum">
              <a:rPr lang="ja-JP" alt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‹#›</a:t>
            </a:fld>
            <a:endParaRPr lang="ja-JP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MS PGothic" pitchFamily="34" charset="-128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ctrTitle" idx="4294967295"/>
          </p:nvPr>
        </p:nvSpPr>
        <p:spPr>
          <a:xfrm>
            <a:off x="0" y="2132856"/>
            <a:ext cx="9144000" cy="1470025"/>
          </a:xfrm>
        </p:spPr>
        <p:txBody>
          <a:bodyPr>
            <a:noAutofit/>
          </a:bodyPr>
          <a:lstStyle/>
          <a:p>
            <a:r>
              <a:rPr lang="zh-CN" altLang="en-US" sz="4800" b="1" kern="1700" spc="720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基于RAG的劳动法领域
智能问答系统</a:t>
            </a:r>
            <a:endParaRPr lang="ja-JP" altLang="en-US" sz="4800" b="1" kern="1700" spc="720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  <p:pic>
        <p:nvPicPr>
          <p:cNvPr id="9" name="Picture 9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3644267"/>
            <a:ext cx="9144000" cy="2133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3" name="图片 12" descr="山西大学.jpg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1000100" cy="1000100"/>
          </a:xfrm>
          <a:prstGeom prst="rect">
            <a:avLst/>
          </a:prstGeom>
        </p:spPr>
      </p:pic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>
                <a:solidFill>
                  <a:schemeClr val="tx1"/>
                </a:solidFill>
              </a:rPr>
              <a:pPr/>
              <a:t>1</a:t>
            </a:fld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0" name="Subtitle 2"/>
          <p:cNvSpPr txBox="1">
            <a:spLocks/>
          </p:cNvSpPr>
          <p:nvPr/>
        </p:nvSpPr>
        <p:spPr bwMode="auto">
          <a:xfrm>
            <a:off x="1267544" y="4149080"/>
            <a:ext cx="6400800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spcBef>
                <a:spcPct val="20000"/>
              </a:spcBef>
              <a:spcAft>
                <a:spcPct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30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汇报人：（请填写）（组长） </a:t>
            </a:r>
            <a:endParaRPr kumimoji="0" lang="ja-JP" altLang="en-US" sz="3000" b="0" i="0" u="none" strike="noStrike" kern="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Subtitle 2"/>
          <p:cNvSpPr txBox="1">
            <a:spLocks/>
          </p:cNvSpPr>
          <p:nvPr/>
        </p:nvSpPr>
        <p:spPr>
          <a:xfrm>
            <a:off x="827584" y="5373216"/>
            <a:ext cx="7704137" cy="5509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组员：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（请填写）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、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（请填写）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、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（请填写）</a:t>
            </a:r>
            <a:r>
              <a:rPr kumimoji="0" lang="zh-CN" altLang="en-US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、</a:t>
            </a:r>
            <a:r>
              <a:rPr kumimoji="0" lang="en-US" altLang="zh-CN" sz="2200" b="0" i="0" u="none" strike="noStrike" kern="1200" cap="none" spc="0" normalizeH="0" baseline="0" noProof="0" dirty="0">
                <a:ln>
                  <a:noFill/>
                </a:ln>
                <a:solidFill>
                  <a:srgbClr val="0D0D0D"/>
                </a:solidFill>
                <a:effectLst/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（请填写）</a:t>
            </a:r>
            <a:endParaRPr kumimoji="0" lang="ja-JP" altLang="en-US" sz="2200" b="0" i="0" u="none" strike="noStrike" kern="1200" cap="none" spc="0" normalizeH="0" baseline="0" noProof="0" dirty="0">
              <a:ln>
                <a:noFill/>
              </a:ln>
              <a:solidFill>
                <a:srgbClr val="898989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3034"/>
    </mc:Choice>
    <mc:Fallback xmlns="">
      <p:transition spd="slow" advTm="2303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>
          <a:xfrm>
            <a:off x="6553200" y="6381328"/>
            <a:ext cx="2133600" cy="365125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2</a:t>
            </a:fld>
            <a:endParaRPr lang="zh-CN" altLang="en-US"/>
          </a:p>
        </p:txBody>
      </p:sp>
      <p:sp>
        <p:nvSpPr>
          <p:cNvPr id="11" name="Rectangle 2"/>
          <p:cNvSpPr txBox="1">
            <a:spLocks noChangeArrowheads="1"/>
          </p:cNvSpPr>
          <p:nvPr/>
        </p:nvSpPr>
        <p:spPr bwMode="auto">
          <a:xfrm>
            <a:off x="611560" y="188640"/>
            <a:ext cx="7939088" cy="71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zh-CN" altLang="en-US" sz="3600" b="1" i="0" u="none" strike="noStrike" kern="1200" cap="none" spc="600" normalizeH="0" baseline="0" noProof="0">
                <a:ln>
                  <a:noFill/>
                </a:ln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j-cs"/>
              </a:rPr>
              <a:t>汇报提纲</a:t>
            </a:r>
            <a:endParaRPr kumimoji="0" lang="zh-CN" altLang="en-US" sz="3600" b="1" i="0" u="none" strike="noStrike" kern="1200" cap="none" spc="600" normalizeH="0" baseline="0" noProof="0" dirty="0">
              <a:ln>
                <a:noFill/>
              </a:ln>
              <a:solidFill>
                <a:srgbClr val="00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uLnTx/>
              <a:uFillTx/>
              <a:latin typeface="微软雅黑" pitchFamily="34" charset="-122"/>
              <a:ea typeface="微软雅黑" pitchFamily="34" charset="-122"/>
              <a:cs typeface="+mj-cs"/>
            </a:endParaRPr>
          </a:p>
        </p:txBody>
      </p:sp>
      <p:sp>
        <p:nvSpPr>
          <p:cNvPr id="12" name="AutoShape 11"/>
          <p:cNvSpPr>
            <a:spLocks noChangeArrowheads="1"/>
          </p:cNvSpPr>
          <p:nvPr/>
        </p:nvSpPr>
        <p:spPr bwMode="auto">
          <a:xfrm>
            <a:off x="1331640" y="5625312"/>
            <a:ext cx="6481762" cy="612000"/>
          </a:xfrm>
          <a:prstGeom prst="round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五、课程设计总结</a:t>
            </a:r>
          </a:p>
        </p:txBody>
      </p:sp>
      <p:sp>
        <p:nvSpPr>
          <p:cNvPr id="14" name="AutoShape 8"/>
          <p:cNvSpPr>
            <a:spLocks noChangeArrowheads="1"/>
          </p:cNvSpPr>
          <p:nvPr/>
        </p:nvSpPr>
        <p:spPr bwMode="auto">
          <a:xfrm>
            <a:off x="1330597" y="2456960"/>
            <a:ext cx="6481763" cy="612000"/>
          </a:xfrm>
          <a:prstGeom prst="round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二、技术路线设计</a:t>
            </a:r>
          </a:p>
        </p:txBody>
      </p:sp>
      <p:sp>
        <p:nvSpPr>
          <p:cNvPr id="15" name="AutoShape 10"/>
          <p:cNvSpPr>
            <a:spLocks noChangeArrowheads="1"/>
          </p:cNvSpPr>
          <p:nvPr/>
        </p:nvSpPr>
        <p:spPr bwMode="auto">
          <a:xfrm>
            <a:off x="1331640" y="3465072"/>
            <a:ext cx="6481762" cy="612000"/>
          </a:xfrm>
          <a:prstGeom prst="round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eaLnBrk="0" hangingPunct="0">
              <a:lnSpc>
                <a:spcPct val="90000"/>
              </a:lnSpc>
              <a:buClr>
                <a:srgbClr val="FF0000"/>
              </a:buClr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三</a:t>
            </a:r>
            <a:r>
              <a:rPr lang="zh-CN" altLang="en-US" sz="27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、系统设计、演示及结果分析</a:t>
            </a:r>
          </a:p>
        </p:txBody>
      </p:sp>
      <p:sp>
        <p:nvSpPr>
          <p:cNvPr id="16" name="AutoShape 13"/>
          <p:cNvSpPr>
            <a:spLocks noChangeArrowheads="1"/>
          </p:cNvSpPr>
          <p:nvPr/>
        </p:nvSpPr>
        <p:spPr bwMode="auto">
          <a:xfrm>
            <a:off x="1330597" y="1467231"/>
            <a:ext cx="6481763" cy="612000"/>
          </a:xfrm>
          <a:prstGeom prst="round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lvl="0" eaLnBrk="0" hangingPunct="0">
              <a:lnSpc>
                <a:spcPct val="90000"/>
              </a:lnSpc>
              <a:buClr>
                <a:srgbClr val="FF0000"/>
              </a:buClr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一</a:t>
            </a:r>
            <a:r>
              <a:rPr lang="zh-CN" altLang="en-US" sz="27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、</a:t>
            </a: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应用背景</a:t>
            </a:r>
            <a:r>
              <a:rPr lang="zh-CN" altLang="en-US" sz="2700" kern="0" dirty="0"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与</a:t>
            </a: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任务介绍</a:t>
            </a:r>
          </a:p>
        </p:txBody>
      </p:sp>
      <p:sp>
        <p:nvSpPr>
          <p:cNvPr id="18" name="AutoShape 10"/>
          <p:cNvSpPr>
            <a:spLocks noChangeArrowheads="1"/>
          </p:cNvSpPr>
          <p:nvPr/>
        </p:nvSpPr>
        <p:spPr bwMode="auto">
          <a:xfrm>
            <a:off x="1331640" y="4509256"/>
            <a:ext cx="6481762" cy="612000"/>
          </a:xfrm>
          <a:prstGeom prst="roundRect">
            <a:avLst/>
          </a:prstGeom>
          <a:gradFill rotWithShape="1">
            <a:gsLst>
              <a:gs pos="0">
                <a:srgbClr val="B2C1DB">
                  <a:tint val="50000"/>
                  <a:satMod val="300000"/>
                </a:srgbClr>
              </a:gs>
              <a:gs pos="35000">
                <a:srgbClr val="B2C1DB">
                  <a:tint val="37000"/>
                  <a:satMod val="300000"/>
                </a:srgbClr>
              </a:gs>
              <a:gs pos="100000">
                <a:srgbClr val="B2C1DB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B2C1DB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wrap="none" anchor="ctr"/>
          <a:lstStyle/>
          <a:p>
            <a:pPr marL="0" marR="0" lvl="0" indent="0" defTabSz="914400" eaLnBrk="0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Tx/>
              <a:buFontTx/>
              <a:buNone/>
              <a:tabLst/>
              <a:defRPr/>
            </a:pPr>
            <a:r>
              <a:rPr kumimoji="0" lang="zh-CN" alt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uLnTx/>
                <a:uFillTx/>
                <a:latin typeface="微软雅黑" pitchFamily="34" charset="-122"/>
                <a:ea typeface="微软雅黑" pitchFamily="34" charset="-122"/>
                <a:cs typeface="+mn-cs"/>
              </a:rPr>
              <a:t>四、成员分工情况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/>
          <p:cNvSpPr>
            <a:spLocks noGrp="1"/>
          </p:cNvSpPr>
          <p:nvPr>
            <p:ph idx="4294967295"/>
          </p:nvPr>
        </p:nvSpPr>
        <p:spPr>
          <a:xfrm>
            <a:off x="179512" y="2996952"/>
            <a:ext cx="8610600" cy="935310"/>
          </a:xfrm>
        </p:spPr>
        <p:txBody>
          <a:bodyPr>
            <a:normAutofit/>
          </a:bodyPr>
          <a:lstStyle/>
          <a:p>
            <a:pPr marL="360000" indent="0" algn="ctr">
              <a:lnSpc>
                <a:spcPct val="150000"/>
              </a:lnSpc>
              <a:buNone/>
            </a:pPr>
            <a:r>
              <a:rPr sz="1400"/>
              <a:t>应用场景：
• 劳动者日常法律咨询：加班费计算、劳动合同纠纷、工伤认定等
• 企业HR劳动法合规：招聘、用工、离职管理等法律依据查询
• 法律从业者辅助：快速检索相关法条和司法解释
• 劳动仲裁/诉讼前准备：自助查询相关法律知识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ja-JP" altLang="en-US" dirty="0"/>
          </a:p>
        </p:txBody>
      </p:sp>
      <p:sp>
        <p:nvSpPr>
          <p:cNvPr id="6" name="矩形 5"/>
          <p:cNvSpPr/>
          <p:nvPr/>
        </p:nvSpPr>
        <p:spPr>
          <a:xfrm>
            <a:off x="395536" y="188640"/>
            <a:ext cx="5262979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一、应用背景与任务描述</a:t>
            </a: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3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应用背景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1" name="内容占位符 2"/>
          <p:cNvSpPr>
            <a:spLocks noGrp="1"/>
          </p:cNvSpPr>
          <p:nvPr>
            <p:ph idx="4294967295"/>
          </p:nvPr>
        </p:nvSpPr>
        <p:spPr>
          <a:xfrm>
            <a:off x="266700" y="2564904"/>
            <a:ext cx="8610600" cy="935310"/>
          </a:xfrm>
        </p:spPr>
        <p:txBody>
          <a:bodyPr>
            <a:normAutofit/>
          </a:bodyPr>
          <a:lstStyle/>
          <a:p>
            <a:pPr marL="360000" indent="0" algn="ctr">
              <a:lnSpc>
                <a:spcPct val="150000"/>
              </a:lnSpc>
              <a:buNone/>
            </a:pPr>
            <a:r>
              <a:rPr sz="1300"/>
              <a:t>任务定义：构建一个面向劳动法领域的RAG智能问答系统
输入：用户以自然语言提出的劳动法相关问题
（如"加班费怎么算？""试用期最长多久？""被辞退能拿多少补偿？"）
输出：基于检索到的法律文档生成的准确、专业回答
核心目标：
1. 知识库构建——劳动法文档向量化存储
2. 混合检索——多策略文档检索与融合
3. 答案生成——大模型基于参考资料生成回答
4. 模型微调——领域适配提升回答质量
5. 系统评估——多维度性能评估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mtClean="0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ja-JP" altLang="en-US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2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任务介绍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7023" y="4293096"/>
            <a:ext cx="8693596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sz="1300"/>
              <a:t>任务定义：构建一个面向劳动法领域的RAG智能问答系统
输入：用户以自然语言提出的劳动法相关问题
（如"加班费怎么算？""试用期最长多久？""被辞退能拿多少补偿？"）
输出：基于检索到的法律文档生成的准确、专业回答
核心目标：
1. 知识库构建——劳动法文档向量化存储
2. 混合检索——多策略文档检索与融合
3. 答案生成——大模型基于参考资料生成回答
4. 模型微调——领域适配提升回答质量
5. 系统评估——多维度性能评估</a:t>
            </a:r>
            <a:endParaRPr lang="en-US" altLang="zh-CN" b="1" dirty="0">
              <a:latin typeface="仿宋" panose="02010609060101010101" pitchFamily="49" charset="-122"/>
              <a:ea typeface="仿宋" panose="02010609060101010101" pitchFamily="49" charset="-122"/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268273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2"/>
              </a:buBlip>
            </a:pP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 解决思路与关键</a:t>
            </a:r>
            <a:r>
              <a:rPr lang="en-US" altLang="zh-CN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NLP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技术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536" y="188640"/>
            <a:ext cx="295465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二、技术路线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619672" y="2636912"/>
            <a:ext cx="627514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3" algn="just">
              <a:lnSpc>
                <a:spcPct val="150000"/>
              </a:lnSpc>
            </a:pPr>
            <a:r>
              <a:rPr sz="1200"/>
              <a:t>关键NLP技术与解决的问题：
1. 文本分块技术（RecursiveCharacterTextSplitter）
   → 解决：长文档无法直接输入模型的上下文长度限制
2. 文本向量化（BGE-small-zh-v1.5 嵌入模型）
   → 解决：将非结构化的法律文本转换为可计算的语义向量
3. 混合检索（jieba+BM25 + ChromaDB向量检索 + RRF融合）
   → 解决：单一检索策略的局限性，提高检索召回率
4. 大语言模型生成（DeepSeek-R1-Distill-Qwen-1.5B）
   → 解决：根据检索到的上下文生成准确、专业的回答
5. QLoRA参数高效微调（LoRA + 4-bit量化）
   → 解决：通用模型领域知识不足的问题
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1312787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6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2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技术路线图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691680" y="3068960"/>
            <a:ext cx="619268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just">
              <a:lnSpc>
                <a:spcPct val="150000"/>
              </a:lnSpc>
            </a:pPr>
            <a:r>
              <a:rPr sz="1200"/>
              <a:t>RAG问答系统技术路线：
数据准备 → 文档加载(RAW→TXT)
    ↓
知识库构建 → 文本分块(chunk_size=512, overlap=128)
    ↓
向量化 → BGE嵌入模型(512维)
    ↓
向量存储 → ChromaDB持久化
    ↓
用户提问 → jieba分词 → [关键词检索(BM25) | 向量检索(余弦相似度)]
    ↓
RRF融合排序 → Top-K相关文档片段
    ↓
提示词构建 → [参考资料 + 用户问题 + 系统指令]
    ↓
答案生成 → 大模型(基座/微调/API)生成回答
    ↓
结果展示 → Gradio Web界面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7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2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系统架构图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395536" y="188640"/>
            <a:ext cx="664797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三、系统设计、演示及结果分析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4428" y="2780928"/>
            <a:ext cx="627514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3" algn="just">
              <a:lnSpc>
                <a:spcPct val="150000"/>
              </a:lnSpc>
            </a:pPr>
            <a:r>
              <a:rPr sz="1100"/>
              <a:t>系统功能模块架构：
┌─────────────────────────────────────────────┐
│           Gradio Web 用户界面层                 │
│  对话区 | 检索来源展示 | 模型选择 | 文档上传      │
├─────────────────────────────────────────────┤
│           RAG Pipeline 管道编排层              │
│  answer(query) → 检索→提示词→生成→返回          │
├──────────────┬──────────────┬───────────────┤
│  检索模块     │  生成模块     │  评估模块       │
│ keyword_search│ base_model   │ auto_eval      │
│ vector_search │ finetuned    │ human_eval     │
│ hybrid_search │ api_model    │ run_experiments│
├──────────────┴──────────────┴───────────────┤
│           知识库模块                          │
│  build_kb(分块+向量化) | load_kb(加载)        │
│  ChromaDB向量数据库 | chunks_metadata.json    │
└─────────────────────────────────────────────┘</a:t>
            </a:r>
          </a:p>
        </p:txBody>
      </p:sp>
    </p:spTree>
    <p:extLst>
      <p:ext uri="{BB962C8B-B14F-4D97-AF65-F5344CB8AC3E}">
        <p14:creationId xmlns:p14="http://schemas.microsoft.com/office/powerpoint/2010/main" val="24646982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8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3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系统演示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7584" y="3185393"/>
            <a:ext cx="756084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3" algn="just">
              <a:lnSpc>
                <a:spcPct val="150000"/>
              </a:lnSpc>
            </a:pPr>
            <a:r>
              <a:rPr sz="1200"/>
              <a:t>系统演示要点：
1. 项目文件结构展示
   • src/ 目录下各模块代码文件
   • config.py 全局配置文件
   • run.py 启动入口
2. 系统运行演示
   • 知识库构建：python run.py --build-kb
   • 启动Web界面：python run.py
   • 提问测试：输入劳动法相关问题
   • 检索来源查看：观察检索到的文档片段
   • 模型切换：基座/微调/API三种模式
   • 文档上传功能测试
3. 评估实验运行
   • 自动评估：python run.py --eval
   • 对比实验：python run.py --eval-all</a:t>
            </a:r>
          </a:p>
        </p:txBody>
      </p:sp>
    </p:spTree>
    <p:extLst>
      <p:ext uri="{BB962C8B-B14F-4D97-AF65-F5344CB8AC3E}">
        <p14:creationId xmlns:p14="http://schemas.microsoft.com/office/powerpoint/2010/main" val="6351259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342900" y="1052736"/>
            <a:ext cx="84582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defPPr>
              <a:defRPr lang="ja-JP"/>
            </a:defPPr>
            <a:lvl1pPr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tx1"/>
                </a:solidFill>
                <a:latin typeface="Calibri" pitchFamily="34" charset="0"/>
                <a:ea typeface="MS PGothic" pitchFamily="34" charset="-128"/>
                <a:cs typeface="+mn-cs"/>
              </a:defRPr>
            </a:lvl9pPr>
          </a:lstStyle>
          <a:p>
            <a:pPr>
              <a:buBlip>
                <a:blip r:embed="rId2"/>
              </a:buBlip>
            </a:pPr>
            <a:r>
              <a:rPr kumimoji="0" lang="en-US" altLang="zh-CN" sz="3200" dirty="0">
                <a:solidFill>
                  <a:srgbClr val="003399"/>
                </a:solidFill>
                <a:ea typeface="华文中宋" pitchFamily="2" charset="-122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结果分析</a:t>
            </a:r>
            <a:endParaRPr kumimoji="0" lang="zh-CN" altLang="en-US" sz="2800" dirty="0">
              <a:solidFill>
                <a:srgbClr val="003399"/>
              </a:solidFill>
              <a:ea typeface="华文中宋" pitchFamily="2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584" y="2636912"/>
            <a:ext cx="784887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3" algn="just">
              <a:lnSpc>
                <a:spcPct val="150000"/>
              </a:lnSpc>
            </a:pPr>
            <a:r>
              <a:rPr sz="1100"/>
              <a:t>评价指标与实验设计：
一、自动评估指标：
• BLEU-4：衡量生成回答与参考答案的n-gram重叠度（0-100分）
• Rouge-L：基于最长公共子序列的F1分数（0-1）
二、人工评估指标：
• 准确性(Accuracy)：回答内容是否正确（1-5分）
• 流畅性(Fluency)：语言表达是否自然流畅（1-5分）
• 相关性(Relevance)：回答与问题的相关程度（1-5分）
三、四组对比实验：
• Group A: 基座模型 Direct 问答
• Group B: 微调模型 Direct 问答
• Group C: 基座模型 + RAG
• Group D: 微调模型 + RAG
【实验数据—请运行实验后填入】</a:t>
            </a:r>
          </a:p>
        </p:txBody>
      </p:sp>
    </p:spTree>
    <p:extLst>
      <p:ext uri="{BB962C8B-B14F-4D97-AF65-F5344CB8AC3E}">
        <p14:creationId xmlns:p14="http://schemas.microsoft.com/office/powerpoint/2010/main" val="3883325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10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88640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四、成员分工情况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2769" y="1518139"/>
            <a:ext cx="7683687" cy="16890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3" algn="just">
              <a:lnSpc>
                <a:spcPct val="150000"/>
              </a:lnSpc>
            </a:pPr>
            <a:r>
              <a:rPr sz="1400"/>
              <a:t>成员分工：
（请填写姓名）(组长，排名：1)，主要负责：
（请填写具体分工，如：整体架构设计、RAG Pipeline编排、系统集成）
（请填写姓名）(组员，排名：2)，主要负责：
（请填写具体分工，如：知识库构建模块、混合检索模块）
（请填写姓名）(组员，排名：3)，主要负责：
（请填写具体分工，如：模型生成模块、QLoRA微调）
（请填写姓名）(组员，排名：4)，主要负责：
（请填写具体分工，如：评估模块、实验运行与结果分析）
（请填写姓名）(组员，排名：5)，主要负责：
（请填写具体分工，如：Gradio UI开发、论文撰写）</a:t>
            </a:r>
            <a:endParaRPr lang="en-US" altLang="zh-CN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92769" y="4005063"/>
            <a:ext cx="7181428" cy="858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sz="1200"/>
              <a:t>建议分工模块：
1. 知识库+检索模块（约25%）
2. 模型生成+微调模块（约25%）
3. 评估+实验模块（约20%）
4. UI+集成模块（约15%）
5. 论文+PPT+答辩（约15%）
【请各成员根据实际工作情况填写具体分工和占比】</a:t>
            </a:r>
          </a:p>
        </p:txBody>
      </p:sp>
    </p:spTree>
    <p:extLst>
      <p:ext uri="{BB962C8B-B14F-4D97-AF65-F5344CB8AC3E}">
        <p14:creationId xmlns:p14="http://schemas.microsoft.com/office/powerpoint/2010/main" val="3996356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11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88640"/>
            <a:ext cx="3877985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软雅黑" pitchFamily="34" charset="-122"/>
                <a:ea typeface="微软雅黑" pitchFamily="34" charset="-122"/>
              </a:rPr>
              <a:t>五、课程设计总结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91680" y="3068960"/>
            <a:ext cx="6192688" cy="662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2" algn="just">
              <a:lnSpc>
                <a:spcPct val="150000"/>
              </a:lnSpc>
            </a:pPr>
            <a:r>
              <a:rPr sz="1300"/>
              <a:t>课程设计收获总结：
一、技术收获：
• 深入理解了RAG（检索增强生成）的原理与工程实现
• 掌握了文本向量化、语义检索、混合检索等NLP技术
• 学习了HuggingFace模型加载、推理与LoRA微调
• 了解了系统评估方法：BLEU-4、Rouge-L自动指标与人工评估
二、工程能力提升：
• 模块化系统架构设计能力
• 从数据处理到前端展示的完整项目开发经验
• 版本管理与团队协作实践
三、领域认知：
• 了解了劳动法的基本框架和常见问题
• 认识到AI在法律领域的应用价值与挑战
【请根据小组实际情况补充修改】</a:t>
            </a:r>
            <a:endParaRPr lang="en-US" altLang="zh-CN" sz="28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0" fontAlgn="base">
              <a:spcBef>
                <a:spcPct val="0"/>
              </a:spcBef>
              <a:spcAft>
                <a:spcPct val="0"/>
              </a:spcAft>
            </a:pPr>
            <a:fld id="{4FE57183-1A47-4119-994E-BE5E51FB41E1}" type="slidenum">
              <a:rPr lang="ja-JP" altLang="en-US" sz="1200" kern="1200" smtClean="0">
                <a:solidFill>
                  <a:srgbClr val="898989"/>
                </a:solidFill>
                <a:latin typeface="Calibri" pitchFamily="34" charset="0"/>
                <a:ea typeface="MS PGothic" pitchFamily="34" charset="-128"/>
                <a:cs typeface="+mn-cs"/>
              </a:rPr>
              <a:pPr algn="r" rtl="0" fontAlgn="base">
                <a:spcBef>
                  <a:spcPct val="0"/>
                </a:spcBef>
                <a:spcAft>
                  <a:spcPct val="0"/>
                </a:spcAft>
              </a:pPr>
              <a:t>12</a:t>
            </a:fld>
            <a:endParaRPr lang="ja-JP" altLang="en-US" sz="1200" kern="1200" dirty="0">
              <a:solidFill>
                <a:srgbClr val="898989"/>
              </a:solidFill>
              <a:latin typeface="Calibri" pitchFamily="34" charset="0"/>
              <a:ea typeface="MS PGothic" pitchFamily="34" charset="-128"/>
              <a:cs typeface="+mn-cs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195736" y="2204864"/>
            <a:ext cx="4104456" cy="22159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3800" i="1" dirty="0">
                <a:solidFill>
                  <a:srgbClr val="FF0000"/>
                </a:solidFill>
                <a:latin typeface="微软雅黑" pitchFamily="34" charset="-122"/>
                <a:ea typeface="微软雅黑" pitchFamily="34" charset="-122"/>
              </a:rPr>
              <a:t>谢谢！
基于RAG的劳动法领域智能问答系统</a:t>
            </a:r>
            <a:endParaRPr lang="zh-CN" altLang="en-US" sz="9600" i="1" dirty="0">
              <a:solidFill>
                <a:srgbClr val="FF0000"/>
              </a:solidFill>
              <a:latin typeface="微软雅黑" pitchFamily="34" charset="-122"/>
              <a:ea typeface="微软雅黑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MS PGothic"/>
        <a:cs typeface=""/>
      </a:majorFont>
      <a:minorFont>
        <a:latin typeface="Calibri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S PGothic" pitchFamily="34" charset="-128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Office Theme">
  <a:themeElements>
    <a:clrScheme name="Office Theme 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Office Theme">
      <a:majorFont>
        <a:latin typeface="Calibri"/>
        <a:ea typeface="MS PGothic"/>
        <a:cs typeface=""/>
      </a:majorFont>
      <a:minorFont>
        <a:latin typeface="Calibri"/>
        <a:ea typeface="MS PGothic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S PGothic" pitchFamily="34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alibri" pitchFamily="34" charset="0"/>
            <a:ea typeface="MS PGothic" pitchFamily="34" charset="-128"/>
          </a:defRPr>
        </a:defPPr>
      </a:lstStyle>
    </a:lnDef>
  </a:objectDefaults>
  <a:extraClrSchemeLst>
    <a:extraClrScheme>
      <a:clrScheme name="Office Theme 1">
        <a:dk1>
          <a:srgbClr val="000000"/>
        </a:dk1>
        <a:lt1>
          <a:srgbClr val="FFFFFF"/>
        </a:lt1>
        <a:dk2>
          <a:srgbClr val="1F497D"/>
        </a:dk2>
        <a:lt2>
          <a:srgbClr val="EEECE1"/>
        </a:lt2>
        <a:accent1>
          <a:srgbClr val="4F81BD"/>
        </a:accent1>
        <a:accent2>
          <a:srgbClr val="C0504D"/>
        </a:accent2>
        <a:accent3>
          <a:srgbClr val="FFFFFF"/>
        </a:accent3>
        <a:accent4>
          <a:srgbClr val="000000"/>
        </a:accent4>
        <a:accent5>
          <a:srgbClr val="B2C1DB"/>
        </a:accent5>
        <a:accent6>
          <a:srgbClr val="AE4845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2665</TotalTime>
  <Words>426</Words>
  <Application>Microsoft Office PowerPoint</Application>
  <PresentationFormat>全屏显示(4:3)</PresentationFormat>
  <Paragraphs>55</Paragraphs>
  <Slides>12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12</vt:i4>
      </vt:variant>
    </vt:vector>
  </HeadingPairs>
  <TitlesOfParts>
    <vt:vector size="20" baseType="lpstr">
      <vt:lpstr>仿宋</vt:lpstr>
      <vt:lpstr>微软雅黑</vt:lpstr>
      <vt:lpstr>Arial</vt:lpstr>
      <vt:lpstr>Calibri</vt:lpstr>
      <vt:lpstr>Wingdings</vt:lpstr>
      <vt:lpstr>Office 主题</vt:lpstr>
      <vt:lpstr>Office Theme</vt:lpstr>
      <vt:lpstr>2_Office Theme</vt:lpstr>
      <vt:lpstr>答案抽取系统（例）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MJH</dc:creator>
  <cp:lastModifiedBy>wang zhi_q</cp:lastModifiedBy>
  <cp:revision>519</cp:revision>
  <dcterms:created xsi:type="dcterms:W3CDTF">2018-01-18T03:27:12Z</dcterms:created>
  <dcterms:modified xsi:type="dcterms:W3CDTF">2022-05-25T03:56:21Z</dcterms:modified>
</cp:coreProperties>
</file>